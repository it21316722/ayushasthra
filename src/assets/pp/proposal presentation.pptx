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66"/>
  </p:notesMasterIdLst>
  <p:handoutMasterIdLst>
    <p:handoutMasterId r:id="rId67"/>
  </p:handoutMasterIdLst>
  <p:sldIdLst>
    <p:sldId id="277" r:id="rId5"/>
    <p:sldId id="270" r:id="rId6"/>
    <p:sldId id="271" r:id="rId7"/>
    <p:sldId id="303" r:id="rId8"/>
    <p:sldId id="307" r:id="rId9"/>
    <p:sldId id="264" r:id="rId10"/>
    <p:sldId id="274" r:id="rId11"/>
    <p:sldId id="356" r:id="rId12"/>
    <p:sldId id="357" r:id="rId13"/>
    <p:sldId id="344" r:id="rId14"/>
    <p:sldId id="285" r:id="rId15"/>
    <p:sldId id="286" r:id="rId16"/>
    <p:sldId id="309" r:id="rId17"/>
    <p:sldId id="358" r:id="rId18"/>
    <p:sldId id="311" r:id="rId19"/>
    <p:sldId id="312" r:id="rId20"/>
    <p:sldId id="313" r:id="rId21"/>
    <p:sldId id="314" r:id="rId22"/>
    <p:sldId id="315" r:id="rId23"/>
    <p:sldId id="287" r:id="rId24"/>
    <p:sldId id="302" r:id="rId25"/>
    <p:sldId id="290" r:id="rId26"/>
    <p:sldId id="336" r:id="rId27"/>
    <p:sldId id="291" r:id="rId28"/>
    <p:sldId id="339" r:id="rId29"/>
    <p:sldId id="338" r:id="rId30"/>
    <p:sldId id="335" r:id="rId31"/>
    <p:sldId id="334" r:id="rId32"/>
    <p:sldId id="342" r:id="rId33"/>
    <p:sldId id="340" r:id="rId34"/>
    <p:sldId id="343" r:id="rId35"/>
    <p:sldId id="292" r:id="rId36"/>
    <p:sldId id="288" r:id="rId37"/>
    <p:sldId id="294" r:id="rId38"/>
    <p:sldId id="346" r:id="rId39"/>
    <p:sldId id="296" r:id="rId40"/>
    <p:sldId id="304" r:id="rId41"/>
    <p:sldId id="318" r:id="rId42"/>
    <p:sldId id="319" r:id="rId43"/>
    <p:sldId id="321" r:id="rId44"/>
    <p:sldId id="257" r:id="rId45"/>
    <p:sldId id="322" r:id="rId46"/>
    <p:sldId id="355" r:id="rId47"/>
    <p:sldId id="323" r:id="rId48"/>
    <p:sldId id="324" r:id="rId49"/>
    <p:sldId id="297" r:id="rId50"/>
    <p:sldId id="325" r:id="rId51"/>
    <p:sldId id="359" r:id="rId52"/>
    <p:sldId id="360" r:id="rId53"/>
    <p:sldId id="351" r:id="rId54"/>
    <p:sldId id="326" r:id="rId55"/>
    <p:sldId id="327" r:id="rId56"/>
    <p:sldId id="353" r:id="rId57"/>
    <p:sldId id="328" r:id="rId58"/>
    <p:sldId id="301" r:id="rId59"/>
    <p:sldId id="352" r:id="rId60"/>
    <p:sldId id="350" r:id="rId61"/>
    <p:sldId id="333" r:id="rId62"/>
    <p:sldId id="331" r:id="rId63"/>
    <p:sldId id="354" r:id="rId64"/>
    <p:sldId id="345" r:id="rId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06623"/>
    <a:srgbClr val="A6C24A"/>
    <a:srgbClr val="2327DE"/>
    <a:srgbClr val="009DD9"/>
    <a:srgbClr val="E3992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8E2686-3EA2-0ADA-B88B-A4978BF58B3B}" v="1" dt="2025-02-25T20:04:04.648"/>
    <p1510:client id="{138CCCD3-7987-44DB-A410-15EF4A608E88}" v="167" dt="2025-02-25T18:03:02.580"/>
    <p1510:client id="{5C4A35F4-73D9-9DBB-CB23-9561404EEF8E}" v="2" dt="2025-02-25T23:54:04.109"/>
    <p1510:client id="{5D127428-B2B1-5A6E-177F-C2A0599AC011}" v="4" dt="2025-02-25T03:39:51.387"/>
    <p1510:client id="{7B3A3423-26C2-3D9E-38FC-85EF1D861FEE}" v="6" dt="2025-02-25T04:01:11.848"/>
    <p1510:client id="{839FCD1F-5064-8DBA-2A2C-64A1F4CC58C5}" v="200" dt="2025-02-25T13:38:55.941"/>
    <p1510:client id="{A49C02A5-A9F1-8A93-5872-B1CEDD2F6FA5}" v="564" dt="2025-02-26T03:17:49.814"/>
    <p1510:client id="{C1816CBF-8855-1B79-6601-11DB905234EE}" v="439" dt="2025-02-25T19:39:49.448"/>
    <p1510:client id="{CE9471E7-7707-CA59-D020-325785CE491D}" v="211" dt="2025-02-25T16:34:52.739"/>
    <p1510:client id="{D5D45E98-72FD-AC41-B455-D21233CC2ED1}" v="227" dt="2025-02-25T17:08:46.349"/>
    <p1510:client id="{F99500C3-81BA-AA89-4467-ADE1E3F426D8}" v="359" dt="2025-02-26T01:12:35.2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61" Type="http://schemas.openxmlformats.org/officeDocument/2006/relationships/slide" Target="slides/slide57.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9BAAE38-79BE-4082-9A4D-2BEC47341C04}" type="datetimeFigureOut">
              <a:rPr lang="en-US" smtClean="0"/>
              <a:t>2/26/2025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9F15613-D24F-46B4-9010-BD7B318E3C30}" type="slidenum">
              <a:rPr lang="en-US" smtClean="0"/>
              <a:t>‹#›</a:t>
            </a:fld>
            <a:endParaRPr lang="en-US"/>
          </a:p>
        </p:txBody>
      </p:sp>
    </p:spTree>
    <p:extLst>
      <p:ext uri="{BB962C8B-B14F-4D97-AF65-F5344CB8AC3E}">
        <p14:creationId xmlns:p14="http://schemas.microsoft.com/office/powerpoint/2010/main" val="2864050322"/>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1-27T02:17:43.070"/>
    </inkml:context>
    <inkml:brush xml:id="br0">
      <inkml:brushProperty name="width" value="0.35" units="cm"/>
      <inkml:brushProperty name="height" value="0.35" units="cm"/>
      <inkml:brushProperty name="color" value="#FFFFFF"/>
    </inkml:brush>
  </inkml:definitions>
  <inkml:trace contextRef="#ctx0" brushRef="#br0">13598 13536 16383 0 0,'-2'0'0'0'0,"-8"0"0"0"0,-18 0 0 0 0,-29 0 0 0 0,-33 0 0 0 0,-36 0 0 0 0,-38 0 0 0 0,-29 0 0 0 0,-14 0 0 0 0,-9 0 0 0 0,1 0 0 0 0,8 0 0 0 0,17 0 0 0 0,24 0 0 0 0,28 0 0 0 0,32 0 0 0 0,32 0 0 0 0,27 0 0 0 0,26 0 0 0 0,22 0 0 0 0,15 0 0 0 0,12 0 0 0 0,6 0 0 0 0,10 0 0 0 0,12 0 0 0 0,9 1 0 0 0,6 4 0 0 0,3 4 0 0 0,3 3 0 0 0,2 0 0 0 0,3 3 0 0 0,2 2 0 0 0,2 0 0 0 0,-1-1 0 0 0,-3-1 0 0 0,3-4 0 0 0,7-4 0 0 0,8-2 0 0 0,14-3 0 0 0,10-2 0 0 0,7 0 0 0 0,4 0 0 0 0,2-1 0 0 0,3 0 0 0 0,0 1 0 0 0,-3 0 0 0 0,-2-1 0 0 0,-7 1 0 0 0,-6 0 0 0 0,-5 0 0 0 0,-5-2 0 0 0,-1-2 0 0 0,-5-3 0 0 0,-6 0 0 0 0,-6-2 0 0 0,-8 0 0 0 0,-5 1 0 0 0,-4 2 0 0 0,-4 1 0 0 0,0-1 0 0 0,1 0 0 0 0,3-2 0 0 0,7-1 0 0 0,7 0 0 0 0,3-2 0 0 0,2 0 0 0 0,3-1 0 0 0,8-2 0 0 0,8-3 0 0 0,11-2 0 0 0,6 0 0 0 0,4 1 0 0 0,-1-1 0 0 0,1 2 0 0 0,12-1 0 0 0,13 0 0 0 0,8-1 0 0 0,3 1 0 0 0,3 2 0 0 0,3 2 0 0 0,5 1 0 0 0,5-3 0 0 0,5 1 0 0 0,2 2 0 0 0,2 3 0 0 0,-1 4 0 0 0,-2 3 0 0 0,-1 1 0 0 0,-1 2 0 0 0,8 1 0 0 0,10-1 0 0 0,9 1 0 0 0,0-1 0 0 0,-10 1 0 0 0,-12-1 0 0 0,-14 0 0 0 0,-13 3 0 0 0,-7 2 0 0 0,1 3 0 0 0,4 5 0 0 0,7 6 0 0 0,7 6 0 0 0,2 1 0 0 0,-7 0 0 0 0,-8 0 0 0 0,-8 0 0 0 0,-4-2 0 0 0,-4-2 0 0 0,-7 1 0 0 0,-5 3 0 0 0,-6-1 0 0 0,-2 1 0 0 0,0 0 0 0 0,-1 0 0 0 0,-5 0 0 0 0,-9-2 0 0 0,-12-2 0 0 0,-13-6 0 0 0,-14-4 0 0 0,-8-5 0 0 0,-9-4 0 0 0,-10-2 0 0 0,-5-1 0 0 0,-4 0 0 0 0,-3-1 0 0 0,-4 0 0 0 0,-5 0 0 0 0,-3 0 0 0 0,-2 1 0 0 0,0 0 0 0 0,-1 0 0 0 0,-1 0 0 0 0,-2 0 0 0 0,-2 0 0 0 0,-1-1 0 0 0,-2-2 0 0 0,-3-1 0 0 0,-2-2 0 0 0,-3-3 0 0 0,-3-1 0 0 0,0-3 0 0 0,-1 0 0 0 0,-1-1 0 0 0,1 0 0 0 0,2 0 0 0 0,3-2 0 0 0,1 1 0 0 0,0 2 0 0 0,1 1 0 0 0,0 3 0 0 0,1 2 0 0 0,3 2 0 0 0,1 3 0 0 0,3 0 0 0 0,1 2 0 0 0,1 0 0 0 0,-1 0 0 0 0,0 0 0 0 0,0 1 0 0 0,-1-1 0 0 0,-2 1 0 0 0,-5 2 0 0 0,-10 1 0 0 0,-14 1 0 0 0,-19-1 0 0 0,-13 0 0 0 0,-13-2 0 0 0,-10-1 0 0 0,-6 0 0 0 0,-9-1 0 0 0,-9-2 0 0 0,-4-1 0 0 0,-1-4 0 0 0,1-3 0 0 0,-2-7 0 0 0,-2-5 0 0 0,2-4 0 0 0,7 0 0 0 0,9 1 0 0 0,11 2 0 0 0,13 3 0 0 0,13 6 0 0 0,9 2 0 0 0,8 2 0 0 0,5 1 0 0 0,5 2 0 0 0,4-1 0 0 0,5-1 0 0 0,3 0 0 0 0,3 0 0 0 0,6 1 0 0 0,7 2 0 0 0,13 2 0 0 0,16 2 0 0 0,14 1 0 0 0,9 3 0 0 0,6 3 0 0 0,0 1 0 0 0,-5 2 0 0 0,-6 3 0 0 0,-9 3 0 0 0,-7 2 0 0 0,-10 4 0 0 0,-7 1 0 0 0,-10 0 0 0 0,-7 1 0 0 0,-5 0 0 0 0,-6 0 0 0 0,-12 0 0 0 0,-14-2 0 0 0,-15-1 0 0 0,-13-2 0 0 0,-8-2 0 0 0,-4 1 0 0 0,1-1 0 0 0,8-2 0 0 0,8 0 0 0 0,9-2 0 0 0,8 0 0 0 0,6 0 0 0 0,5 1 0 0 0,3 0 0 0 0,1 2 0 0 0,0-1 0 0 0,0 1 0 0 0,2-1 0 0 0,1 1 0 0 0,1 0 0 0 0,0-2 0 0 0,1-1 0 0 0,4-1 0 0 0,2-1 0 0 0,5 1 0 0 0,6-1 0 0 0,8 0 0 0 0,8-2 0 0 0,5 0 0 0 0,5-1 0 0 0,3-2 0 0 0,1-1 0 0 0,-2-1 0 0 0,-3-1 0 0 0,-3 0 0 0 0,-3-1 0 0 0,-4-1 0 0 0,-2 1 0 0 0,0 0 0 0 0,-2 0 0 0 0,-1-1 0 0 0,-1 1 0 0 0,0-1 0 0 0,-2-2 0 0 0,1-3 0 0 0,-2-2 0 0 0,-2-2 0 0 0,-2-1 0 0 0,-2-1 0 0 0,-2 0 0 0 0,1 1 0 0 0,1 2 0 0 0,2 3 0 0 0,-8 2 0 0 0,-14 1 0 0 0,-17 3 0 0 0,-15-1 0 0 0,-12 2 0 0 0,-10-1 0 0 0,-6 1 0 0 0,-4-1 0 0 0,-2 0 0 0 0,-2 1 0 0 0,1-1 0 0 0,4 0 0 0 0,6 0 0 0 0,5 0 0 0 0,6 0 0 0 0,7 0 0 0 0,8 0 0 0 0,2 0 0 0 0,2 0 0 0 0,-2 0 0 0 0,-2 0 0 0 0,-3 0 0 0 0,-3 0 0 0 0,-2 0 0 0 0,-3 0 0 0 0,-3 0 0 0 0,-4 0 0 0 0,-4 0 0 0 0,-8 0 0 0 0,-8 0 0 0 0,-6 0 0 0 0,-1 0 0 0 0,1 0 0 0 0,-1 0 0 0 0,5 0 0 0 0,3 0 0 0 0,2 0 0 0 0,1 0 0 0 0,1 0 0 0 0,4 0 0 0 0,5 0 0 0 0,4 0 0 0 0,4 0 0 0 0,3 0 0 0 0,3 0 0 0 0,1 0 0 0 0,2 0 0 0 0,-4 0 0 0 0,-5 0 0 0 0,-7 0 0 0 0,-8 0 0 0 0,-9 0 0 0 0,-8 0 0 0 0,-8 0 0 0 0,-12 0 0 0 0,-15 0 0 0 0,-15 0 0 0 0,-16 0 0 0 0,-16 0 0 0 0,-10 0 0 0 0,-3 0 0 0 0,2 0 0 0 0,-1 1 0 0 0,-1 3 0 0 0,0 2 0 0 0,1-1 0 0 0,6 0 0 0 0,5-2 0 0 0,10-1 0 0 0,10-1 0 0 0,8-1 0 0 0,3 0 0 0 0,5 0 0 0 0,3 0 0 0 0,-1 0 0 0 0,-1 0 0 0 0,-6-1 0 0 0,-4 1 0 0 0,-6 0 0 0 0,-7 0 0 0 0,-5 0 0 0 0,-5 0 0 0 0,-5 0 0 0 0,1 0 0 0 0,1 0 0 0 0,5 0 0 0 0,10 0 0 0 0,12 0 0 0 0,14 0 0 0 0,15 0 0 0 0,13 0 0 0 0,11 0 0 0 0,5 0 0 0 0,0 0 0 0 0,-1 0 0 0 0,-1 0 0 0 0,-6 0 0 0 0,-11 0 0 0 0,-14 0 0 0 0,-18 0 0 0 0,-19 0 0 0 0,-14 0 0 0 0,-9 0 0 0 0,-1 0 0 0 0,2 0 0 0 0,5 0 0 0 0,10 0 0 0 0,5 3 0 0 0,4 2 0 0 0,-3 1 0 0 0,-6-1 0 0 0,-9-1 0 0 0,-5-1 0 0 0,0-2 0 0 0,2 0 0 0 0,10-1 0 0 0,20 0 0 0 0,24 0 0 0 0,26-2 0 0 0,24-2 0 0 0,22-4 0 0 0,14-3 0 0 0,12-2 0 0 0,5-2 0 0 0,3-1 0 0 0,1 1 0 0 0,1 0 0 0 0,-2 2 0 0 0,0 1 0 0 0,-3 1 0 0 0,1 0 0 0 0,-1 1 0 0 0,1 0 0 0 0,3 2 0 0 0,2 0 0 0 0,4-2 0 0 0,4 0 0 0 0,3 0 0 0 0,2 2 0 0 0,-1 2 0 0 0,0 2 0 0 0,-2 2 0 0 0,-1 1 0 0 0,1 5 0 0 0,2 3 0 0 0,2 6 0 0 0,3 5 0 0 0,0 5 0 0 0,2 5 0 0 0,0 2 0 0 0,0 1 0 0 0,1-3 0 0 0,1-5 0 0 0,3-6 0 0 0,3-7 0 0 0,2-4 0 0 0,2-3 0 0 0,1-4 0 0 0,-3-4 0 0 0,-2-7 0 0 0,-3-9 0 0 0,-2-9 0 0 0,-2-4 0 0 0,1-3 0 0 0,5 1 0 0 0,5 0 0 0 0,8 1 0 0 0,4 1 0 0 0,4 1 0 0 0,3 3 0 0 0,2 3 0 0 0,0 2 0 0 0,0 5 0 0 0,0 5 0 0 0,-1 4 0 0 0,1 2 0 0 0,-1 3 0 0 0,0 3 0 0 0,0 1 0 0 0,-1 1 0 0 0,1 1 0 0 0,0 1 0 0 0,-1-1 0 0 0,2 1 0 0 0,3-1 0 0 0,2 0 0 0 0,-1 1 0 0 0,1 0 0 0 0,1 2 0 0 0,2 0 0 0 0,5 0 0 0 0,6-1 0 0 0,8 0 0 0 0,5-1 0 0 0,4-1 0 0 0,0 0 0 0 0,-1 0 0 0 0,-4-1 0 0 0,-6-3 0 0 0,-5-2 0 0 0,-6 0 0 0 0,-7 0 0 0 0,-3 1 0 0 0,-4-1 0 0 0,-2 0 0 0 0,0-1 0 0 0,-6 1 0 0 0,-11 1 0 0 0,-15 4 0 0 0,-14 10 0 0 0,-15 10 0 0 0,-12 11 0 0 0,-8 11 0 0 0,-2 7 0 0 0,3 2 0 0 0,3 2 0 0 0,2-7 0 0 0,1-8 0 0 0,2-10 0 0 0,3-9 0 0 0,5-8 0 0 0,6-6 0 0 0,5-3 0 0 0,5-2 0 0 0,1-2 0 0 0,1-4 0 0 0,0-2 0 0 0,-1-3 0 0 0,-3-2 0 0 0,-4 0 0 0 0,-3 2 0 0 0,-1 1 0 0 0,0 1 0 0 0,1 0 0 0 0,1 1 0 0 0,2 1 0 0 0,3 0 0 0 0,3 1 0 0 0,2 0 0 0 0,-1 1 0 0 0,-1 0 0 0 0,1 0 0 0 0,-1 1 0 0 0,-1 2 0 0 0,-2 1 0 0 0,-3 0 0 0 0,-3 2 0 0 0,-3 0 0 0 0,-4 0 0 0 0,-2 1 0 0 0,1 2 0 0 0,2 0 0 0 0,4 1 0 0 0,5-1 0 0 0,4 2 0 0 0,3 1 0 0 0,4 0 0 0 0,2 0 0 0 0,1 1 0 0 0,1 2 0 0 0,0 0 0 0 0,-1-1 0 0 0,-1-1 0 0 0,0-2 0 0 0,-1-2 0 0 0,3-2 0 0 0,13 0 0 0 0,27-1 0 0 0,33 1 0 0 0,28 3 0 0 0,30 2 0 0 0,42-1 0 0 0,50 2 0 0 0,65 4 0 0 0,71 4 0 0 0,67 9 0 0 0,73 8 0 0 0,55 5 0 0 0,29 1 0 0 0,5-6 0 0 0,-34-5 0 0 0,-73-4 0 0 0,-96-5 0 0 0,-104-4 0 0 0,-93-4 0 0 0,-74-2 0 0 0,-61-2 0 0 0,-51-3 0 0 0,-42-1 0 0 0,-37-1 0 0 0,-33-1 0 0 0,-28-1 0 0 0,-31 1 0 0 0,-26 0 0 0 0,-19-1 0 0 0,-11 1 0 0 0,-1 2 0 0 0,13 3 0 0 0,27 3 0 0 0,37 2 0 0 0,39 0 0 0 0,36 0 0 0 0,29-3 0 0 0,22-1 0 0 0,14-4 0 0 0,14-7 0 0 0,17-14 0 0 0,24-12 0 0 0,28-10 0 0 0,32-3 0 0 0,27 4 0 0 0,25 8 0 0 0,24 11 0 0 0,26 7 0 0 0,24 8 0 0 0,21 3 0 0 0,15 4 0 0 0,9 0 0 0 0,1 1 0 0 0,-6 0 0 0 0,-9-1 0 0 0,-14 0 0 0 0,-21 0 0 0 0,-21-1 0 0 0,-22 0 0 0 0,-21-1 0 0 0,-17-5 0 0 0,-19-5 0 0 0,-16-4 0 0 0,-14-4 0 0 0,-7-7 0 0 0,-3-9 0 0 0,0-7 0 0 0,1-6 0 0 0,2-4 0 0 0,1 1 0 0 0,5-2 0 0 0,9-1 0 0 0,5 0 0 0 0,1 0 0 0 0,-5 6 0 0 0,-10 6 0 0 0,-11 8 0 0 0,-14 9 0 0 0,-12 8 0 0 0,-10 5 0 0 0,-7 5 0 0 0,-5 2 0 0 0,-4 3 0 0 0,-2 1 0 0 0,0 2 0 0 0,6 2 0 0 0,13 9 0 0 0,18 10 0 0 0,14 11 0 0 0,12 11 0 0 0,3 9 0 0 0,-7 4 0 0 0,-10-1 0 0 0,-13-2 0 0 0,-10-5 0 0 0,-9-5 0 0 0,-6-5 0 0 0,-4-7 0 0 0,-1-6 0 0 0,0-8 0 0 0,-1-4 0 0 0,0-5 0 0 0,-1-5 0 0 0,-3-2 0 0 0,-5-1 0 0 0,-4-2 0 0 0,-2 0 0 0 0,-1 0 0 0 0,-1 0 0 0 0,-1 0 0 0 0,1 1 0 0 0,1 0 0 0 0,-1 0 0 0 0,1 0 0 0 0,-1 0 0 0 0,2-1 0 0 0,1-2 0 0 0,4-1 0 0 0,3-3 0 0 0,7-3 0 0 0,9-2 0 0 0,9-1 0 0 0,10 0 0 0 0,8 1 0 0 0,7 0 0 0 0,3 0 0 0 0,-4 1 0 0 0,-8 1 0 0 0,-10 0 0 0 0,-8 2 0 0 0,-7 1 0 0 0,-4 1 0 0 0,-3-1 0 0 0,2 1 0 0 0,2-1 0 0 0,4 1 0 0 0,4-1 0 0 0,6 0 0 0 0,4 1 0 0 0,4 1 0 0 0,2 2 0 0 0,2 1 0 0 0,3 1 0 0 0,10 1 0 0 0,11 0 0 0 0,14 0 0 0 0,12 0 0 0 0,7 1 0 0 0,6-1 0 0 0,-4 0 0 0 0,-10 0 0 0 0,-14 0 0 0 0,-13 0 0 0 0,-13 0 0 0 0,-14 0 0 0 0,-10 0 0 0 0,-8 0 0 0 0,-7 0 0 0 0,-5 1 0 0 0,-6 3 0 0 0,-5 2 0 0 0,-3 1 0 0 0,-5 3 0 0 0,-2 3 0 0 0,-3 2 0 0 0,-2 2 0 0 0,0 2 0 0 0,-1 2 0 0 0,1 0 0 0 0,-1 0 0 0 0,0 0 0 0 0,1 1 0 0 0,0-1 0 0 0,0 0 0 0 0,-1 0 0 0 0,0 0 0 0 0,-2-2 0 0 0,-1-3 0 0 0,-1 0 0 0 0,-2 0 0 0 0,0-2 0 0 0,0 0 0 0 0,1-2 0 0 0,-1-1 0 0 0,0 1 0 0 0,-1-1 0 0 0,0 1 0 0 0,0 1 0 0 0,1-2 0 0 0,-1-1 0 0 0,-1 0 0 0 0,-1-3 0 0 0,0-2 0 0 0,1 0 0 0 0,0 0 0 0 0,0-1 0 0 0,0 0 0 0 0,-1-1 0 0 0,-2 0 0 0 0,0-2 0 0 0,-1 0 0 0 0,-1-1 0 0 0,0 0 0 0 0,-2 0 0 0 0,-2 0 0 0 0,-2 0 0 0 0,-2 0 0 0 0,-6 0 0 0 0,-6 0 0 0 0,-7 0 0 0 0,-9 0 0 0 0,-5 0 0 0 0,-6 0 0 0 0,-5 0 0 0 0,-3 0 0 0 0,-4 0 0 0 0,-1 0 0 0 0,-3 0 0 0 0,-4 0 0 0 0,0 0 0 0 0,0 0 0 0 0,3 0 0 0 0,2 0 0 0 0,3 1 0 0 0,5 1 0 0 0,3 1 0 0 0,3 2 0 0 0,5 1 0 0 0,3 2 0 0 0,4 2 0 0 0,5 0 0 0 0,4 0 0 0 0,4-1 0 0 0,0 1 0 0 0,-3 2 0 0 0,-5-3 0 0 0,-4-2 0 0 0,-1-2 0 0 0,-1 0 0 0 0,-1 0 0 0 0,0-2 0 0 0,2-1 0 0 0,1 0 0 0 0,4 0 0 0 0,3 1 0 0 0,4 0 0 0 0,0 0 0 0 0,-1 0 0 0 0,1 2 0 0 0,1-1 0 0 0,3-1 0 0 0,4-1 0 0 0,5 0 0 0 0,5-2 0 0 0,5 1 0 0 0,10-1 0 0 0,16-3 0 0 0,22-5 0 0 0,19-5 0 0 0,19-7 0 0 0,24-4 0 0 0,30-3 0 0 0,31 0 0 0 0,28-2 0 0 0,14 1 0 0 0,0 2 0 0 0,-15 4 0 0 0,-26 3 0 0 0,-29 6 0 0 0,-28 5 0 0 0,-19 3 0 0 0,-14 3 0 0 0,-8 2 0 0 0,-3 0 0 0 0,1 1 0 0 0,2 0 0 0 0,0 0 0 0 0,0 0 0 0 0,-2-2 0 0 0,-5-2 0 0 0,-9-2 0 0 0,-9-1 0 0 0,-11-3 0 0 0,-9-3 0 0 0,-7-4 0 0 0,-4-2 0 0 0,-3-2 0 0 0,-6-1 0 0 0,-8 1 0 0 0,-12-1 0 0 0,-13 0 0 0 0,-10 1 0 0 0,-7 3 0 0 0,-3 2 0 0 0,-3 6 0 0 0,-4 2 0 0 0,-3 4 0 0 0,0 2 0 0 0,2 1 0 0 0,3 1 0 0 0,5-1 0 0 0,6 1 0 0 0,7 0 0 0 0,7-1 0 0 0,3 1 0 0 0,3-1 0 0 0,0 0 0 0 0,-5 0 0 0 0,-3 0 0 0 0,-3 1 0 0 0,-6 2 0 0 0,-11 2 0 0 0,-15 2 0 0 0,-21 0 0 0 0,-19-1 0 0 0,-19-2 0 0 0,-14-2 0 0 0,-11 0 0 0 0,-7-2 0 0 0,-2 0 0 0 0,-2 0 0 0 0,0 0 0 0 0,5-1 0 0 0,9 1 0 0 0,13 0 0 0 0,11 0 0 0 0,10 0 0 0 0,12 0 0 0 0,8 0 0 0 0,9 0 0 0 0,7 0 0 0 0,6 0 0 0 0,4 0 0 0 0,3 0 0 0 0,2 0 0 0 0,0 0 0 0 0,0 0 0 0 0,-2 0 0 0 0,-6 0 0 0 0,-11 0 0 0 0,-11 0 0 0 0,-11 0 0 0 0,-3 0 0 0 0,4 0 0 0 0,13 0 0 0 0,15 0 0 0 0,17 0 0 0 0,14 0 0 0 0,9-1 0 0 0,5-2 0 0 0,2-3 0 0 0,1-1 0 0 0,0 0 0 0 0,3 0 0 0 0,4 0 0 0 0,6-1 0 0 0,7-2 0 0 0,6 0 0 0 0,3-1 0 0 0,1 2 0 0 0,-4 2 0 0 0,-7 2 0 0 0,-11 2 0 0 0,-11 2 0 0 0,-11-1 0 0 0,-8-2 0 0 0,-5-1 0 0 0,0-3 0 0 0,5 0 0 0 0,7 2 0 0 0,8 1 0 0 0,8 2 0 0 0,5 2 0 0 0,3 0 0 0 0,3 1 0 0 0,2 0 0 0 0,0 1 0 0 0,-3-1 0 0 0,-5 0 0 0 0,-7 0 0 0 0,-11 1 0 0 0,-20-1 0 0 0,-27 0 0 0 0,-30 2 0 0 0,-31 8 0 0 0,-25 7 0 0 0,-20 6 0 0 0,-8 6 0 0 0,3 1 0 0 0,9 0 0 0 0,5-3 0 0 0,-1-2 0 0 0,-4-4 0 0 0,-1-3 0 0 0,6-4 0 0 0,13-3 0 0 0,17 0 0 0 0,17-3 0 0 0,21-2 0 0 0,20-3 0 0 0,19-1 0 0 0,16-1 0 0 0,14-1 0 0 0,12-1 0 0 0,6 1 0 0 0,8-2 0 0 0,7-4 0 0 0,8-3 0 0 0,6-3 0 0 0,5 0 0 0 0,7 0 0 0 0,8-1 0 0 0,10-1 0 0 0,12-1 0 0 0,11 1 0 0 0,10-1 0 0 0,3 1 0 0 0,2 1 0 0 0,1-3 0 0 0,4-3 0 0 0,2-4 0 0 0,1-2 0 0 0,-3 0 0 0 0,-7 3 0 0 0,-8 5 0 0 0,-6 4 0 0 0,-7 3 0 0 0,0 3 0 0 0,0 0 0 0 0,0-1 0 0 0,-2 1 0 0 0,0 1 0 0 0,-1-1 0 0 0,2 1 0 0 0,4-2 0 0 0,5-1 0 0 0,1-1 0 0 0,2-1 0 0 0,3-2 0 0 0,1-1 0 0 0,3-3 0 0 0,5-2 0 0 0,10-1 0 0 0,9-2 0 0 0,4-1 0 0 0,0 2 0 0 0,-2 3 0 0 0,-2 3 0 0 0,0 1 0 0 0,6 2 0 0 0,4 3 0 0 0,4 3 0 0 0,4 2 0 0 0,2 3 0 0 0,1 0 0 0 0,5 1 0 0 0,6 1 0 0 0,10-1 0 0 0,18 4 0 0 0,28 6 0 0 0,37 12 0 0 0,40 11 0 0 0,30 9 0 0 0,13 5 0 0 0,-8 2 0 0 0,-23-4 0 0 0,-30-6 0 0 0,-30-8 0 0 0,-27-6 0 0 0,-21-7 0 0 0,-11-7 0 0 0,-4-6 0 0 0,1-1 0 0 0,2 2 0 0 0,3-2 0 0 0,3 0 0 0 0,0 0 0 0 0,-2 1 0 0 0,-1 1 0 0 0,-2 0 0 0 0,-3 0 0 0 0,-7 2 0 0 0,-9-2 0 0 0,-11 0 0 0 0,-12-3 0 0 0,-9-1 0 0 0,-10-1 0 0 0,-7 0 0 0 0,-7-1 0 0 0,-6-1 0 0 0,-2 1 0 0 0,0 0 0 0 0,-1-1 0 0 0,-1 1 0 0 0,-5 0 0 0 0,-5 0 0 0 0,-7 0 0 0 0,-6 0 0 0 0,-6 0 0 0 0,-4 0 0 0 0,-1 0 0 0 0,-2 0 0 0 0,1 0 0 0 0,4 0 0 0 0,4 0 0 0 0,2 0 0 0 0,3 0 0 0 0,1 0 0 0 0,3 0 0 0 0,4 0 0 0 0,0 0 0 0 0,-2 0 0 0 0,-5 0 0 0 0,-6 0 0 0 0,-8 0 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1-27T02:17:43.078"/>
    </inkml:context>
    <inkml:brush xml:id="br0">
      <inkml:brushProperty name="width" value="0.35" units="cm"/>
      <inkml:brushProperty name="height" value="0.35" units="cm"/>
      <inkml:brushProperty name="color" value="#FFFFFF"/>
    </inkml:brush>
  </inkml:definitions>
  <inkml:trace contextRef="#ctx0" brushRef="#br0">19863 13317 16383 0 0,'1'0'0'0'0,"1"1"0"0"0,1 3 0 0 0,0 5 0 0 0,-1 3 0 0 0,0 0 0 0 0,2-1 0 0 0,4-1 0 0 0,4-2 0 0 0,4-2 0 0 0,4-2 0 0 0,5-1 0 0 0,1 0 0 0 0,1 2 0 0 0,-1 2 0 0 0,-1 2 0 0 0,-1 1 0 0 0,0 1 0 0 0,-4-1 0 0 0,-5 0 0 0 0,-5 1 0 0 0,-4 0 0 0 0,-3-1 0 0 0,-2 1 0 0 0,-2 1 0 0 0,-6 2 0 0 0,-3-1 0 0 0,-4 2 0 0 0,-6 0 0 0 0,-4 0 0 0 0,-4-1 0 0 0,-2-3 0 0 0,0-3 0 0 0,1-3 0 0 0,1-3 0 0 0,0-1 0 0 0,3-1 0 0 0,3 0 0 0 0,4-1 0 0 0,3 1 0 0 0,2-1 0 0 0,2 1 0 0 0,-2 0 0 0 0,-2-1 0 0 0,-1 1 0 0 0,-1 0 0 0 0,-4 0 0 0 0,-1 0 0 0 0,-1 0 0 0 0,-1 1 0 0 0,0-1 0 0 0,-2 0 0 0 0,-1 0 0 0 0,-1 0 0 0 0,1 0 0 0 0,2 0 0 0 0,1 0 0 0 0,3 0 0 0 0,3 0 0 0 0,0 0 0 0 0,2 0 0 0 0,-1 0 0 0 0,1 0 0 0 0,0 0 0 0 0,0 0 0 0 0,0 0 0 0 0,0 0 0 0 0,-2 0 0 0 0,0 0 0 0 0,1 0 0 0 0,0 0 0 0 0,-2 2 0 0 0,0 2 0 0 0,-2 1 0 0 0,1 1 0 0 0,0-2 0 0 0,4-1 0 0 0,1 1 0 0 0,3-1 0 0 0,2 1 0 0 0,0-1 0 0 0,-1-1 0 0 0,0 0 0 0 0,1-2 0 0 0,-1 1 0 0 0,0-1 0 0 0,1 0 0 0 0,2 2 0 0 0,-1 0 0 0 0,-1 0 0 0 0,0 0 0 0 0,-1 0 0 0 0,-1-1 0 0 0,0-1 0 0 0,2 1 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1-27T02:17:43.083"/>
    </inkml:context>
    <inkml:brush xml:id="br0">
      <inkml:brushProperty name="width" value="0.35" units="cm"/>
      <inkml:brushProperty name="height" value="0.35" units="cm"/>
      <inkml:brushProperty name="color" value="#FFFFFF"/>
    </inkml:brush>
  </inkml:definitions>
  <inkml:trace contextRef="#ctx0" brushRef="#br0">9570 13414 16383 0 0,'2'0'0'0'0,"13"0"0"0"0,28 0 0 0 0,43 0 0 0 0,52 0 0 0 0,49 0 0 0 0,36 0 0 0 0,18 3 0 0 0,-4 4 0 0 0,-12 7 0 0 0,-16 4 0 0 0,-18 4 0 0 0,-20 1 0 0 0,-18-2 0 0 0,-16-1 0 0 0,-18-1 0 0 0,-17-3 0 0 0,-16-3 0 0 0,-15-4 0 0 0,-14-3 0 0 0,-12-3 0 0 0,-9-2 0 0 0,-8-1 0 0 0,-7 1 0 0 0,-5 0 0 0 0,-2 1 0 0 0,-2 0 0 0 0,-1 0 0 0 0,-1-1 0 0 0,0-1 0 0 0,0 1 0 0 0,1-1 0 0 0,2 0 0 0 0,3 0 0 0 0,5 0 0 0 0,4 0 0 0 0,4-1 0 0 0,2 0 0 0 0,0-3 0 0 0,4-5 0 0 0,3-3 0 0 0,1-2 0 0 0,-2 0 0 0 0,0 1 0 0 0,-3 4 0 0 0,-2 2 0 0 0,-4 1 0 0 0,-4 2 0 0 0,-2 0 0 0 0,0-1 0 0 0,1-1 0 0 0,4-2 0 0 0,7-1 0 0 0,7-2 0 0 0,8 0 0 0 0,4 1 0 0 0,8 1 0 0 0,5-1 0 0 0,3 2 0 0 0,3 3 0 0 0,0 1 0 0 0,1 2 0 0 0,2 1 0 0 0,5 0 0 0 0,7-2 0 0 0,8-3 0 0 0,7 0 0 0 0,4-2 0 0 0,7 0 0 0 0,9 0 0 0 0,6-3 0 0 0,7-4 0 0 0,8-5 0 0 0,10-3 0 0 0,11-4 0 0 0,15-1 0 0 0,10 0 0 0 0,5 1 0 0 0,-4 2 0 0 0,-10 2 0 0 0,-16 4 0 0 0,-20 6 0 0 0,-23 4 0 0 0,-24 4 0 0 0,-21 2 0 0 0,-18 3 0 0 0,-13 1 0 0 0,-9 0 0 0 0,-11 0 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1-27T02:17:43.084"/>
    </inkml:context>
    <inkml:brush xml:id="br0">
      <inkml:brushProperty name="width" value="0.35" units="cm"/>
      <inkml:brushProperty name="height" value="0.35" units="cm"/>
      <inkml:brushProperty name="color" value="#FFFFFF"/>
    </inkml:brush>
  </inkml:definitions>
  <inkml:trace contextRef="#ctx0" brushRef="#br0">21449 13381 16383 0 0,'-2'0'0'0'0,"-9"0"0"0"0,-30 0 0 0 0,-41 0 0 0 0,-40 0 0 0 0,-41 0 0 0 0,-29 0 0 0 0,-17 0 0 0 0,2 0 0 0 0,18 0 0 0 0,26 0 0 0 0,25 0 0 0 0,24 0 0 0 0,22 0 0 0 0,19 0 0 0 0,14 0 0 0 0,9-2 0 0 0,9-2 0 0 0,4 1 0 0 0,2 0 0 0 0,-1 1 0 0 0,-3 1 0 0 0,-3 1 0 0 0,-2-1 0 0 0,-3 1 0 0 0,0 0 0 0 0,1 0 0 0 0,9 1 0 0 0,15-1 0 0 0,26 1 0 0 0,26 2 0 0 0,26 3 0 0 0,22 1 0 0 0,15 1 0 0 0,10-1 0 0 0,2-2 0 0 0,0 0 0 0 0,0 1 0 0 0,0 0 0 0 0,-3 1 0 0 0,-5 0 0 0 0,-5 0 0 0 0,-6-3 0 0 0,-5-1 0 0 0,-7-1 0 0 0,-4 0 0 0 0,-5 2 0 0 0,-3 0 0 0 0,-2 2 0 0 0,-3 1 0 0 0,-3 2 0 0 0,-1 2 0 0 0,2 0 0 0 0,-3 0 0 0 0,-3 1 0 0 0,-5-2 0 0 0,-5-1 0 0 0,-3-1 0 0 0,-4-2 0 0 0,-4 1 0 0 0,-4-3 0 0 0,-3 0 0 0 0,-3-1 0 0 0,-6 0 0 0 0,-4 3 0 0 0,-9 0 0 0 0,-9 2 0 0 0,-9 0 0 0 0,-8-1 0 0 0,-8-1 0 0 0,-5-1 0 0 0,-3-3 0 0 0,0 1 0 0 0,1 0 0 0 0,4 1 0 0 0,5 0 0 0 0,4 0 0 0 0,4 0 0 0 0,3 0 0 0 0,0-2 0 0 0,0 0 0 0 0,-2-1 0 0 0,0-1 0 0 0,-1 0 0 0 0,-3 0 0 0 0,-3 0 0 0 0,-5 0 0 0 0,-4 0 0 0 0,-5 0 0 0 0,-8 0 0 0 0,-9 0 0 0 0,-11 0 0 0 0,-11 0 0 0 0,-15 0 0 0 0,-12 0 0 0 0,-14 0 0 0 0,-10 0 0 0 0,-5 0 0 0 0,0 0 0 0 0,7 0 0 0 0,16 0 0 0 0,16 0 0 0 0,15 0 0 0 0,14 0 0 0 0,9 0 0 0 0,6 0 0 0 0,2 0 0 0 0,0 0 0 0 0,-2 0 0 0 0,-2 0 0 0 0,-4 0 0 0 0,-4 0 0 0 0,-2 0 0 0 0,-4 0 0 0 0,-5 0 0 0 0,0 0 0 0 0,0 0 0 0 0,1 0 0 0 0,4 0 0 0 0,0 0 0 0 0,1 0 0 0 0,2 0 0 0 0,3 0 0 0 0,6 0 0 0 0,5 0 0 0 0,3 0 0 0 0,3 0 0 0 0,1 0 0 0 0,0 0 0 0 0,-2 0 0 0 0,0 0 0 0 0,1 1 0 0 0,1 3 0 0 0,3 0 0 0 0,4 0 0 0 0,4 0 0 0 0,2-2 0 0 0,4-1 0 0 0,4 0 0 0 0,2-1 0 0 0,3-1 0 0 0,6-1 0 0 0,7-2 0 0 0,8-1 0 0 0,7 1 0 0 0,7 0 0 0 0,5-1 0 0 0,5 0 0 0 0,3-2 0 0 0,5-1 0 0 0,4 0 0 0 0,8-1 0 0 0,9 0 0 0 0,15 2 0 0 0,14 1 0 0 0,8 3 0 0 0,7 1 0 0 0,5 1 0 0 0,4 1 0 0 0,3 0 0 0 0,2 1 0 0 0,0-3 0 0 0,1-4 0 0 0,-2-4 0 0 0,-6-4 0 0 0,-9-3 0 0 0,-4-2 0 0 0,-3-1 0 0 0,-5-1 0 0 0,-6 1 0 0 0,-6 1 0 0 0,-7 2 0 0 0,-2 3 0 0 0,-5 4 0 0 0,-4 3 0 0 0,0-1 0 0 0,0 1 0 0 0,-2 0 0 0 0,-2 1 0 0 0,-1 2 0 0 0,-1 0 0 0 0,-1-1 0 0 0,-1 0 0 0 0,-1 0 0 0 0,0 0 0 0 0,1 0 0 0 0,-2 2 0 0 0,0-1 0 0 0,3-1 0 0 0,4 0 0 0 0,4 0 0 0 0,3 2 0 0 0,5 1 0 0 0,5 1 0 0 0,3 1 0 0 0,4 0 0 0 0,0-2 0 0 0,-4 0 0 0 0,-7-2 0 0 0,-8 2 0 0 0,-7-1 0 0 0,-8 2 0 0 0,-5 0 0 0 0,-7 1 0 0 0,-8-1 0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1-27T02:17:43.085"/>
    </inkml:context>
    <inkml:brush xml:id="br0">
      <inkml:brushProperty name="width" value="0.35" units="cm"/>
      <inkml:brushProperty name="height" value="0.35" units="cm"/>
      <inkml:brushProperty name="color" value="#FFFFFF"/>
    </inkml:brush>
  </inkml:definitions>
  <inkml:trace contextRef="#ctx0" brushRef="#br0">23918 13381 16383 0 0,'-1'0'0'0'0,"-3"0"0"0"0,-6 0 0 0 0,-16 0 0 0 0,-23 0 0 0 0,-35 0 0 0 0,-38 0 0 0 0,-36 0 0 0 0,-35 0 0 0 0,-18 0 0 0 0,-1 0 0 0 0,11 0 0 0 0,17 0 0 0 0,22 0 0 0 0,20 0 0 0 0,17 0 0 0 0,15 0 0 0 0,12 0 0 0 0,11 0 0 0 0,7 0 0 0 0,7 0 0 0 0,6 0 0 0 0,4 0 0 0 0,3 0 0 0 0,4 0 0 0 0,3 0 0 0 0,1 0 0 0 0,-1 0 0 0 0,-4 0 0 0 0,-5 0 0 0 0,-5 0 0 0 0,-6 0 0 0 0,-11 0 0 0 0,-18 0 0 0 0,-23 0 0 0 0,-23 0 0 0 0,-16 0 0 0 0,-5 0 0 0 0,4 0 0 0 0,8 0 0 0 0,10 0 0 0 0,13 0 0 0 0,20 0 0 0 0,19 0 0 0 0,15 0 0 0 0,12 0 0 0 0,8 0 0 0 0,6 0 0 0 0,2 0 0 0 0,-2 0 0 0 0,-8 2 0 0 0,-8 2 0 0 0,-12 4 0 0 0,-13 3 0 0 0,-19 2 0 0 0,-33 5 0 0 0,-33 5 0 0 0,-26 3 0 0 0,-20 1 0 0 0,-3-5 0 0 0,10-6 0 0 0,17-5 0 0 0,20-5 0 0 0,20-4 0 0 0,23-1 0 0 0,19-2 0 0 0,12 0 0 0 0,7 0 0 0 0,3 0 0 0 0,0 0 0 0 0,-3 1 0 0 0,-7-1 0 0 0,-6 1 0 0 0,-4 0 0 0 0,-4 0 0 0 0,1 0 0 0 0,6 0 0 0 0,8 0 0 0 0,7 0 0 0 0,8 0 0 0 0,9 0 0 0 0,10 0 0 0 0,5 0 0 0 0,5 0 0 0 0,2 0 0 0 0,2 0 0 0 0,0 0 0 0 0,1-2 0 0 0,2-1 0 0 0,2-1 0 0 0,4 0 0 0 0,5-2 0 0 0,4 1 0 0 0,4-1 0 0 0,3 0 0 0 0,2 0 0 0 0,1 0 0 0 0,0 1 0 0 0,0 1 0 0 0,-2 1 0 0 0,-4 0 0 0 0,-1-1 0 0 0,1 0 0 0 0,-1 1 0 0 0,-2 1 0 0 0,0 1 0 0 0,-2 0 0 0 0,-1 1 0 0 0,-3 0 0 0 0,-3 0 0 0 0,-7 0 0 0 0,-11 0 0 0 0,-15 0 0 0 0,-15 0 0 0 0,-15 1 0 0 0,-16-1 0 0 0,-10 0 0 0 0,-7 0 0 0 0,-1 0 0 0 0,5 0 0 0 0,6 0 0 0 0,8 0 0 0 0,9 0 0 0 0,9 0 0 0 0,9 0 0 0 0,8 0 0 0 0,10 0 0 0 0,7 0 0 0 0,8 0 0 0 0,4 0 0 0 0,3 0 0 0 0,2 0 0 0 0,0 0 0 0 0,0 0 0 0 0,-4 0 0 0 0,-3 0 0 0 0,-3 0 0 0 0,-5 0 0 0 0,-6 0 0 0 0,-3 0 0 0 0,-3 0 0 0 0,-2 0 0 0 0,1 0 0 0 0,5 0 0 0 0,6 0 0 0 0,6 0 0 0 0,6-2 0 0 0,7-1 0 0 0,4 0 0 0 0,4-2 0 0 0,0 0 0 0 0,1 0 0 0 0,0 1 0 0 0,1 0 0 0 0,2-1 0 0 0,4 0 0 0 0,5-1 0 0 0,4-1 0 0 0,6-1 0 0 0,5 2 0 0 0,2 2 0 0 0,-1 0 0 0 0,0 2 0 0 0,0 1 0 0 0,-2 1 0 0 0,-2 0 0 0 0,3 1 0 0 0,2 4 0 0 0,3 4 0 0 0,3 5 0 0 0,0 4 0 0 0,2 1 0 0 0,1 0 0 0 0,0 0 0 0 0,3-1 0 0 0,4-3 0 0 0,5-2 0 0 0,7-3 0 0 0,2-3 0 0 0,2-2 0 0 0,2-1 0 0 0,0-1 0 0 0,1-1 0 0 0,1-1 0 0 0,1 0 0 0 0,0-1 0 0 0,2-1 0 0 0,0 1 0 0 0,3 0 0 0 0,1 0 0 0 0,0 0 0 0 0,0 0 0 0 0,-3 0 0 0 0,-1-1 0 0 0,-2 1 0 0 0,-2 0 0 0 0,0 1 0 0 0,0-1 0 0 0,2 0 0 0 0,0 0 0 0 0,-1 0 0 0 0,-2 0 0 0 0,-3 0 0 0 0,-1 0 0 0 0,0 0 0 0 0,1 0 0 0 0,0 0 0 0 0,1 0 0 0 0,0 0 0 0 0,2 0 0 0 0,1 0 0 0 0,2 0 0 0 0,3 0 0 0 0,1 0 0 0 0,0 0 0 0 0,0 0 0 0 0,0 0 0 0 0,1 0 0 0 0,0 0 0 0 0,2 0 0 0 0,1 0 0 0 0,2 0 0 0 0,2 0 0 0 0,0 0 0 0 0,3 0 0 0 0,4 0 0 0 0,0 1 0 0 0,-1 2 0 0 0,-1 0 0 0 0,-1 1 0 0 0,-2 0 0 0 0,0 1 0 0 0,-1-1 0 0 0,0-1 0 0 0,-1-1 0 0 0,1 0 0 0 0,-1 2 0 0 0,1-1 0 0 0,-1 0 0 0 0,-1 0 0 0 0,-2 0 0 0 0,-2 2 0 0 0,-3 0 0 0 0,-1 0 0 0 0,0-1 0 0 0,1-1 0 0 0,-1-1 0 0 0,1 0 0 0 0,-1-1 0 0 0,-2 2 0 0 0,0-1 0 0 0,-2 0 0 0 0,1 0 0 0 0,0-1 0 0 0,0 0 0 0 0,2-1 0 0 0,2 0 0 0 0,3 0 0 0 0,2 0 0 0 0,2 0 0 0 0,1 0 0 0 0,1 0 0 0 0,0 0 0 0 0,0 0 0 0 0,1 0 0 0 0,-1 0 0 0 0,-1 0 0 0 0,1 0 0 0 0,0 0 0 0 0,0 0 0 0 0,0 0 0 0 0,-1 0 0 0 0,1 0 0 0 0,-2 0 0 0 0,-3 0 0 0 0,-1 0 0 0 0,-2 0 0 0 0,-2 0 0 0 0,0 0 0 0 0,1 0 0 0 0,0 0 0 0 0,2 0 0 0 0,2 0 0 0 0,1-1 0 0 0,3 0 0 0 0,0-2 0 0 0,-1-1 0 0 0,-1 0 0 0 0,-3-1 0 0 0,-1 0 0 0 0,0 1 0 0 0,0 0 0 0 0,-2 0 0 0 0,1 0 0 0 0,-3-1 0 0 0,0 0 0 0 0,0 1 0 0 0,0 0 0 0 0,-1 0 0 0 0,2-1 0 0 0,0 2 0 0 0,-1 1 0 0 0,-2 0 0 0 0,0 2 0 0 0,-1-1 0 0 0,2 1 0 0 0,2 0 0 0 0,1 1 0 0 0,1-1 0 0 0,1 0 0 0 0,3 1 0 0 0,0 4 0 0 0,0 1 0 0 0,-1 2 0 0 0,-3 0 0 0 0,-1-1 0 0 0,0 0 0 0 0,-2-1 0 0 0,1 0 0 0 0,0-3 0 0 0,1 0 0 0 0,1-2 0 0 0,-1 0 0 0 0,-2-1 0 0 0,1 0 0 0 0,-2 0 0 0 0,-1-1 0 0 0,0 1 0 0 0,2 0 0 0 0,1 0 0 0 0,1 0 0 0 0,1 0 0 0 0,3 0 0 0 0,2 0 0 0 0,1 0 0 0 0,2 0 0 0 0,0 0 0 0 0,2 0 0 0 0,3 0 0 0 0,1 0 0 0 0,0 0 0 0 0,-2 0 0 0 0,1 0 0 0 0,2 0 0 0 0,-1 0 0 0 0,0 0 0 0 0,0 0 0 0 0,1 0 0 0 0,0 0 0 0 0,1 0 0 0 0,3 0 0 0 0,1 0 0 0 0,2 0 0 0 0,1 0 0 0 0,0 0 0 0 0,2 0 0 0 0,0 0 0 0 0,-1 0 0 0 0,-3 0 0 0 0,0 0 0 0 0,-3 0 0 0 0,-4 0 0 0 0,-1 0 0 0 0,1 0 0 0 0,0 0 0 0 0,2 0 0 0 0,1 0 0 0 0,2 0 0 0 0,1 0 0 0 0,0 0 0 0 0,3 0 0 0 0,1 0 0 0 0,1 0 0 0 0,1 0 0 0 0,1 0 0 0 0,-1 0 0 0 0,-2 0 0 0 0,-3 0 0 0 0,-4 2 0 0 0,-3 1 0 0 0,-4 1 0 0 0,-1-2 0 0 0,-1 0 0 0 0,-1-1 0 0 0,-1 0 0 0 0,-3-1 0 0 0,0 1 0 0 0,-1-2 0 0 0,0 1 0 0 0,0 0 0 0 0,-1 0 0 0 0,0 0 0 0 0,1 0 0 0 0,1 0 0 0 0,2 0 0 0 0,-1 0 0 0 0,0 0 0 0 0,-2 0 0 0 0,-2 0 0 0 0,-2 0 0 0 0,-3 0 0 0 0,0 0 0 0 0,-2 0 0 0 0,0 0 0 0 0,0 0 0 0 0,1 0 0 0 0,1 0 0 0 0,2 0 0 0 0,0 0 0 0 0,2 0 0 0 0,-1 0 0 0 0,-1 0 0 0 0,0 0 0 0 0,-1 0 0 0 0,0 0 0 0 0,0 0 0 0 0,-1 0 0 0 0,-2 0 0 0 0,1 0 0 0 0,1 0 0 0 0,2 0 0 0 0,1 0 0 0 0,2 0 0 0 0,3 0 0 0 0,1 0 0 0 0,2 0 0 0 0,1 0 0 0 0,1 0 0 0 0,0-1 0 0 0,0-2 0 0 0,0-2 0 0 0,3-1 0 0 0,2-1 0 0 0,3-1 0 0 0,5 1 0 0 0,2 1 0 0 0,1 0 0 0 0,1 0 0 0 0,1 1 0 0 0,4-1 0 0 0,3 1 0 0 0,1-1 0 0 0,1 0 0 0 0,-2 1 0 0 0,-2 0 0 0 0,-3-1 0 0 0,-2 0 0 0 0,-3 2 0 0 0,-3 1 0 0 0,-4 1 0 0 0,-3 1 0 0 0,-1 0 0 0 0,2 1 0 0 0,0 1 0 0 0,-1-1 0 0 0,3 0 0 0 0,1 0 0 0 0,4 0 0 0 0,3 1 0 0 0,3-1 0 0 0,3 0 0 0 0,4 0 0 0 0,5 0 0 0 0,4 0 0 0 0,4 0 0 0 0,2 0 0 0 0,0 0 0 0 0,0 0 0 0 0,-4 0 0 0 0,-6 0 0 0 0,-5 0 0 0 0,-4 0 0 0 0,-7 0 0 0 0,-5 0 0 0 0,-5 0 0 0 0,-3 0 0 0 0,-2 0 0 0 0,-1 0 0 0 0,-2 0 0 0 0,-2 0 0 0 0,-2 0 0 0 0,-1 0 0 0 0,1 0 0 0 0,1 0 0 0 0,2 0 0 0 0,2 0 0 0 0,0 0 0 0 0,4 0 0 0 0,4 0 0 0 0,9 0 0 0 0,9 0 0 0 0,5 0 0 0 0,3 0 0 0 0,1 0 0 0 0,1 0 0 0 0,3 0 0 0 0,0 0 0 0 0,-2 0 0 0 0,-4 0 0 0 0,-2 0 0 0 0,-5 0 0 0 0,-4 0 0 0 0,-3 0 0 0 0,-5 0 0 0 0,-4 0 0 0 0,-4 0 0 0 0,0 0 0 0 0,2 0 0 0 0,2 0 0 0 0,4 0 0 0 0,5 0 0 0 0,3 0 0 0 0,4 0 0 0 0,1 0 0 0 0,2 1 0 0 0,1 4 0 0 0,-1-1 0 0 0,0 0 0 0 0,-1-1 0 0 0,-2 0 0 0 0,-1-2 0 0 0,4-1 0 0 0,1 1 0 0 0,1 0 0 0 0,2 3 0 0 0,5 2 0 0 0,13 3 0 0 0,15 2 0 0 0,14 4 0 0 0,12 6 0 0 0,8 4 0 0 0,2 3 0 0 0,-2 0 0 0 0,-8 0 0 0 0,-10-3 0 0 0,-7-1 0 0 0,-10-2 0 0 0,-10-3 0 0 0,-9-2 0 0 0,-11-2 0 0 0,-10-2 0 0 0,-10-1 0 0 0,-7-1 0 0 0,-4 0 0 0 0,-3 1 0 0 0,-1-1 0 0 0,0 0 0 0 0,0 0 0 0 0,-1 0 0 0 0,-2-2 0 0 0,-2-3 0 0 0,-6-2 0 0 0,-7-1 0 0 0,-7-3 0 0 0,-6-2 0 0 0,-7-3 0 0 0,-5-2 0 0 0,-4-1 0 0 0,-5-1 0 0 0,-5-1 0 0 0,-2 0 0 0 0,-2-1 0 0 0,-1 0 0 0 0,-3 2 0 0 0,-2 0 0 0 0,-4 3 0 0 0,-4 1 0 0 0,-5-2 0 0 0,-5 0 0 0 0,-3-2 0 0 0,-4-1 0 0 0,-3-1 0 0 0,-1 1 0 0 0,-3 0 0 0 0,-2 3 0 0 0,-3 2 0 0 0,-2 2 0 0 0,-4 1 0 0 0,-6 2 0 0 0,-11 0 0 0 0,-5 0 0 0 0,-4 1 0 0 0,-4-1 0 0 0,0 0 0 0 0,0 1 0 0 0,4-1 0 0 0,6 0 0 0 0,7 0 0 0 0,9 0 0 0 0,8 0 0 0 0,6 0 0 0 0,6 0 0 0 0,2 0 0 0 0,1 0 0 0 0,1 0 0 0 0,4 0 0 0 0,4 0 0 0 0,7 0 0 0 0,5 0 0 0 0,5 0 0 0 0,6 0 0 0 0,1 0 0 0 0,3 0 0 0 0,1 0 0 0 0,1 0 0 0 0,2 0 0 0 0,1 0 0 0 0,3 0 0 0 0,0 0 0 0 0,-1 0 0 0 0,1 0 0 0 0,0 0 0 0 0,0 0 0 0 0,0 0 0 0 0,-1 0 0 0 0,-2 0 0 0 0,-5 0 0 0 0,-6 0 0 0 0,-2 0 0 0 0,-5 0 0 0 0,-6 0 0 0 0,-10 0 0 0 0,-9 0 0 0 0,-5 0 0 0 0,-7 0 0 0 0,-4 0 0 0 0,-3 0 0 0 0,3 0 0 0 0,4 0 0 0 0,6 0 0 0 0,4 0 0 0 0,6 0 0 0 0,7 0 0 0 0,9 0 0 0 0,8 0 0 0 0,4 0 0 0 0,2 0 0 0 0,1 0 0 0 0,-3 0 0 0 0,-4 0 0 0 0,-3 0 0 0 0,-8 0 0 0 0,-8 0 0 0 0,-6 0 0 0 0,-3 0 0 0 0,-1 1 0 0 0,1 2 0 0 0,2 0 0 0 0,2 0 0 0 0,3 0 0 0 0,1-1 0 0 0,2 1 0 0 0,-1 1 0 0 0,2-1 0 0 0,2 0 0 0 0,1-2 0 0 0,2 0 0 0 0,0 0 0 0 0,4-1 0 0 0,3 0 0 0 0,4 0 0 0 0,1 1 0 0 0,5 1 0 0 0,2 1 0 0 0,2 0 0 0 0,3 0 0 0 0,2-2 0 0 0,1 0 0 0 0,-1-1 0 0 0,0 1 0 0 0,0-1 0 0 0,-1 2 0 0 0,-1 0 0 0 0,-1 2 0 0 0,-3 1 0 0 0,-2 0 0 0 0,-3-1 0 0 0,-2 2 0 0 0,-4 0 0 0 0,0 0 0 0 0,-1 0 0 0 0,-2 0 0 0 0,-4 0 0 0 0,-2 0 0 0 0,-1-1 0 0 0,0 1 0 0 0,1 1 0 0 0,2-1 0 0 0,1 0 0 0 0,1-2 0 0 0,2 2 0 0 0,3-2 0 0 0,2 1 0 0 0,2 1 0 0 0,1-2 0 0 0,1-1 0 0 0,1-1 0 0 0,-1 0 0 0 0,1-2 0 0 0,0 0 0 0 0,-3 0 0 0 0,-5 1 0 0 0,-7 2 0 0 0,-7 0 0 0 0,-8 0 0 0 0,-6 1 0 0 0,-12 2 0 0 0,-14 3 0 0 0,-16 3 0 0 0,-19 3 0 0 0,-15 2 0 0 0,-9 0 0 0 0,-1 0 0 0 0,7-3 0 0 0,13-1 0 0 0,13-2 0 0 0,15-2 0 0 0,14-3 0 0 0,14-3 0 0 0,9-1 0 0 0,7-1 0 0 0,3-1 0 0 0,3-1 0 0 0,3 1 0 0 0,3-1 0 0 0,1 1 0 0 0,3-1 0 0 0,4 1 0 0 0,2 0 0 0 0,4 0 0 0 0,3 0 0 0 0,4 0 0 0 0,2 0 0 0 0,2-1 0 0 0,1-2 0 0 0,0 0 0 0 0,1-2 0 0 0,0-2 0 0 0,-1-1 0 0 0,1 0 0 0 0,0 1 0 0 0,-2-2 0 0 0,0 1 0 0 0,1 0 0 0 0,1-1 0 0 0,1 2 0 0 0,0 2 0 0 0,3 1 0 0 0,1 2 0 0 0,3 1 0 0 0,1 1 0 0 0,2 0 0 0 0,2-2 0 0 0,2-1 0 0 0,-1-3 0 0 0,0-1 0 0 0,-1-1 0 0 0,-1-3 0 0 0,2-4 0 0 0,1 0 0 0 0,2-1 0 0 0,0 0 0 0 0,1 1 0 0 0,1 0 0 0 0,3 3 0 0 0,6 1 0 0 0,7 1 0 0 0,6 1 0 0 0,8 1 0 0 0,7 2 0 0 0,3 1 0 0 0,0 3 0 0 0,0 0 0 0 0,-1 2 0 0 0,-1 0 0 0 0,-2 0 0 0 0,0 1 0 0 0,-1-1 0 0 0,0 0 0 0 0,-1 0 0 0 0,1 0 0 0 0,-4 1 0 0 0,-3-1 0 0 0,-4 0 0 0 0,-5-1 0 0 0,-11-1 0 0 0,-19-1 0 0 0,-22 1 0 0 0,-20 1 0 0 0,-17 0 0 0 0,-15 0 0 0 0,-1 1 0 0 0,3 0 0 0 0,9 0 0 0 0,12 0 0 0 0,12 0 0 0 0,9 0 0 0 0,7 0 0 0 0,4 0 0 0 0,3 0 0 0 0,0 0 0 0 0,-2 0 0 0 0,-3 0 0 0 0,-4 0 0 0 0,-5 0 0 0 0,-5 0 0 0 0,-6 0 0 0 0,-9 2 0 0 0,-7 2 0 0 0,-3 1 0 0 0,-5-1 0 0 0,-2-1 0 0 0,0-1 0 0 0,3-1 0 0 0,2 0 0 0 0,3-1 0 0 0,1 0 0 0 0,3 0 0 0 0,3 0 0 0 0,0 0 0 0 0,-1-1 0 0 0,0 1 0 0 0,4 0 0 0 0,5 0 0 0 0,2 0 0 0 0,1 0 0 0 0,0 0 0 0 0,-1 0 0 0 0,-1 0 0 0 0,-1 0 0 0 0,0 0 0 0 0,-2 0 0 0 0,-3 0 0 0 0,-3 0 0 0 0,-3 0 0 0 0,1 0 0 0 0,-2 0 0 0 0,-2 0 0 0 0,1 0 0 0 0,-1 0 0 0 0,2 0 0 0 0,3 0 0 0 0,3 0 0 0 0,3 0 0 0 0,5 0 0 0 0,3 0 0 0 0,4 0 0 0 0,3 0 0 0 0,4 0 0 0 0,6 0 0 0 0,5 0 0 0 0,4 0 0 0 0,2 0 0 0 0,0 0 0 0 0,-1 0 0 0 0,0 0 0 0 0,1 0 0 0 0,-1 0 0 0 0,-2-2 0 0 0,-1-1 0 0 0,-1-1 0 0 0,0 2 0 0 0,2 0 0 0 0,0 0 0 0 0,-1 2 0 0 0,0-1 0 0 0,-1 1 0 0 0,1 0 0 0 0,1 0 0 0 0,0 1 0 0 0,1-1 0 0 0,1 0 0 0 0,1 0 0 0 0,1 0 0 0 0,0 0 0 0 0,-1 0 0 0 0,1 0 0 0 0,0 0 0 0 0,1 0 0 0 0,3 0 0 0 0,3 0 0 0 0,2 0 0 0 0,3 0 0 0 0,7 0 0 0 0,12 0 0 0 0,13 0 0 0 0,17 0 0 0 0,12 0 0 0 0,10 0 0 0 0,7 0 0 0 0,8-2 0 0 0,13-5 0 0 0,27-5 0 0 0,62-8 0 0 0,108-9 0 0 0,103-3 0 0 0,82 3 0 0 0,56 7 0 0 0,16 7 0 0 0,-21 6 0 0 0,-41 5 0 0 0,-39 2 0 0 0,-10 3 0 0 0,11 0 0 0 0,12 0 0 0 0,3 1 0 0 0,-8-1 0 0 0,-20 3 0 0 0,-30 4 0 0 0,-32 4 0 0 0,-22 3 0 0 0,-13-1 0 0 0,-10-3 0 0 0,-7-3 0 0 0,-6-3 0 0 0,-8-3 0 0 0,-13-1 0 0 0,-19-1 0 0 0,-14-2 0 0 0,-10-5 0 0 0,-10-6 0 0 0,-4-8 0 0 0,-13-5 0 0 0,-21-5 0 0 0,-23-2 0 0 0,-23 0 0 0 0,-23 1 0 0 0,-18-1 0 0 0,-14 1 0 0 0,-10 0 0 0 0,-3-3 0 0 0,2-2 0 0 0,3-1 0 0 0,1 3 0 0 0,-1 2 0 0 0,1 4 0 0 0,4 3 0 0 0,4 3 0 0 0,5 2 0 0 0,6 6 0 0 0,4 2 0 0 0,1 3 0 0 0,2 1 0 0 0,-1-1 0 0 0,-6 1 0 0 0,-10 3 0 0 0,-15 2 0 0 0,-17 1 0 0 0,-18 0 0 0 0,-18 0 0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1-27T12:24:02.415"/>
    </inkml:context>
    <inkml:brush xml:id="br0">
      <inkml:brushProperty name="width" value="0.35" units="cm"/>
      <inkml:brushProperty name="height" value="0.35" units="cm"/>
      <inkml:brushProperty name="color" value="#FFFFFF"/>
    </inkml:brush>
  </inkml:definitions>
  <inkml:trace contextRef="#ctx0" brushRef="#br0">13938 3714 16383 0 0,'-1'0'0'0'0,"-6"0"0"0"0,-14 0 0 0 0,-16 0 0 0 0,-16 0 0 0 0,-16 0 0 0 0,-6 0 0 0 0,-1 0 0 0 0,2 0 0 0 0,6 0 0 0 0,6 0 0 0 0,8 0 0 0 0,6 0 0 0 0,4 0 0 0 0,5 0 0 0 0,5 0 0 0 0,2 0 0 0 0,4 0 0 0 0,2 0 0 0 0,3 0 0 0 0,0 0 0 0 0,0 0 0 0 0,-2 0 0 0 0,2 0 0 0 0,0 0 0 0 0,2 1 0 0 0,1 2 0 0 0,1 0 0 0 0,1-1 0 0 0,0 0 0 0 0,2-1 0 0 0,-1-1 0 0 0,1 1 0 0 0,0 0 0 0 0,2 0 0 0 0,1 2 0 0 0,1-1 0 0 0,-1 2 0 0 0,1-1 0 0 0,0 0 0 0 0,0-2 0 0 0,0 1 0 0 0,1 1 0 0 0,-1-1 0 0 0,1 0 0 0 0,-1 0 0 0 0,-1 0 0 0 0,0 1 0 0 0,1-1 0 0 0,-2 0 0 0 0,-1 0 0 0 0,-1 1 0 0 0,0 0 0 0 0,0 0 0 0 0,-1 0 0 0 0,-1 1 0 0 0,0 0 0 0 0,-2 1 0 0 0,-1-1 0 0 0,0 0 0 0 0,1-1 0 0 0,-1 2 0 0 0,0-2 0 0 0,0 1 0 0 0,-3 0 0 0 0,-2 0 0 0 0,-5 1 0 0 0,-3-1 0 0 0,-2 0 0 0 0,-2-1 0 0 0,0 1 0 0 0,1-1 0 0 0,3 1 0 0 0,2-2 0 0 0,2 0 0 0 0,1 0 0 0 0,2 2 0 0 0,0-1 0 0 0,1-1 0 0 0,-1 1 0 0 0,1 1 0 0 0,0 0 0 0 0,2 2 0 0 0,0 0 0 0 0,-1 1 0 0 0,-3 0 0 0 0,-3 1 0 0 0,0-2 0 0 0,0-1 0 0 0,1-2 0 0 0,3-2 0 0 0,2 1 0 0 0,1 1 0 0 0,-1-1 0 0 0,0 1 0 0 0,-2-2 0 0 0,-3 0 0 0 0,0 0 0 0 0,2-1 0 0 0,0 0 0 0 0,-1 0 0 0 0,-2 0 0 0 0,-1 0 0 0 0,2 0 0 0 0,0-1 0 0 0,1 1 0 0 0,-1 0 0 0 0,-2 0 0 0 0,0 0 0 0 0,1 0 0 0 0,1 0 0 0 0,1 0 0 0 0,1 0 0 0 0,0 0 0 0 0,1 0 0 0 0,-1 0 0 0 0,0 0 0 0 0,0 0 0 0 0,-1 0 0 0 0,1 0 0 0 0,1 0 0 0 0,-1 0 0 0 0,1 0 0 0 0,0 0 0 0 0,0 0 0 0 0,2 0 0 0 0,1 0 0 0 0,0 0 0 0 0,-1 2 0 0 0,-2 0 0 0 0,-4 1 0 0 0,0 2 0 0 0,-1-1 0 0 0,-1 0 0 0 0,0-1 0 0 0,2 1 0 0 0,2-1 0 0 0,3-1 0 0 0,0 2 0 0 0,0-1 0 0 0,-2 1 0 0 0,-5-1 0 0 0,-3 0 0 0 0,-3 1 0 0 0,-2-1 0 0 0,-1 0 0 0 0,2-1 0 0 0,2-1 0 0 0,1-1 0 0 0,1 1 0 0 0,-2-1 0 0 0,0-1 0 0 0,-2 1 0 0 0,-1 0 0 0 0,2 0 0 0 0,1 0 0 0 0,0 0 0 0 0,2 0 0 0 0,3 0 0 0 0,2 0 0 0 0,-1 0 0 0 0,0 0 0 0 0,-2 0 0 0 0,-3 0 0 0 0,-2 0 0 0 0,0 0 0 0 0,-1 0 0 0 0,0 0 0 0 0,0 0 0 0 0,2 0 0 0 0,4 0 0 0 0,2-1 0 0 0,3-3 0 0 0,5-1 0 0 0,3-1 0 0 0,0-1 0 0 0,1-2 0 0 0,1 0 0 0 0,0 1 0 0 0,1 0 0 0 0,2 2 0 0 0,2 1 0 0 0,2 0 0 0 0,1 1 0 0 0,0 1 0 0 0,1 1 0 0 0,-1-2 0 0 0,2 0 0 0 0,1-3 0 0 0,3-1 0 0 0,1-2 0 0 0,3 0 0 0 0,3 0 0 0 0,2 0 0 0 0,2 0 0 0 0,2 2 0 0 0,0 0 0 0 0,2-1 0 0 0,-2 0 0 0 0,1 0 0 0 0,-1-1 0 0 0,-1-1 0 0 0,0 1 0 0 0,-1 1 0 0 0,0 1 0 0 0,-2 1 0 0 0,0 1 0 0 0,0 0 0 0 0,-1-1 0 0 0,-1 0 0 0 0,1-1 0 0 0,0 1 0 0 0,0 0 0 0 0,1 1 0 0 0,1-1 0 0 0,0 1 0 0 0,1 2 0 0 0,1 1 0 0 0,1 2 0 0 0,2 0 0 0 0,-1 1 0 0 0,1 0 0 0 0,-1 1 0 0 0,1 0 0 0 0,-1 1 0 0 0,0 2 0 0 0,-1 2 0 0 0,-1 0 0 0 0,-1 0 0 0 0,0 1 0 0 0,0-1 0 0 0,-1 0 0 0 0,-1 0 0 0 0,1 1 0 0 0,1-1 0 0 0,1-1 0 0 0,0 0 0 0 0,1-2 0 0 0,0 0 0 0 0,0-2 0 0 0,2 0 0 0 0,1-1 0 0 0,1 0 0 0 0,2 0 0 0 0,0 0 0 0 0,0 0 0 0 0,-1 0 0 0 0,0 0 0 0 0,-1 0 0 0 0,-2-1 0 0 0,1 1 0 0 0,-1 0 0 0 0,-1 0 0 0 0,1 0 0 0 0,0 1 0 0 0,-1-1 0 0 0,0 0 0 0 0,0 0 0 0 0,0 0 0 0 0,1 0 0 0 0,0 0 0 0 0,0 0 0 0 0,0 0 0 0 0,-1 0 0 0 0,1 0 0 0 0,0 0 0 0 0,0 0 0 0 0,0 0 0 0 0,0 0 0 0 0,0 0 0 0 0,-1 0 0 0 0,1 0 0 0 0,1 0 0 0 0,-1 0 0 0 0,1 0 0 0 0,2 0 0 0 0,-1 0 0 0 0,0 0 0 0 0,-1 0 0 0 0,0 0 0 0 0,0 0 0 0 0,2 0 0 0 0,-1 0 0 0 0,0 0 0 0 0,-1 0 0 0 0,0 0 0 0 0,-1 0 0 0 0,0 0 0 0 0,1 0 0 0 0,0 0 0 0 0,0 0 0 0 0,-1 0 0 0 0,2 0 0 0 0,1 0 0 0 0,0 0 0 0 0,0 0 0 0 0,-2 0 0 0 0,0 0 0 0 0,-2 0 0 0 0,0 0 0 0 0,0 0 0 0 0,1 0 0 0 0,0 0 0 0 0,1 0 0 0 0,0 0 0 0 0,-1 0 0 0 0,1 0 0 0 0,1 0 0 0 0,-1 0 0 0 0,0 0 0 0 0,0 0 0 0 0,0 0 0 0 0,0 0 0 0 0,-1 0 0 0 0,0 0 0 0 0,1 0 0 0 0,0 0 0 0 0,-1 0 0 0 0,0 0 0 0 0,1 0 0 0 0,-1 0 0 0 0,0 0 0 0 0,0 0 0 0 0,0 0 0 0 0,-1 0 0 0 0,0 0 0 0 0,1 0 0 0 0,0 0 0 0 0,0 0 0 0 0,0 0 0 0 0,-1 0 0 0 0,0 0 0 0 0,1 0 0 0 0,-2 0 0 0 0,2 0 0 0 0,0 0 0 0 0,0 0 0 0 0,0 0 0 0 0,2 0 0 0 0,2 0 0 0 0,1 0 0 0 0,0 0 0 0 0,-1 0 0 0 0,-1 0 0 0 0,-1 0 0 0 0,0 0 0 0 0,-1 0 0 0 0,-1 0 0 0 0,1 0 0 0 0,-1 0 0 0 0,0 0 0 0 0,0 0 0 0 0,0 0 0 0 0,0 0 0 0 0,0 0 0 0 0,-1 0 0 0 0,0 0 0 0 0,1 0 0 0 0,0 0 0 0 0,2 0 0 0 0,0 0 0 0 0,0 0 0 0 0,1 0 0 0 0,2 0 0 0 0,1 0 0 0 0,2 0 0 0 0,-1 0 0 0 0,-1 0 0 0 0,1 0 0 0 0,0 0 0 0 0,-1 0 0 0 0,0 0 0 0 0,-1 0 0 0 0,-1 0 0 0 0,0 0 0 0 0,-1 0 0 0 0,0 0 0 0 0,0 0 0 0 0,1 0 0 0 0,1 0 0 0 0,0 0 0 0 0,-2 0 0 0 0,0 0 0 0 0,-1 0 0 0 0,0 0 0 0 0,-1 0 0 0 0,1 0 0 0 0,2 0 0 0 0,2 0 0 0 0,1 0 0 0 0,2 0 0 0 0,1 0 0 0 0,-2 0 0 0 0,0 0 0 0 0,-2 0 0 0 0,-2 0 0 0 0,-2 0 0 0 0,-1 0 0 0 0,-2 0 0 0 0,0 0 0 0 0,1 0 0 0 0,-1 0 0 0 0,2 0 0 0 0,0 0 0 0 0,1 0 0 0 0,-1 0 0 0 0,0 0 0 0 0,-1 0 0 0 0,-1 0 0 0 0,1 0 0 0 0,0 0 0 0 0,1 0 0 0 0,2 0 0 0 0,0 0 0 0 0,3 0 0 0 0,1 0 0 0 0,1 0 0 0 0,0 0 0 0 0,-2 0 0 0 0,0 0 0 0 0,-3 0 0 0 0,-1 0 0 0 0,-1 0 0 0 0,1 0 0 0 0,-1 0 0 0 0,-1 0 0 0 0,3 0 0 0 0,1 0 0 0 0,3 0 0 0 0,-1 0 0 0 0,0 0 0 0 0,0 0 0 0 0,-2 0 0 0 0,0 0 0 0 0,-1 0 0 0 0,1 0 0 0 0,0 0 0 0 0,-1 0 0 0 0,0 0 0 0 0,-1 0 0 0 0,-1 0 0 0 0,-1 0 0 0 0,0 0 0 0 0,1 0 0 0 0,-1 0 0 0 0,-1 0 0 0 0,1 0 0 0 0,1 0 0 0 0,1 0 0 0 0,0 0 0 0 0,0 0 0 0 0,-2 0 0 0 0,0 0 0 0 0,0 0 0 0 0,0 0 0 0 0,1 0 0 0 0,-1 0 0 0 0,1 0 0 0 0,-1-2 0 0 0,-2 0 0 0 0,0-1 0 0 0,-1 0 0 0 0,-1 1 0 0 0,1-1 0 0 0,0 0 0 0 0,1 1 0 0 0,1 0 0 0 0,1 0 0 0 0,0 1 0 0 0,0 0 0 0 0,0-1 0 0 0,0 0 0 0 0,-1 0 0 0 0,0 1 0 0 0,1 0 0 0 0,0 0 0 0 0,0 0 0 0 0,1 1 0 0 0,0 0 0 0 0,0 0 0 0 0,-1 0 0 0 0,1 0 0 0 0,1 0 0 0 0,1 0 0 0 0,1 0 0 0 0,2 0 0 0 0,0 0 0 0 0,0 0 0 0 0,0 0 0 0 0,2 0 0 0 0,1 0 0 0 0,0 0 0 0 0,2 0 0 0 0,1 0 0 0 0,0 0 0 0 0,0 0 0 0 0,-1 0 0 0 0,-1 0 0 0 0,-2 0 0 0 0,-2 0 0 0 0,-1 0 0 0 0,0 0 0 0 0,0 0 0 0 0,-1 0 0 0 0,1 0 0 0 0,-1 0 0 0 0,0 0 0 0 0,0 0 0 0 0,0 0 0 0 0,1 0 0 0 0,0 0 0 0 0,0 0 0 0 0,1 0 0 0 0,1 0 0 0 0,-1 0 0 0 0,1 0 0 0 0,-1 0 0 0 0,0 0 0 0 0,0 0 0 0 0,0 0 0 0 0,0 0 0 0 0,0 0 0 0 0,-1 0 0 0 0,1 0 0 0 0,0 0 0 0 0,2 0 0 0 0,0 1 0 0 0,2 0 0 0 0,1 3 0 0 0,-1 0 0 0 0,-2 1 0 0 0,0 0 0 0 0,-1 1 0 0 0,-2 1 0 0 0,0-1 0 0 0,1 2 0 0 0,2 1 0 0 0,0 1 0 0 0,-1 0 0 0 0,0 0 0 0 0,-1 0 0 0 0,-1-1 0 0 0,-1-1 0 0 0,-1 0 0 0 0,0 0 0 0 0,1-1 0 0 0,-1-2 0 0 0,-1 1 0 0 0,0 0 0 0 0,0 1 0 0 0,-1-2 0 0 0,1 1 0 0 0,-1-1 0 0 0,0-1 0 0 0,0 0 0 0 0,0 0 0 0 0,0-1 0 0 0,0 0 0 0 0,-1-1 0 0 0,0-1 0 0 0,-1-1 0 0 0,0 0 0 0 0,1 0 0 0 0,1 0 0 0 0,2 0 0 0 0,2 0 0 0 0,4 0 0 0 0,2 0 0 0 0,0 0 0 0 0,-2 0 0 0 0,-2 0 0 0 0,-2 1 0 0 0,-2 1 0 0 0,1 1 0 0 0,0-1 0 0 0,0 0 0 0 0,1 1 0 0 0,1 0 0 0 0,-2 0 0 0 0,-1-1 0 0 0,0 0 0 0 0,1-1 0 0 0,0 1 0 0 0,1 0 0 0 0,-1 1 0 0 0,-1-1 0 0 0,-1-1 0 0 0,-1 0 0 0 0,-1 0 0 0 0,-1-1 0 0 0,1 0 0 0 0,-1 0 0 0 0,1 0 0 0 0,-1 0 0 0 0,0 0 0 0 0,0 0 0 0 0,2 0 0 0 0,1 0 0 0 0,2 0 0 0 0,-2 0 0 0 0,0 0 0 0 0,0 0 0 0 0,0 0 0 0 0,0 0 0 0 0,2 0 0 0 0,1 0 0 0 0,0-1 0 0 0,1-1 0 0 0,-1 0 0 0 0,0 0 0 0 0,-2 0 0 0 0,-2 1 0 0 0,0 0 0 0 0,-1 0 0 0 0,-1 1 0 0 0,-1 0 0 0 0,2 0 0 0 0,-1 0 0 0 0,2 0 0 0 0,0 0 0 0 0,0-2 0 0 0,2 0 0 0 0,-1 0 0 0 0,-1 0 0 0 0,0 1 0 0 0,-1 0 0 0 0,0 0 0 0 0,1 1 0 0 0,2 0 0 0 0,0-1 0 0 0,2-2 0 0 0,1 0 0 0 0,1 1 0 0 0,-1 0 0 0 0,1 1 0 0 0,-3 0 0 0 0,0 0 0 0 0,-3-1 0 0 0,0 0 0 0 0,-1 0 0 0 0,0 1 0 0 0,-1-1 0 0 0,2 2 0 0 0,-1-2 0 0 0,-1 0 0 0 0,-1-1 0 0 0,0 0 0 0 0,-2-1 0 0 0,0-1 0 0 0,-1 1 0 0 0,-2-1 0 0 0,-2 1 0 0 0,-4 1 0 0 0,-3 2 0 0 0,-3 4 0 0 0,-5 4 0 0 0,0 2 0 0 0,-2 1 0 0 0,-3 1 0 0 0,-1 0 0 0 0,0-1 0 0 0,-3-3 0 0 0,1-2 0 0 0,1-1 0 0 0,1-2 0 0 0,4 1 0 0 0,2 0 0 0 0,1-1 0 0 0,1-1 0 0 0,-1 0 0 0 0,1 0 0 0 0,-1-1 0 0 0,1 0 0 0 0,-1 0 0 0 0,0 0 0 0 0,-2 0 0 0 0,-1-1 0 0 0,-1 1 0 0 0,-1 0 0 0 0,-1 0 0 0 0,-1 0 0 0 0,-1 0 0 0 0,-1 0 0 0 0,0 0 0 0 0,-2 0 0 0 0,-1 0 0 0 0,1 0 0 0 0,0-2 0 0 0,1-1 0 0 0,0 0 0 0 0,1 0 0 0 0,0-2 0 0 0,-3 0 0 0 0,0-1 0 0 0,0 0 0 0 0,0 0 0 0 0,2 1 0 0 0,1-1 0 0 0,2 1 0 0 0,0-1 0 0 0,-2 1 0 0 0,1 1 0 0 0,-2 2 0 0 0,-1-1 0 0 0,2-1 0 0 0,0 1 0 0 0,2 1 0 0 0,0 0 0 0 0,0 1 0 0 0,1 0 0 0 0,1 1 0 0 0,-1 0 0 0 0,-1 0 0 0 0,-1 0 0 0 0,-1 0 0 0 0,0 1 0 0 0,0-1 0 0 0,-1 0 0 0 0,1 0 0 0 0,0 0 0 0 0,1 0 0 0 0,0 0 0 0 0,1 0 0 0 0,3 0 0 0 0,2 0 0 0 0,2 0 0 0 0,1 0 0 0 0,0 0 0 0 0,-2 0 0 0 0,-1 0 0 0 0,-1 0 0 0 0,-1 0 0 0 0,-2 0 0 0 0,-2 0 0 0 0,-2 0 0 0 0,-2 0 0 0 0,0 0 0 0 0,1-1 0 0 0,0-2 0 0 0,0 0 0 0 0,-1 1 0 0 0,-1 0 0 0 0,0-1 0 0 0,-1 0 0 0 0,0-1 0 0 0,-1 2 0 0 0,1-1 0 0 0,0 1 0 0 0,0-2 0 0 0,0 1 0 0 0,-2 1 0 0 0,-3-1 0 0 0,0 0 0 0 0,2-1 0 0 0,2 1 0 0 0,2 2 0 0 0,1-1 0 0 0,0 2 0 0 0,2 0 0 0 0,2 0 0 0 0,2 0 0 0 0,4 0 0 0 0,1 0 0 0 0,3 0 0 0 0,1 0 0 0 0,-1 1 0 0 0,1 1-16383 0 0,2 1 16383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1-27T12:24:02.416"/>
    </inkml:context>
    <inkml:brush xml:id="br0">
      <inkml:brushProperty name="width" value="0.35" units="cm"/>
      <inkml:brushProperty name="height" value="0.35" units="cm"/>
      <inkml:brushProperty name="color" value="#FFFFFF"/>
    </inkml:brush>
  </inkml:definitions>
  <inkml:trace contextRef="#ctx0" brushRef="#br0">12205 3900 16383 0 0,'-1'0'0'0'0,"-1"0"0"0"0,-6 0 0 0 0,-10 0 0 0 0,-8 0 0 0 0,-9 0 0 0 0,-6 0 0 0 0,-1 0 0 0 0,2 0 0 0 0,3 0 0 0 0,1 0 0 0 0,-1 0 0 0 0,-2 0 0 0 0,-1 0 0 0 0,-1 0 0 0 0,-2 0 0 0 0,-2 1 0 0 0,0 2 0 0 0,3 1 0 0 0,4 0 0 0 0,4-1 0 0 0,0-1 0 0 0,-1-1 0 0 0,-4 0 0 0 0,-3-1 0 0 0,-2 0 0 0 0,2 0 0 0 0,5 0 0 0 0,4-1 0 0 0,6 1 0 0 0,6 0 0 0 0,5 0 0 0 0,3 0 0 0 0,-2 1 0 0 0,-6 2 0 0 0,-10 3 0 0 0,-10 1 0 0 0,-4-1 0 0 0,4 0 0 0 0,6-2 0 0 0,7 1 0 0 0,0-2 0 0 0,-11-1 0 0 0,-19 0 0 0 0,-15-1 0 0 0,-8-1 0 0 0,5 0 0 0 0,14 0 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5BCF22-2D75-4779-9C8B-6270AA3FA919}" type="datetimeFigureOut">
              <a:rPr lang="en-US" smtClean="0"/>
              <a:t>2/26/2025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0B8AC8-E212-48B2-9917-7448FC83DD17}" type="slidenum">
              <a:rPr lang="en-US" smtClean="0"/>
              <a:t>‹#›</a:t>
            </a:fld>
            <a:endParaRPr lang="en-US"/>
          </a:p>
        </p:txBody>
      </p:sp>
    </p:spTree>
    <p:extLst>
      <p:ext uri="{BB962C8B-B14F-4D97-AF65-F5344CB8AC3E}">
        <p14:creationId xmlns:p14="http://schemas.microsoft.com/office/powerpoint/2010/main" val="1786590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Project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762000"/>
            <a:ext cx="10363200" cy="1470025"/>
          </a:xfrm>
        </p:spPr>
        <p:txBody>
          <a:bodyPr/>
          <a:lstStyle>
            <a:lvl1pPr>
              <a:defRPr/>
            </a:lvl1pPr>
          </a:lstStyle>
          <a:p>
            <a:r>
              <a:rPr lang="en-US"/>
              <a:t>Add the Project Title</a:t>
            </a:r>
          </a:p>
        </p:txBody>
      </p:sp>
      <p:sp>
        <p:nvSpPr>
          <p:cNvPr id="3" name="Subtitle 2"/>
          <p:cNvSpPr>
            <a:spLocks noGrp="1"/>
          </p:cNvSpPr>
          <p:nvPr>
            <p:ph type="subTitle" idx="1" hasCustomPrompt="1"/>
          </p:nvPr>
        </p:nvSpPr>
        <p:spPr>
          <a:xfrm>
            <a:off x="1828800" y="25146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Project ID</a:t>
            </a:r>
          </a:p>
        </p:txBody>
      </p:sp>
      <p:pic>
        <p:nvPicPr>
          <p:cNvPr id="20" name="Picture 19" descr="A picture containing photo, table, person, monitor&#10;&#10;Description automatically generated">
            <a:extLst>
              <a:ext uri="{FF2B5EF4-FFF2-40B4-BE49-F238E27FC236}">
                <a16:creationId xmlns:a16="http://schemas.microsoft.com/office/drawing/2014/main" id="{C4A8CD1C-223D-4C87-9519-FDBD49BC597A}"/>
              </a:ext>
            </a:extLst>
          </p:cNvPr>
          <p:cNvPicPr>
            <a:picLocks noChangeAspect="1"/>
          </p:cNvPicPr>
          <p:nvPr userDrawn="1"/>
        </p:nvPicPr>
        <p:blipFill rotWithShape="1">
          <a:blip r:embed="rId2"/>
          <a:srcRect t="90286" r="71976"/>
          <a:stretch/>
        </p:blipFill>
        <p:spPr>
          <a:xfrm>
            <a:off x="0" y="6373302"/>
            <a:ext cx="2514600" cy="490308"/>
          </a:xfrm>
          <a:prstGeom prst="rect">
            <a:avLst/>
          </a:prstGeom>
        </p:spPr>
      </p:pic>
    </p:spTree>
    <p:extLst>
      <p:ext uri="{BB962C8B-B14F-4D97-AF65-F5344CB8AC3E}">
        <p14:creationId xmlns:p14="http://schemas.microsoft.com/office/powerpoint/2010/main" val="8564494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pic>
        <p:nvPicPr>
          <p:cNvPr id="20" name="Picture 19" descr="A picture containing photo, table, person, monitor&#10;&#10;Description automatically generated">
            <a:extLst>
              <a:ext uri="{FF2B5EF4-FFF2-40B4-BE49-F238E27FC236}">
                <a16:creationId xmlns:a16="http://schemas.microsoft.com/office/drawing/2014/main" id="{C4A8CD1C-223D-4C87-9519-FDBD49BC597A}"/>
              </a:ext>
            </a:extLst>
          </p:cNvPr>
          <p:cNvPicPr>
            <a:picLocks noChangeAspect="1"/>
          </p:cNvPicPr>
          <p:nvPr userDrawn="1"/>
        </p:nvPicPr>
        <p:blipFill rotWithShape="1">
          <a:blip r:embed="rId2"/>
          <a:srcRect t="90286" r="71976"/>
          <a:stretch/>
        </p:blipFill>
        <p:spPr>
          <a:xfrm>
            <a:off x="0" y="6373302"/>
            <a:ext cx="2514600" cy="490308"/>
          </a:xfrm>
          <a:prstGeom prst="rect">
            <a:avLst/>
          </a:prstGeom>
        </p:spPr>
      </p:pic>
    </p:spTree>
    <p:extLst>
      <p:ext uri="{BB962C8B-B14F-4D97-AF65-F5344CB8AC3E}">
        <p14:creationId xmlns:p14="http://schemas.microsoft.com/office/powerpoint/2010/main" val="24470881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Individual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二等辺三角形 9"/>
          <p:cNvSpPr/>
          <p:nvPr userDrawn="1"/>
        </p:nvSpPr>
        <p:spPr>
          <a:xfrm>
            <a:off x="0" y="6482208"/>
            <a:ext cx="12192000" cy="376686"/>
          </a:xfrm>
          <a:prstGeom prst="triangle">
            <a:avLst>
              <a:gd name="adj" fmla="val 62762"/>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3"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11888911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verall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202388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63084" y="2837087"/>
            <a:ext cx="10363200" cy="1362075"/>
          </a:xfrm>
        </p:spPr>
        <p:txBody>
          <a:bodyPr anchor="t"/>
          <a:lstStyle>
            <a:lvl1pPr algn="l">
              <a:defRPr sz="4000" b="1" cap="all"/>
            </a:lvl1pPr>
          </a:lstStyle>
          <a:p>
            <a:r>
              <a:rPr lang="en-US"/>
              <a:t>Section Title</a:t>
            </a:r>
          </a:p>
        </p:txBody>
      </p:sp>
      <p:sp>
        <p:nvSpPr>
          <p:cNvPr id="3" name="Text Placeholder 2"/>
          <p:cNvSpPr>
            <a:spLocks noGrp="1"/>
          </p:cNvSpPr>
          <p:nvPr>
            <p:ph type="body" idx="1" hasCustomPrompt="1"/>
          </p:nvPr>
        </p:nvSpPr>
        <p:spPr>
          <a:xfrm>
            <a:off x="963084" y="4237261"/>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Section Sub-Titles</a:t>
            </a:r>
          </a:p>
        </p:txBody>
      </p:sp>
      <p:sp>
        <p:nvSpPr>
          <p:cNvPr id="19" name="Rectangle 18">
            <a:extLst>
              <a:ext uri="{FF2B5EF4-FFF2-40B4-BE49-F238E27FC236}">
                <a16:creationId xmlns:a16="http://schemas.microsoft.com/office/drawing/2014/main" id="{77C29E58-4878-471A-A8CF-FA8607A4052E}"/>
              </a:ext>
            </a:extLst>
          </p:cNvPr>
          <p:cNvSpPr/>
          <p:nvPr userDrawn="1"/>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a:solidFill>
                  <a:schemeClr val="tx1"/>
                </a:solidFill>
              </a:rPr>
              <a:t>ITXXXXXXXX</a:t>
            </a:r>
            <a:r>
              <a:rPr lang="en-US" sz="1800">
                <a:solidFill>
                  <a:schemeClr val="tx1"/>
                </a:solidFill>
              </a:rPr>
              <a:t>   |   &lt;</a:t>
            </a:r>
            <a:r>
              <a:rPr lang="en-US" sz="1800" b="1">
                <a:solidFill>
                  <a:schemeClr val="tx1"/>
                </a:solidFill>
              </a:rPr>
              <a:t>&lt;Student Name&gt;&gt;   </a:t>
            </a:r>
            <a:r>
              <a:rPr lang="en-US" sz="1800">
                <a:solidFill>
                  <a:schemeClr val="tx1"/>
                </a:solidFill>
              </a:rPr>
              <a:t>|   </a:t>
            </a:r>
            <a:r>
              <a:rPr lang="en-US" sz="1800" b="0">
                <a:solidFill>
                  <a:schemeClr val="tx1"/>
                </a:solidFill>
              </a:rPr>
              <a:t>&lt;&lt;Project ID&gt;&gt;</a:t>
            </a:r>
          </a:p>
        </p:txBody>
      </p:sp>
    </p:spTree>
    <p:extLst>
      <p:ext uri="{BB962C8B-B14F-4D97-AF65-F5344CB8AC3E}">
        <p14:creationId xmlns:p14="http://schemas.microsoft.com/office/powerpoint/2010/main" val="32933316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tudent Information Sec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63084" y="2837087"/>
            <a:ext cx="10363200" cy="1362075"/>
          </a:xfrm>
        </p:spPr>
        <p:txBody>
          <a:bodyPr anchor="t"/>
          <a:lstStyle>
            <a:lvl1pPr algn="l">
              <a:defRPr sz="4000" b="1" cap="all"/>
            </a:lvl1pPr>
          </a:lstStyle>
          <a:p>
            <a:r>
              <a:rPr lang="en-US"/>
              <a:t>Student IT Number | Student Name</a:t>
            </a:r>
          </a:p>
        </p:txBody>
      </p:sp>
      <p:sp>
        <p:nvSpPr>
          <p:cNvPr id="3" name="Text Placeholder 2"/>
          <p:cNvSpPr>
            <a:spLocks noGrp="1"/>
          </p:cNvSpPr>
          <p:nvPr>
            <p:ph type="body" idx="1" hasCustomPrompt="1"/>
          </p:nvPr>
        </p:nvSpPr>
        <p:spPr>
          <a:xfrm>
            <a:off x="963084" y="4237261"/>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Student’s Specialization</a:t>
            </a:r>
          </a:p>
        </p:txBody>
      </p:sp>
      <p:sp>
        <p:nvSpPr>
          <p:cNvPr id="13"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4" name="Rectangle 3">
            <a:extLst>
              <a:ext uri="{FF2B5EF4-FFF2-40B4-BE49-F238E27FC236}">
                <a16:creationId xmlns:a16="http://schemas.microsoft.com/office/drawing/2014/main" id="{0A8789F7-2DE1-4BD0-98A0-4D627E8C7924}"/>
              </a:ext>
            </a:extLst>
          </p:cNvPr>
          <p:cNvSpPr/>
          <p:nvPr userDrawn="1"/>
        </p:nvSpPr>
        <p:spPr>
          <a:xfrm>
            <a:off x="10134600" y="152400"/>
            <a:ext cx="1981200" cy="2286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Student Must add a professional photo to this cage</a:t>
            </a:r>
          </a:p>
        </p:txBody>
      </p:sp>
    </p:spTree>
    <p:extLst>
      <p:ext uri="{BB962C8B-B14F-4D97-AF65-F5344CB8AC3E}">
        <p14:creationId xmlns:p14="http://schemas.microsoft.com/office/powerpoint/2010/main" val="2008593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303586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57086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2650893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 name="二等辺三角形 9"/>
          <p:cNvSpPr/>
          <p:nvPr userDrawn="1"/>
        </p:nvSpPr>
        <p:spPr>
          <a:xfrm>
            <a:off x="0" y="6482208"/>
            <a:ext cx="12192000" cy="376686"/>
          </a:xfrm>
          <a:prstGeom prst="triangle">
            <a:avLst>
              <a:gd name="adj" fmla="val 62762"/>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1"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2" name="Slide Number Placeholder 5">
            <a:extLst>
              <a:ext uri="{FF2B5EF4-FFF2-40B4-BE49-F238E27FC236}">
                <a16:creationId xmlns:a16="http://schemas.microsoft.com/office/drawing/2014/main" id="{A75490AD-C6C9-4021-8C34-1F6444AB48BF}"/>
              </a:ext>
            </a:extLst>
          </p:cNvPr>
          <p:cNvSpPr txBox="1">
            <a:spLocks/>
          </p:cNvSpPr>
          <p:nvPr userDrawn="1"/>
        </p:nvSpPr>
        <p:spPr>
          <a:xfrm>
            <a:off x="11435142" y="6492875"/>
            <a:ext cx="680658" cy="365125"/>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7D6051F-EF20-4D26-A49B-A9D5F0B34CE8}" type="slidenum">
              <a:rPr lang="en-US" smtClean="0"/>
              <a:pPr/>
              <a:t>‹#›</a:t>
            </a:fld>
            <a:endParaRPr lang="en-US"/>
          </a:p>
        </p:txBody>
      </p:sp>
    </p:spTree>
    <p:extLst>
      <p:ext uri="{BB962C8B-B14F-4D97-AF65-F5344CB8AC3E}">
        <p14:creationId xmlns:p14="http://schemas.microsoft.com/office/powerpoint/2010/main" val="3352222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2" name="二等辺三角形 11"/>
          <p:cNvSpPr/>
          <p:nvPr userDrawn="1"/>
        </p:nvSpPr>
        <p:spPr>
          <a:xfrm>
            <a:off x="0" y="6406010"/>
            <a:ext cx="12192000" cy="452885"/>
          </a:xfrm>
          <a:prstGeom prst="triangle">
            <a:avLst>
              <a:gd name="adj" fmla="val 85448"/>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3" name="二等辺三角形 9"/>
          <p:cNvSpPr/>
          <p:nvPr userDrawn="1"/>
        </p:nvSpPr>
        <p:spPr>
          <a:xfrm>
            <a:off x="0" y="6482208"/>
            <a:ext cx="12192000" cy="376686"/>
          </a:xfrm>
          <a:prstGeom prst="triangle">
            <a:avLst>
              <a:gd name="adj" fmla="val 62762"/>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4"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5574300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7524049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36120786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二等辺三角形 9"/>
          <p:cNvSpPr/>
          <p:nvPr userDrawn="1"/>
        </p:nvSpPr>
        <p:spPr>
          <a:xfrm>
            <a:off x="0" y="6482208"/>
            <a:ext cx="12192000" cy="376686"/>
          </a:xfrm>
          <a:prstGeom prst="triangle">
            <a:avLst>
              <a:gd name="adj" fmla="val 62762"/>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3" name="二等辺三角形 10"/>
          <p:cNvSpPr/>
          <p:nvPr userDrawn="1"/>
        </p:nvSpPr>
        <p:spPr>
          <a:xfrm>
            <a:off x="0" y="6676906"/>
            <a:ext cx="12192000" cy="181095"/>
          </a:xfrm>
          <a:prstGeom prst="triangle">
            <a:avLst>
              <a:gd name="adj" fmla="val 39397"/>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Tree>
    <p:extLst>
      <p:ext uri="{BB962C8B-B14F-4D97-AF65-F5344CB8AC3E}">
        <p14:creationId xmlns:p14="http://schemas.microsoft.com/office/powerpoint/2010/main" val="3310850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304800"/>
            <a:ext cx="11684000" cy="79216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143000"/>
            <a:ext cx="11684000" cy="5181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5">
            <a:extLst>
              <a:ext uri="{FF2B5EF4-FFF2-40B4-BE49-F238E27FC236}">
                <a16:creationId xmlns:a16="http://schemas.microsoft.com/office/drawing/2014/main" id="{C064364F-1F37-4C7B-B31F-2D4F671B2CB9}"/>
              </a:ext>
            </a:extLst>
          </p:cNvPr>
          <p:cNvSpPr txBox="1">
            <a:spLocks/>
          </p:cNvSpPr>
          <p:nvPr userDrawn="1"/>
        </p:nvSpPr>
        <p:spPr>
          <a:xfrm>
            <a:off x="11435142" y="6492875"/>
            <a:ext cx="680658" cy="365125"/>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7D6051F-EF20-4D26-A49B-A9D5F0B34CE8}" type="slidenum">
              <a:rPr lang="en-US" smtClean="0"/>
              <a:pPr/>
              <a:t>‹#›</a:t>
            </a:fld>
            <a:endParaRPr lang="en-US"/>
          </a:p>
        </p:txBody>
      </p:sp>
      <p:pic>
        <p:nvPicPr>
          <p:cNvPr id="7" name="Picture 6" descr="A picture containing photo, table, person, monitor&#10;&#10;Description automatically generated">
            <a:extLst>
              <a:ext uri="{FF2B5EF4-FFF2-40B4-BE49-F238E27FC236}">
                <a16:creationId xmlns:a16="http://schemas.microsoft.com/office/drawing/2014/main" id="{0503738D-67F6-4FC8-88E8-C0D768AD3312}"/>
              </a:ext>
            </a:extLst>
          </p:cNvPr>
          <p:cNvPicPr>
            <a:picLocks noChangeAspect="1"/>
          </p:cNvPicPr>
          <p:nvPr userDrawn="1"/>
        </p:nvPicPr>
        <p:blipFill rotWithShape="1">
          <a:blip r:embed="rId16"/>
          <a:srcRect t="90286" r="71976"/>
          <a:stretch/>
        </p:blipFill>
        <p:spPr>
          <a:xfrm>
            <a:off x="0" y="6373302"/>
            <a:ext cx="2514600" cy="490308"/>
          </a:xfrm>
          <a:prstGeom prst="rect">
            <a:avLst/>
          </a:prstGeom>
        </p:spPr>
      </p:pic>
      <p:sp>
        <p:nvSpPr>
          <p:cNvPr id="4" name="TextBox 3">
            <a:extLst>
              <a:ext uri="{FF2B5EF4-FFF2-40B4-BE49-F238E27FC236}">
                <a16:creationId xmlns:a16="http://schemas.microsoft.com/office/drawing/2014/main" id="{A16EC11E-4ADA-413C-92B1-C0871F068AF1}"/>
              </a:ext>
            </a:extLst>
          </p:cNvPr>
          <p:cNvSpPr txBox="1"/>
          <p:nvPr userDrawn="1"/>
        </p:nvSpPr>
        <p:spPr>
          <a:xfrm>
            <a:off x="10287000" y="6536937"/>
            <a:ext cx="1066800" cy="276999"/>
          </a:xfrm>
          <a:prstGeom prst="rect">
            <a:avLst/>
          </a:prstGeom>
          <a:noFill/>
        </p:spPr>
        <p:txBody>
          <a:bodyPr wrap="square" rtlCol="0">
            <a:spAutoFit/>
          </a:bodyPr>
          <a:lstStyle/>
          <a:p>
            <a:fld id="{98C4007C-554A-4B16-A31C-089CB53EF86F}" type="datetime1">
              <a:rPr lang="en-US" sz="1200" b="1" smtClean="0"/>
              <a:t>2/26/2025</a:t>
            </a:fld>
            <a:endParaRPr lang="en-US" sz="1200" b="1"/>
          </a:p>
        </p:txBody>
      </p:sp>
    </p:spTree>
    <p:extLst>
      <p:ext uri="{BB962C8B-B14F-4D97-AF65-F5344CB8AC3E}">
        <p14:creationId xmlns:p14="http://schemas.microsoft.com/office/powerpoint/2010/main" val="4137453564"/>
      </p:ext>
    </p:extLst>
  </p:cSld>
  <p:clrMap bg1="lt1" tx1="dk1" bg2="lt2" tx2="dk2" accent1="accent1" accent2="accent2" accent3="accent3" accent4="accent4" accent5="accent5" accent6="accent6" hlink="hlink" folHlink="folHlink"/>
  <p:sldLayoutIdLst>
    <p:sldLayoutId id="2147483661" r:id="rId1"/>
    <p:sldLayoutId id="2147483663" r:id="rId2"/>
    <p:sldLayoutId id="2147483650" r:id="rId3"/>
    <p:sldLayoutId id="2147483662" r:id="rId4"/>
    <p:sldLayoutId id="2147483651" r:id="rId5"/>
    <p:sldLayoutId id="2147483660"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hdr="0" ftr="0"/>
  <p:txStyles>
    <p:titleStyle>
      <a:lvl1pPr algn="ctr" defTabSz="914400" rtl="0" eaLnBrk="1" latinLnBrk="0" hangingPunct="1">
        <a:spcBef>
          <a:spcPct val="0"/>
        </a:spcBef>
        <a:buNone/>
        <a:defRPr sz="4400" kern="1200">
          <a:solidFill>
            <a:schemeClr val="tx1"/>
          </a:solidFill>
          <a:latin typeface="Adobe Devanagari" pitchFamily="18" charset="0"/>
          <a:ea typeface="+mj-ea"/>
          <a:cs typeface="Adobe Devanagari" pitchFamily="18"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Wingdings" pitchFamily="2" charset="2"/>
        <a:buChar char="Ø"/>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Wingdings" pitchFamily="2" charset="2"/>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 Id="rId6" Type="http://schemas.openxmlformats.org/officeDocument/2006/relationships/image" Target="../media/image20.png"/><Relationship Id="rId5" Type="http://schemas.openxmlformats.org/officeDocument/2006/relationships/image" Target="../media/image19.jpe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image" Target="../media/image31.png"/><Relationship Id="rId1" Type="http://schemas.openxmlformats.org/officeDocument/2006/relationships/slideLayout" Target="../slideLayouts/slideLayout3.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customXml" Target="../ink/ink1.xml"/><Relationship Id="rId1" Type="http://schemas.openxmlformats.org/officeDocument/2006/relationships/slideLayout" Target="../slideLayouts/slideLayout5.xml"/><Relationship Id="rId5" Type="http://schemas.openxmlformats.org/officeDocument/2006/relationships/image" Target="../media/image44.png"/><Relationship Id="rId4" Type="http://schemas.openxmlformats.org/officeDocument/2006/relationships/customXml" Target="../ink/ink2.xml"/></Relationships>
</file>

<file path=ppt/slides/_rels/slide34.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48.png"/><Relationship Id="rId2" Type="http://schemas.openxmlformats.org/officeDocument/2006/relationships/customXml" Target="../ink/ink3.xml"/><Relationship Id="rId1" Type="http://schemas.openxmlformats.org/officeDocument/2006/relationships/slideLayout" Target="../slideLayouts/slideLayout5.xml"/><Relationship Id="rId6" Type="http://schemas.openxmlformats.org/officeDocument/2006/relationships/customXml" Target="../ink/ink5.xml"/><Relationship Id="rId5" Type="http://schemas.openxmlformats.org/officeDocument/2006/relationships/image" Target="../media/image47.png"/><Relationship Id="rId4" Type="http://schemas.openxmlformats.org/officeDocument/2006/relationships/customXml" Target="../ink/ink4.xml"/></Relationships>
</file>

<file path=ppt/slides/_rels/slide38.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image" Target="../media/image31.png"/><Relationship Id="rId1" Type="http://schemas.openxmlformats.org/officeDocument/2006/relationships/slideLayout" Target="../slideLayouts/slideLayout3.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39.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customXml" Target="../ink/ink6.xml"/><Relationship Id="rId1" Type="http://schemas.openxmlformats.org/officeDocument/2006/relationships/slideLayout" Target="../slideLayouts/slideLayout3.xml"/><Relationship Id="rId6" Type="http://schemas.openxmlformats.org/officeDocument/2006/relationships/image" Target="../media/image45.png"/><Relationship Id="rId5" Type="http://schemas.openxmlformats.org/officeDocument/2006/relationships/image" Target="../media/image52.png"/><Relationship Id="rId4" Type="http://schemas.openxmlformats.org/officeDocument/2006/relationships/customXml" Target="../ink/ink7.xml"/></Relationships>
</file>

<file path=ppt/slides/_rels/slide4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image" Target="../media/image53.png"/><Relationship Id="rId1" Type="http://schemas.openxmlformats.org/officeDocument/2006/relationships/slideLayout" Target="../slideLayouts/slideLayout4.xml"/><Relationship Id="rId4" Type="http://schemas.openxmlformats.org/officeDocument/2006/relationships/image" Target="../media/image55.jpe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image" Target="../media/image31.png"/><Relationship Id="rId1" Type="http://schemas.openxmlformats.org/officeDocument/2006/relationships/slideLayout" Target="../slideLayouts/slideLayout4.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 Id="rId9" Type="http://schemas.openxmlformats.org/officeDocument/2006/relationships/image" Target="../media/image59.png"/></Relationships>
</file>

<file path=ppt/slides/_rels/slide55.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jpeg"/><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image" Target="../media/image66.gif"/><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475E098-F3D0-453C-BBF5-A7C840F21FD8}"/>
              </a:ext>
            </a:extLst>
          </p:cNvPr>
          <p:cNvSpPr>
            <a:spLocks noGrp="1"/>
          </p:cNvSpPr>
          <p:nvPr>
            <p:ph type="ctrTitle"/>
          </p:nvPr>
        </p:nvSpPr>
        <p:spPr>
          <a:xfrm>
            <a:off x="928777" y="704491"/>
            <a:ext cx="10363200" cy="1527534"/>
          </a:xfrm>
        </p:spPr>
        <p:txBody>
          <a:bodyPr>
            <a:noAutofit/>
          </a:bodyPr>
          <a:lstStyle/>
          <a:p>
            <a:r>
              <a:rPr lang="en-US" sz="4600" b="1">
                <a:solidFill>
                  <a:srgbClr val="6AA84F"/>
                </a:solidFill>
                <a:latin typeface="Arial"/>
                <a:cs typeface="Arial"/>
              </a:rPr>
              <a:t>"</a:t>
            </a:r>
            <a:r>
              <a:rPr lang="en-US" sz="4600" b="1" i="1" err="1">
                <a:solidFill>
                  <a:schemeClr val="accent5">
                    <a:lumMod val="49000"/>
                  </a:schemeClr>
                </a:solidFill>
                <a:latin typeface="Arial"/>
                <a:cs typeface="Arial"/>
              </a:rPr>
              <a:t>Ayushasthra</a:t>
            </a:r>
            <a:r>
              <a:rPr lang="en-US" sz="4600" b="1">
                <a:solidFill>
                  <a:srgbClr val="6AA84F"/>
                </a:solidFill>
                <a:latin typeface="Arial"/>
                <a:cs typeface="Arial"/>
              </a:rPr>
              <a:t>"</a:t>
            </a:r>
            <a:br>
              <a:rPr lang="en-US" sz="4600" b="1">
                <a:solidFill>
                  <a:srgbClr val="6AA84F"/>
                </a:solidFill>
                <a:latin typeface="Arial"/>
                <a:cs typeface="Arial"/>
              </a:rPr>
            </a:br>
            <a:r>
              <a:rPr lang="en-US" sz="4600">
                <a:solidFill>
                  <a:srgbClr val="6AA84F"/>
                </a:solidFill>
                <a:latin typeface="Arial"/>
                <a:cs typeface="Arial"/>
              </a:rPr>
              <a:t>Ayurvedic Medicine Identification and Health Management App</a:t>
            </a:r>
          </a:p>
        </p:txBody>
      </p:sp>
      <p:sp>
        <p:nvSpPr>
          <p:cNvPr id="5" name="Subtitle 4">
            <a:extLst>
              <a:ext uri="{FF2B5EF4-FFF2-40B4-BE49-F238E27FC236}">
                <a16:creationId xmlns:a16="http://schemas.microsoft.com/office/drawing/2014/main" id="{288F3F03-40A0-499D-BDCC-A8E886D9D7C4}"/>
              </a:ext>
            </a:extLst>
          </p:cNvPr>
          <p:cNvSpPr>
            <a:spLocks noGrp="1"/>
          </p:cNvSpPr>
          <p:nvPr>
            <p:ph type="subTitle" idx="1"/>
          </p:nvPr>
        </p:nvSpPr>
        <p:spPr>
          <a:xfrm>
            <a:off x="1676400" y="2873376"/>
            <a:ext cx="8534400" cy="570948"/>
          </a:xfrm>
        </p:spPr>
        <p:txBody>
          <a:bodyPr vert="horz" lIns="91440" tIns="45720" rIns="91440" bIns="45720" rtlCol="0" anchor="t">
            <a:normAutofit lnSpcReduction="10000"/>
          </a:bodyPr>
          <a:lstStyle/>
          <a:p>
            <a:r>
              <a:rPr lang="en-US" b="1">
                <a:solidFill>
                  <a:srgbClr val="000000"/>
                </a:solidFill>
              </a:rPr>
              <a:t>Group Number : R25-068</a:t>
            </a:r>
            <a:endParaRPr lang="en-US">
              <a:ea typeface="Cambria"/>
            </a:endParaRPr>
          </a:p>
          <a:p>
            <a:endParaRPr lang="en-US">
              <a:ea typeface="Cambria"/>
            </a:endParaRPr>
          </a:p>
        </p:txBody>
      </p:sp>
      <p:pic>
        <p:nvPicPr>
          <p:cNvPr id="3" name="Picture 2" descr="A person in a white robe&#10;&#10;AI-generated content may be incorrect.">
            <a:extLst>
              <a:ext uri="{FF2B5EF4-FFF2-40B4-BE49-F238E27FC236}">
                <a16:creationId xmlns:a16="http://schemas.microsoft.com/office/drawing/2014/main" id="{111C16FB-772B-22ED-2598-E7E131577695}"/>
              </a:ext>
            </a:extLst>
          </p:cNvPr>
          <p:cNvPicPr>
            <a:picLocks noChangeAspect="1"/>
          </p:cNvPicPr>
          <p:nvPr/>
        </p:nvPicPr>
        <p:blipFill>
          <a:blip r:embed="rId2"/>
          <a:stretch>
            <a:fillRect/>
          </a:stretch>
        </p:blipFill>
        <p:spPr>
          <a:xfrm>
            <a:off x="6096000" y="3631492"/>
            <a:ext cx="4472609" cy="2532582"/>
          </a:xfrm>
          <a:prstGeom prst="rect">
            <a:avLst/>
          </a:prstGeom>
        </p:spPr>
      </p:pic>
      <p:pic>
        <p:nvPicPr>
          <p:cNvPr id="7" name="Picture 6" descr="A green logo with leaves and mortar&#10;&#10;AI-generated content may be incorrect.">
            <a:extLst>
              <a:ext uri="{FF2B5EF4-FFF2-40B4-BE49-F238E27FC236}">
                <a16:creationId xmlns:a16="http://schemas.microsoft.com/office/drawing/2014/main" id="{6F32AEEC-F487-404F-C4B4-1D62C9648771}"/>
              </a:ext>
            </a:extLst>
          </p:cNvPr>
          <p:cNvPicPr>
            <a:picLocks noChangeAspect="1"/>
          </p:cNvPicPr>
          <p:nvPr/>
        </p:nvPicPr>
        <p:blipFill>
          <a:blip r:embed="rId3"/>
          <a:stretch>
            <a:fillRect/>
          </a:stretch>
        </p:blipFill>
        <p:spPr>
          <a:xfrm>
            <a:off x="1408387" y="3626402"/>
            <a:ext cx="2992094" cy="2388152"/>
          </a:xfrm>
          <a:prstGeom prst="rect">
            <a:avLst/>
          </a:prstGeom>
        </p:spPr>
      </p:pic>
    </p:spTree>
    <p:extLst>
      <p:ext uri="{BB962C8B-B14F-4D97-AF65-F5344CB8AC3E}">
        <p14:creationId xmlns:p14="http://schemas.microsoft.com/office/powerpoint/2010/main" val="38138873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8A7EFC9-D887-4B70-C1F1-FF460B9A7547}"/>
              </a:ext>
            </a:extLst>
          </p:cNvPr>
          <p:cNvSpPr>
            <a:spLocks noGrp="1"/>
          </p:cNvSpPr>
          <p:nvPr>
            <p:ph type="ctrTitle"/>
          </p:nvPr>
        </p:nvSpPr>
        <p:spPr>
          <a:xfrm>
            <a:off x="795337" y="0"/>
            <a:ext cx="10363200" cy="1470025"/>
          </a:xfrm>
        </p:spPr>
        <p:txBody>
          <a:bodyPr/>
          <a:lstStyle/>
          <a:p>
            <a:r>
              <a:rPr lang="en-US" b="1">
                <a:latin typeface="Cambria"/>
                <a:ea typeface="Cambria"/>
              </a:rPr>
              <a:t>Introduction</a:t>
            </a:r>
            <a:endParaRPr lang="en-US"/>
          </a:p>
        </p:txBody>
      </p:sp>
      <p:pic>
        <p:nvPicPr>
          <p:cNvPr id="2" name="Picture 1" descr="Plant Background Vector Art, Icons, and Graphics for Free Download">
            <a:extLst>
              <a:ext uri="{FF2B5EF4-FFF2-40B4-BE49-F238E27FC236}">
                <a16:creationId xmlns:a16="http://schemas.microsoft.com/office/drawing/2014/main" id="{AAA2B709-F3AA-9BCC-AAC3-C84BD1F8F2F4}"/>
              </a:ext>
            </a:extLst>
          </p:cNvPr>
          <p:cNvPicPr>
            <a:picLocks noChangeAspect="1"/>
          </p:cNvPicPr>
          <p:nvPr/>
        </p:nvPicPr>
        <p:blipFill>
          <a:blip r:embed="rId2"/>
          <a:srcRect l="-55607" t="-79152" r="-229" b="441"/>
          <a:stretch/>
        </p:blipFill>
        <p:spPr>
          <a:xfrm>
            <a:off x="-6006018" y="-3317746"/>
            <a:ext cx="17824489" cy="9923274"/>
          </a:xfrm>
          <a:prstGeom prst="rect">
            <a:avLst/>
          </a:prstGeom>
        </p:spPr>
      </p:pic>
      <p:sp>
        <p:nvSpPr>
          <p:cNvPr id="5" name="TextBox 4">
            <a:extLst>
              <a:ext uri="{FF2B5EF4-FFF2-40B4-BE49-F238E27FC236}">
                <a16:creationId xmlns:a16="http://schemas.microsoft.com/office/drawing/2014/main" id="{265EEA24-4BA8-49C2-6B73-1B11AEC57862}"/>
              </a:ext>
            </a:extLst>
          </p:cNvPr>
          <p:cNvSpPr txBox="1"/>
          <p:nvPr/>
        </p:nvSpPr>
        <p:spPr>
          <a:xfrm>
            <a:off x="522187" y="1143000"/>
            <a:ext cx="11147625" cy="535531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ea typeface="Cambria"/>
              </a:rPr>
              <a:t>Our Ayurvedic Medicine Identification and Health Management App combines the ancient wisdom of Ayurveda with modern technology. </a:t>
            </a:r>
          </a:p>
          <a:p>
            <a:r>
              <a:rPr lang="en-US" b="1" dirty="0">
                <a:ea typeface="Cambria"/>
              </a:rPr>
              <a:t>     By leveraging </a:t>
            </a:r>
          </a:p>
          <a:p>
            <a:r>
              <a:rPr lang="en-US" b="1" dirty="0">
                <a:ea typeface="Cambria"/>
              </a:rPr>
              <a:t>       &gt;  Artificial intelligence.</a:t>
            </a:r>
          </a:p>
          <a:p>
            <a:r>
              <a:rPr lang="en-US" b="1" dirty="0">
                <a:ea typeface="Cambria"/>
              </a:rPr>
              <a:t>                               &gt;   Image processing</a:t>
            </a:r>
          </a:p>
          <a:p>
            <a:r>
              <a:rPr lang="en-US" b="1" dirty="0">
                <a:ea typeface="Cambria"/>
              </a:rPr>
              <a:t>                               &gt;   Data analytics</a:t>
            </a:r>
          </a:p>
          <a:p>
            <a:r>
              <a:rPr lang="en-US" b="1" dirty="0">
                <a:ea typeface="Cambria"/>
              </a:rPr>
              <a:t> This app makes</a:t>
            </a:r>
          </a:p>
          <a:p>
            <a:r>
              <a:rPr lang="en-US" b="1" dirty="0">
                <a:ea typeface="Cambria"/>
              </a:rPr>
              <a:t>                               &gt;  Ayurvedic care more accessible and personalized.</a:t>
            </a:r>
          </a:p>
          <a:p>
            <a:r>
              <a:rPr lang="en-US" b="1" dirty="0">
                <a:ea typeface="Cambria"/>
              </a:rPr>
              <a:t>                               &gt;  Helps users identify medicinal plants</a:t>
            </a:r>
          </a:p>
          <a:p>
            <a:r>
              <a:rPr lang="en-US" b="1" dirty="0">
                <a:ea typeface="Cambria"/>
              </a:rPr>
              <a:t>                               &gt;  Gain health insights</a:t>
            </a:r>
          </a:p>
          <a:p>
            <a:r>
              <a:rPr lang="en-US" b="1" dirty="0">
                <a:ea typeface="Cambria"/>
              </a:rPr>
              <a:t> By focusing  demand for holistic and natural health solutions, this app offers an accurate, user-friendly way to bridge traditional practices and modern needs.</a:t>
            </a:r>
          </a:p>
          <a:p>
            <a:endParaRPr lang="en-US" b="1" dirty="0">
              <a:ea typeface="Cambria"/>
            </a:endParaRPr>
          </a:p>
          <a:p>
            <a:r>
              <a:rPr lang="en-US" b="1" dirty="0">
                <a:ea typeface="Cambria"/>
              </a:rPr>
              <a:t>Mainly Focusing on,</a:t>
            </a:r>
            <a:endParaRPr lang="en-US" dirty="0"/>
          </a:p>
          <a:p>
            <a:r>
              <a:rPr lang="en-US" b="1" dirty="0">
                <a:ea typeface="Cambria"/>
              </a:rPr>
              <a:t>  &gt; </a:t>
            </a:r>
            <a:r>
              <a:rPr lang="en-US" sz="1800" b="1" dirty="0">
                <a:latin typeface="Adobe Devanagari"/>
                <a:ea typeface="Cambria"/>
                <a:cs typeface="Arial"/>
              </a:rPr>
              <a:t>AI-Powered Tongue Diagnostics for Health Monitoring and Wellness Guidance</a:t>
            </a:r>
            <a:endParaRPr lang="en-US" b="1" dirty="0">
              <a:ea typeface="Cambria"/>
            </a:endParaRPr>
          </a:p>
          <a:p>
            <a:r>
              <a:rPr lang="en-US" b="1" dirty="0">
                <a:ea typeface="Cambria"/>
              </a:rPr>
              <a:t>         &gt; </a:t>
            </a:r>
            <a:r>
              <a:rPr lang="en-US" b="1" dirty="0">
                <a:latin typeface="Adobe Devanagari"/>
              </a:rPr>
              <a:t>AI-powered Identification of Skin Diseases and Analysis of Skin Tone &amp; Hydration levels</a:t>
            </a:r>
            <a:br>
              <a:rPr lang="en-US" b="1" dirty="0"/>
            </a:br>
            <a:r>
              <a:rPr lang="en-US" b="1" dirty="0">
                <a:ea typeface="Cambria"/>
              </a:rPr>
              <a:t>         &gt;Ayurvedic medicinal plant identification with detailed usage guidelines.</a:t>
            </a:r>
          </a:p>
          <a:p>
            <a:r>
              <a:rPr lang="en-US" b="1" dirty="0">
                <a:ea typeface="Cambria"/>
              </a:rPr>
              <a:t>         &gt;</a:t>
            </a:r>
            <a:r>
              <a:rPr lang="en-US" sz="1800" b="1" dirty="0">
                <a:latin typeface="Adobe Devanagari"/>
              </a:rPr>
              <a:t>Mental Well-being Assessment through Facial Emotion Analysis</a:t>
            </a:r>
            <a:endParaRPr lang="en-US" b="1" dirty="0">
              <a:ea typeface="Cambria"/>
            </a:endParaRPr>
          </a:p>
          <a:p>
            <a:pPr algn="l"/>
            <a:endParaRPr lang="en-US" dirty="0">
              <a:ea typeface="Cambria"/>
            </a:endParaRPr>
          </a:p>
        </p:txBody>
      </p:sp>
    </p:spTree>
    <p:extLst>
      <p:ext uri="{BB962C8B-B14F-4D97-AF65-F5344CB8AC3E}">
        <p14:creationId xmlns:p14="http://schemas.microsoft.com/office/powerpoint/2010/main" val="41509553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560AFAAC-EA6C-45A9-9E03-C9C9F0193B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hand holding a drawing of question marks&#10;&#10;AI-generated content may be incorrect.">
            <a:extLst>
              <a:ext uri="{FF2B5EF4-FFF2-40B4-BE49-F238E27FC236}">
                <a16:creationId xmlns:a16="http://schemas.microsoft.com/office/drawing/2014/main" id="{B58F6AA2-8239-9ABF-3AA8-33155121E6C5}"/>
              </a:ext>
            </a:extLst>
          </p:cNvPr>
          <p:cNvPicPr>
            <a:picLocks noChangeAspect="1"/>
          </p:cNvPicPr>
          <p:nvPr/>
        </p:nvPicPr>
        <p:blipFill>
          <a:blip r:embed="rId2"/>
          <a:srcRect l="8543" r="46162"/>
          <a:stretch/>
        </p:blipFill>
        <p:spPr>
          <a:xfrm>
            <a:off x="5549771" y="10"/>
            <a:ext cx="6642229" cy="6857990"/>
          </a:xfrm>
          <a:custGeom>
            <a:avLst/>
            <a:gdLst/>
            <a:ahLst/>
            <a:cxnLst/>
            <a:rect l="l" t="t" r="r" b="b"/>
            <a:pathLst>
              <a:path w="7308978" h="6858000">
                <a:moveTo>
                  <a:pt x="0" y="0"/>
                </a:moveTo>
                <a:lnTo>
                  <a:pt x="7308978" y="0"/>
                </a:lnTo>
                <a:lnTo>
                  <a:pt x="7308978" y="6858000"/>
                </a:lnTo>
                <a:lnTo>
                  <a:pt x="0" y="6858000"/>
                </a:lnTo>
                <a:lnTo>
                  <a:pt x="62983" y="6788730"/>
                </a:lnTo>
                <a:cubicBezTo>
                  <a:pt x="773509" y="5928900"/>
                  <a:pt x="1212978" y="4741056"/>
                  <a:pt x="1212978" y="3429000"/>
                </a:cubicBezTo>
                <a:cubicBezTo>
                  <a:pt x="1212978" y="2116944"/>
                  <a:pt x="773509" y="929100"/>
                  <a:pt x="62983" y="69271"/>
                </a:cubicBezTo>
                <a:close/>
              </a:path>
            </a:pathLst>
          </a:custGeom>
        </p:spPr>
      </p:pic>
      <p:sp useBgFill="1">
        <p:nvSpPr>
          <p:cNvPr id="34" name="Freeform: Shape 33">
            <a:extLst>
              <a:ext uri="{FF2B5EF4-FFF2-40B4-BE49-F238E27FC236}">
                <a16:creationId xmlns:a16="http://schemas.microsoft.com/office/drawing/2014/main" id="{83549E37-C86B-4401-90BD-D8BF83859F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001" cy="6858000"/>
          </a:xfrm>
          <a:custGeom>
            <a:avLst/>
            <a:gdLst>
              <a:gd name="connsiteX0" fmla="*/ 0 w 6096001"/>
              <a:gd name="connsiteY0" fmla="*/ 0 h 6858000"/>
              <a:gd name="connsiteX1" fmla="*/ 4883023 w 6096001"/>
              <a:gd name="connsiteY1" fmla="*/ 0 h 6858000"/>
              <a:gd name="connsiteX2" fmla="*/ 4946006 w 6096001"/>
              <a:gd name="connsiteY2" fmla="*/ 69271 h 6858000"/>
              <a:gd name="connsiteX3" fmla="*/ 6096001 w 6096001"/>
              <a:gd name="connsiteY3" fmla="*/ 3429000 h 6858000"/>
              <a:gd name="connsiteX4" fmla="*/ 4946006 w 6096001"/>
              <a:gd name="connsiteY4" fmla="*/ 6788730 h 6858000"/>
              <a:gd name="connsiteX5" fmla="*/ 4883023 w 6096001"/>
              <a:gd name="connsiteY5" fmla="*/ 6858000 h 6858000"/>
              <a:gd name="connsiteX6" fmla="*/ 0 w 609600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1" h="6858000">
                <a:moveTo>
                  <a:pt x="0" y="0"/>
                </a:moveTo>
                <a:lnTo>
                  <a:pt x="4883023" y="0"/>
                </a:lnTo>
                <a:lnTo>
                  <a:pt x="4946006" y="69271"/>
                </a:lnTo>
                <a:cubicBezTo>
                  <a:pt x="5656532" y="929100"/>
                  <a:pt x="6096001" y="2116944"/>
                  <a:pt x="6096001" y="3429000"/>
                </a:cubicBezTo>
                <a:cubicBezTo>
                  <a:pt x="6096001" y="4741056"/>
                  <a:pt x="5656532" y="5928900"/>
                  <a:pt x="4946006" y="6788730"/>
                </a:cubicBezTo>
                <a:lnTo>
                  <a:pt x="4883023"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1" name="Freeform: Shape 30">
            <a:extLst>
              <a:ext uri="{FF2B5EF4-FFF2-40B4-BE49-F238E27FC236}">
                <a16:creationId xmlns:a16="http://schemas.microsoft.com/office/drawing/2014/main" id="{8A17784E-76D8-4521-A77D-0D2EBB9230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86857" cy="6858000"/>
          </a:xfrm>
          <a:custGeom>
            <a:avLst/>
            <a:gdLst>
              <a:gd name="connsiteX0" fmla="*/ 0 w 6086857"/>
              <a:gd name="connsiteY0" fmla="*/ 0 h 6858000"/>
              <a:gd name="connsiteX1" fmla="*/ 4873879 w 6086857"/>
              <a:gd name="connsiteY1" fmla="*/ 0 h 6858000"/>
              <a:gd name="connsiteX2" fmla="*/ 4936862 w 6086857"/>
              <a:gd name="connsiteY2" fmla="*/ 69271 h 6858000"/>
              <a:gd name="connsiteX3" fmla="*/ 6086857 w 6086857"/>
              <a:gd name="connsiteY3" fmla="*/ 3429000 h 6858000"/>
              <a:gd name="connsiteX4" fmla="*/ 4936862 w 6086857"/>
              <a:gd name="connsiteY4" fmla="*/ 6788730 h 6858000"/>
              <a:gd name="connsiteX5" fmla="*/ 4873879 w 6086857"/>
              <a:gd name="connsiteY5" fmla="*/ 6858000 h 6858000"/>
              <a:gd name="connsiteX6" fmla="*/ 0 w 608685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6857" h="6858000">
                <a:moveTo>
                  <a:pt x="0" y="0"/>
                </a:moveTo>
                <a:lnTo>
                  <a:pt x="4873879" y="0"/>
                </a:lnTo>
                <a:lnTo>
                  <a:pt x="4936862" y="69271"/>
                </a:lnTo>
                <a:cubicBezTo>
                  <a:pt x="5647388" y="929100"/>
                  <a:pt x="6086857" y="2116944"/>
                  <a:pt x="6086857" y="3429000"/>
                </a:cubicBezTo>
                <a:cubicBezTo>
                  <a:pt x="6086857" y="4741056"/>
                  <a:pt x="5647388" y="5928900"/>
                  <a:pt x="4936862" y="6788730"/>
                </a:cubicBezTo>
                <a:lnTo>
                  <a:pt x="487387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itle 2">
            <a:extLst>
              <a:ext uri="{FF2B5EF4-FFF2-40B4-BE49-F238E27FC236}">
                <a16:creationId xmlns:a16="http://schemas.microsoft.com/office/drawing/2014/main" id="{59BAD909-CBE4-627F-404E-04F0A4D59252}"/>
              </a:ext>
            </a:extLst>
          </p:cNvPr>
          <p:cNvSpPr>
            <a:spLocks noGrp="1"/>
          </p:cNvSpPr>
          <p:nvPr>
            <p:ph type="title"/>
          </p:nvPr>
        </p:nvSpPr>
        <p:spPr>
          <a:xfrm>
            <a:off x="136779" y="-762"/>
            <a:ext cx="4992624" cy="1005460"/>
          </a:xfrm>
        </p:spPr>
        <p:txBody>
          <a:bodyPr vert="horz" lIns="91440" tIns="45720" rIns="91440" bIns="45720" rtlCol="0" anchor="ctr">
            <a:normAutofit/>
          </a:bodyPr>
          <a:lstStyle/>
          <a:p>
            <a:pPr algn="l">
              <a:lnSpc>
                <a:spcPct val="90000"/>
              </a:lnSpc>
            </a:pPr>
            <a:r>
              <a:rPr lang="en-US" b="1">
                <a:latin typeface="+mj-lt"/>
                <a:cs typeface="+mj-cs"/>
              </a:rPr>
              <a:t>Research Questions</a:t>
            </a:r>
            <a:endParaRPr lang="en-US">
              <a:latin typeface="+mj-lt"/>
              <a:ea typeface="Calibri"/>
              <a:cs typeface="Calibri"/>
            </a:endParaRPr>
          </a:p>
        </p:txBody>
      </p:sp>
      <p:sp>
        <p:nvSpPr>
          <p:cNvPr id="33" name="Rectangle 32">
            <a:extLst>
              <a:ext uri="{FF2B5EF4-FFF2-40B4-BE49-F238E27FC236}">
                <a16:creationId xmlns:a16="http://schemas.microsoft.com/office/drawing/2014/main" id="{C0036C6B-F09C-4EAB-AE02-8D056EE748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24325"/>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 name="Content Placeholder 4">
            <a:extLst>
              <a:ext uri="{FF2B5EF4-FFF2-40B4-BE49-F238E27FC236}">
                <a16:creationId xmlns:a16="http://schemas.microsoft.com/office/drawing/2014/main" id="{2A4C11C0-9458-44AA-961E-D5AA11BE53E4}"/>
              </a:ext>
            </a:extLst>
          </p:cNvPr>
          <p:cNvSpPr>
            <a:spLocks noGrp="1"/>
          </p:cNvSpPr>
          <p:nvPr>
            <p:ph idx="4294967295"/>
          </p:nvPr>
        </p:nvSpPr>
        <p:spPr>
          <a:xfrm>
            <a:off x="17717" y="998950"/>
            <a:ext cx="6196868" cy="5664549"/>
          </a:xfrm>
        </p:spPr>
        <p:txBody>
          <a:bodyPr vert="horz" lIns="91440" tIns="45720" rIns="91440" bIns="45720" rtlCol="0" anchor="t">
            <a:noAutofit/>
          </a:bodyPr>
          <a:lstStyle/>
          <a:p>
            <a:pPr indent="-228600" algn="ctr">
              <a:lnSpc>
                <a:spcPct val="90000"/>
              </a:lnSpc>
            </a:pPr>
            <a:endParaRPr lang="en-US" sz="2000">
              <a:ea typeface="+mn-lt"/>
              <a:cs typeface="+mn-lt"/>
            </a:endParaRPr>
          </a:p>
          <a:p>
            <a:pPr indent="-228600" algn="ctr">
              <a:lnSpc>
                <a:spcPct val="90000"/>
              </a:lnSpc>
            </a:pPr>
            <a:endParaRPr lang="en-US" sz="2000">
              <a:ea typeface="+mn-lt"/>
              <a:cs typeface="+mn-lt"/>
            </a:endParaRPr>
          </a:p>
          <a:p>
            <a:pPr indent="-228600" algn="ctr">
              <a:lnSpc>
                <a:spcPct val="90000"/>
              </a:lnSpc>
            </a:pPr>
            <a:endParaRPr lang="en-US" sz="2000">
              <a:ea typeface="+mn-lt"/>
              <a:cs typeface="+mn-lt"/>
            </a:endParaRPr>
          </a:p>
          <a:p>
            <a:pPr indent="-228600" algn="ctr">
              <a:lnSpc>
                <a:spcPct val="90000"/>
              </a:lnSpc>
            </a:pPr>
            <a:endParaRPr lang="en-US" sz="2000">
              <a:ea typeface="+mn-lt"/>
              <a:cs typeface="+mn-lt"/>
            </a:endParaRPr>
          </a:p>
          <a:p>
            <a:pPr algn="ctr"/>
            <a:r>
              <a:rPr lang="en-US" sz="2000">
                <a:ea typeface="+mn-lt"/>
                <a:cs typeface="+mn-lt"/>
              </a:rPr>
              <a:t>Ayurvedic diagnosis is limited by practitioner dependency, delaying treatment and reducing accessibility.</a:t>
            </a:r>
            <a:endParaRPr lang="en-US">
              <a:ea typeface="+mn-lt"/>
              <a:cs typeface="+mn-lt"/>
            </a:endParaRPr>
          </a:p>
          <a:p>
            <a:pPr marL="0" indent="0" algn="ctr">
              <a:buNone/>
            </a:pPr>
            <a:r>
              <a:rPr lang="en-US" sz="2000">
                <a:ea typeface="+mn-lt"/>
                <a:cs typeface="+mn-lt"/>
              </a:rPr>
              <a:t>Skin diseases lack integrated solutions combining Ayurvedic and modern approaches. Health tools fail to offer personalized care by excluding Ayurvedic data, while difficulties in identifying medicinal plants further restrict remedy access.</a:t>
            </a:r>
            <a:endParaRPr lang="en-US">
              <a:ea typeface="+mn-lt"/>
              <a:cs typeface="+mn-lt"/>
            </a:endParaRPr>
          </a:p>
          <a:p>
            <a:pPr algn="ctr"/>
            <a:endParaRPr lang="en-US" sz="2000">
              <a:ea typeface="Cambria"/>
            </a:endParaRPr>
          </a:p>
          <a:p>
            <a:pPr indent="-228600" algn="ctr">
              <a:lnSpc>
                <a:spcPct val="90000"/>
              </a:lnSpc>
            </a:pPr>
            <a:endParaRPr lang="en-US" sz="2000">
              <a:ea typeface="Cambria"/>
            </a:endParaRPr>
          </a:p>
        </p:txBody>
      </p:sp>
    </p:spTree>
    <p:extLst>
      <p:ext uri="{BB962C8B-B14F-4D97-AF65-F5344CB8AC3E}">
        <p14:creationId xmlns:p14="http://schemas.microsoft.com/office/powerpoint/2010/main" val="7251026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5CE8661-439B-051B-E7C9-56E294EF9FA9}"/>
              </a:ext>
            </a:extLst>
          </p:cNvPr>
          <p:cNvSpPr>
            <a:spLocks noGrp="1"/>
          </p:cNvSpPr>
          <p:nvPr>
            <p:ph type="title"/>
          </p:nvPr>
        </p:nvSpPr>
        <p:spPr>
          <a:xfrm>
            <a:off x="572493" y="238539"/>
            <a:ext cx="11018520" cy="1434415"/>
          </a:xfrm>
        </p:spPr>
        <p:txBody>
          <a:bodyPr vert="horz" lIns="91440" tIns="45720" rIns="91440" bIns="45720" rtlCol="0" anchor="b">
            <a:normAutofit/>
          </a:bodyPr>
          <a:lstStyle/>
          <a:p>
            <a:pPr algn="l">
              <a:lnSpc>
                <a:spcPct val="90000"/>
              </a:lnSpc>
            </a:pPr>
            <a:r>
              <a:rPr lang="en-US" sz="5400" b="1" dirty="0">
                <a:latin typeface="+mj-lt"/>
                <a:cs typeface="+mj-cs"/>
              </a:rPr>
              <a:t>Objectives</a:t>
            </a:r>
            <a:endParaRPr lang="en-US" sz="5400" dirty="0">
              <a:latin typeface="+mj-lt"/>
              <a:cs typeface="+mj-cs"/>
            </a:endParaRPr>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B0722AA-0CA4-00EF-6287-D6A1F25BDA8D}"/>
              </a:ext>
            </a:extLst>
          </p:cNvPr>
          <p:cNvSpPr>
            <a:spLocks noGrp="1"/>
          </p:cNvSpPr>
          <p:nvPr>
            <p:ph idx="1"/>
          </p:nvPr>
        </p:nvSpPr>
        <p:spPr>
          <a:xfrm>
            <a:off x="572493" y="2071316"/>
            <a:ext cx="6713552" cy="4119172"/>
          </a:xfrm>
        </p:spPr>
        <p:txBody>
          <a:bodyPr vert="horz" lIns="91440" tIns="45720" rIns="91440" bIns="45720" rtlCol="0" anchor="t">
            <a:normAutofit lnSpcReduction="10000"/>
          </a:bodyPr>
          <a:lstStyle/>
          <a:p>
            <a:r>
              <a:rPr lang="en-US" sz="1800" dirty="0">
                <a:ea typeface="+mn-lt"/>
                <a:cs typeface="+mn-lt"/>
              </a:rPr>
              <a:t>The </a:t>
            </a:r>
            <a:r>
              <a:rPr lang="en-US" sz="1800" dirty="0">
                <a:highlight>
                  <a:srgbClr val="FFFF00"/>
                </a:highlight>
                <a:ea typeface="+mn-lt"/>
                <a:cs typeface="+mn-lt"/>
              </a:rPr>
              <a:t>Primary Goal</a:t>
            </a:r>
            <a:r>
              <a:rPr lang="en-US" sz="1800" dirty="0">
                <a:ea typeface="+mn-lt"/>
                <a:cs typeface="+mn-lt"/>
              </a:rPr>
              <a:t> is to create an AI-driven mobile app that </a:t>
            </a:r>
            <a:r>
              <a:rPr lang="en-US" sz="1800" dirty="0">
                <a:highlight>
                  <a:srgbClr val="C0C0C0"/>
                </a:highlight>
                <a:ea typeface="+mn-lt"/>
                <a:cs typeface="+mn-lt"/>
              </a:rPr>
              <a:t>combines Ayurvedic principles with modern technology to provide personalized health management and treatment</a:t>
            </a:r>
            <a:r>
              <a:rPr lang="en-US" sz="1800" dirty="0">
                <a:ea typeface="+mn-lt"/>
                <a:cs typeface="+mn-lt"/>
              </a:rPr>
              <a:t> recommendations.</a:t>
            </a:r>
            <a:endParaRPr lang="en-US" sz="1800" dirty="0">
              <a:ea typeface="Cambria"/>
            </a:endParaRPr>
          </a:p>
          <a:p>
            <a:pPr marL="0" indent="0">
              <a:buNone/>
            </a:pPr>
            <a:endParaRPr lang="en-US" sz="2200" dirty="0">
              <a:ea typeface="Cambria"/>
            </a:endParaRPr>
          </a:p>
          <a:p>
            <a:pPr indent="-228600">
              <a:lnSpc>
                <a:spcPct val="90000"/>
              </a:lnSpc>
            </a:pPr>
            <a:r>
              <a:rPr lang="en-US" sz="2200" dirty="0">
                <a:ea typeface="+mn-lt"/>
                <a:cs typeface="+mn-lt"/>
              </a:rPr>
              <a:t>The objectives include</a:t>
            </a:r>
            <a:endParaRPr lang="en-US" dirty="0">
              <a:ea typeface="+mn-lt"/>
              <a:cs typeface="+mn-lt"/>
            </a:endParaRPr>
          </a:p>
          <a:p>
            <a:pPr marL="114300" indent="0">
              <a:lnSpc>
                <a:spcPct val="90000"/>
              </a:lnSpc>
              <a:buNone/>
            </a:pPr>
            <a:r>
              <a:rPr lang="en-US" sz="2200" dirty="0">
                <a:ea typeface="+mn-lt"/>
                <a:cs typeface="+mn-lt"/>
              </a:rPr>
              <a:t>        &gt; </a:t>
            </a:r>
            <a:r>
              <a:rPr lang="en-US" sz="1800" dirty="0">
                <a:ea typeface="+mn-lt"/>
                <a:cs typeface="+mn-lt"/>
              </a:rPr>
              <a:t>Tongue imaging analysis for personalized Ayurvedic advice</a:t>
            </a:r>
            <a:endParaRPr lang="en-US" dirty="0">
              <a:ea typeface="+mn-lt"/>
              <a:cs typeface="+mn-lt"/>
            </a:endParaRPr>
          </a:p>
          <a:p>
            <a:pPr marL="114300" indent="0">
              <a:lnSpc>
                <a:spcPct val="90000"/>
              </a:lnSpc>
              <a:buNone/>
            </a:pPr>
            <a:r>
              <a:rPr lang="en-US" sz="2200" dirty="0">
                <a:ea typeface="+mn-lt"/>
                <a:cs typeface="+mn-lt"/>
              </a:rPr>
              <a:t>        &gt;</a:t>
            </a:r>
            <a:r>
              <a:rPr lang="en-US" sz="1800" dirty="0">
                <a:ea typeface="+mn-lt"/>
                <a:cs typeface="+mn-lt"/>
              </a:rPr>
              <a:t>Skin disease identification framework blending Ayurvedic and modern diagnostics</a:t>
            </a:r>
            <a:endParaRPr lang="en-US" dirty="0">
              <a:ea typeface="+mn-lt"/>
              <a:cs typeface="+mn-lt"/>
            </a:endParaRPr>
          </a:p>
          <a:p>
            <a:pPr marL="114300" indent="0">
              <a:lnSpc>
                <a:spcPct val="90000"/>
              </a:lnSpc>
              <a:buNone/>
            </a:pPr>
            <a:r>
              <a:rPr lang="en-US" sz="2200" dirty="0">
                <a:ea typeface="+mn-lt"/>
                <a:cs typeface="+mn-lt"/>
              </a:rPr>
              <a:t>        &gt; </a:t>
            </a:r>
            <a:r>
              <a:rPr lang="en-US" sz="1800" dirty="0">
                <a:latin typeface="Adobe Devanagari"/>
              </a:rPr>
              <a:t> Mental Well-being Assessment through Facial Emotion Analysis</a:t>
            </a:r>
            <a:endParaRPr lang="en-US" dirty="0">
              <a:ea typeface="+mn-lt"/>
              <a:cs typeface="+mn-lt"/>
            </a:endParaRPr>
          </a:p>
          <a:p>
            <a:pPr marL="114300" indent="0">
              <a:lnSpc>
                <a:spcPct val="90000"/>
              </a:lnSpc>
              <a:buNone/>
            </a:pPr>
            <a:r>
              <a:rPr lang="en-US" sz="2200" dirty="0">
                <a:ea typeface="+mn-lt"/>
                <a:cs typeface="+mn-lt"/>
              </a:rPr>
              <a:t>        &gt;</a:t>
            </a:r>
            <a:r>
              <a:rPr lang="en-US" sz="1800" dirty="0">
                <a:ea typeface="+mn-lt"/>
                <a:cs typeface="+mn-lt"/>
              </a:rPr>
              <a:t>Medicinal plant identification with detailed usage guidance.</a:t>
            </a:r>
          </a:p>
        </p:txBody>
      </p:sp>
      <p:pic>
        <p:nvPicPr>
          <p:cNvPr id="4" name="Picture 3" descr="A blue and white target with a black arrow and red cross and medical symbols&#10;&#10;AI-generated content may be incorrect.">
            <a:extLst>
              <a:ext uri="{FF2B5EF4-FFF2-40B4-BE49-F238E27FC236}">
                <a16:creationId xmlns:a16="http://schemas.microsoft.com/office/drawing/2014/main" id="{72E91FAA-FE3E-8866-F99D-43A95E06861F}"/>
              </a:ext>
            </a:extLst>
          </p:cNvPr>
          <p:cNvPicPr>
            <a:picLocks noChangeAspect="1"/>
          </p:cNvPicPr>
          <p:nvPr/>
        </p:nvPicPr>
        <p:blipFill>
          <a:blip r:embed="rId2"/>
          <a:srcRect l="28952" r="22946" b="2"/>
          <a:stretch/>
        </p:blipFill>
        <p:spPr>
          <a:xfrm>
            <a:off x="7675658" y="2093976"/>
            <a:ext cx="3941064" cy="4096512"/>
          </a:xfrm>
          <a:prstGeom prst="rect">
            <a:avLst/>
          </a:prstGeom>
        </p:spPr>
      </p:pic>
    </p:spTree>
    <p:extLst>
      <p:ext uri="{BB962C8B-B14F-4D97-AF65-F5344CB8AC3E}">
        <p14:creationId xmlns:p14="http://schemas.microsoft.com/office/powerpoint/2010/main" val="1328174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5764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4870F33-6385-BDD7-F59E-784424B4C3C3}"/>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nSpc>
                <a:spcPct val="90000"/>
              </a:lnSpc>
            </a:pPr>
            <a:r>
              <a:rPr lang="en-US" sz="2600" b="1" kern="1200">
                <a:solidFill>
                  <a:srgbClr val="FFFFFF"/>
                </a:solidFill>
                <a:latin typeface="+mj-lt"/>
                <a:ea typeface="+mj-ea"/>
                <a:cs typeface="+mj-cs"/>
              </a:rPr>
              <a:t>System Diagram</a:t>
            </a:r>
            <a:endParaRPr lang="en-US" sz="2600" kern="1200">
              <a:solidFill>
                <a:srgbClr val="FFFFFF"/>
              </a:solidFill>
              <a:latin typeface="+mj-lt"/>
              <a:ea typeface="+mj-ea"/>
              <a:cs typeface="+mj-cs"/>
            </a:endParaRPr>
          </a:p>
        </p:txBody>
      </p:sp>
      <p:pic>
        <p:nvPicPr>
          <p:cNvPr id="6" name="Content Placeholder 5" descr="A diagram of a person&amp;#39;s body&#10;&#10;AI-generated content may be incorrect.">
            <a:extLst>
              <a:ext uri="{FF2B5EF4-FFF2-40B4-BE49-F238E27FC236}">
                <a16:creationId xmlns:a16="http://schemas.microsoft.com/office/drawing/2014/main" id="{CB98916E-432E-BB5B-DFDB-ED255FADFF3B}"/>
              </a:ext>
            </a:extLst>
          </p:cNvPr>
          <p:cNvPicPr>
            <a:picLocks noGrp="1" noChangeAspect="1"/>
          </p:cNvPicPr>
          <p:nvPr>
            <p:ph idx="1"/>
          </p:nvPr>
        </p:nvPicPr>
        <p:blipFill>
          <a:blip r:embed="rId2"/>
          <a:stretch>
            <a:fillRect/>
          </a:stretch>
        </p:blipFill>
        <p:spPr>
          <a:xfrm>
            <a:off x="3391619" y="384856"/>
            <a:ext cx="8798463" cy="6099275"/>
          </a:xfrm>
          <a:prstGeom prst="rect">
            <a:avLst/>
          </a:prstGeom>
        </p:spPr>
      </p:pic>
    </p:spTree>
    <p:extLst>
      <p:ext uri="{BB962C8B-B14F-4D97-AF65-F5344CB8AC3E}">
        <p14:creationId xmlns:p14="http://schemas.microsoft.com/office/powerpoint/2010/main" val="25443490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A755AF9-6AEA-4BCA-A1A2-C57A58214B9E}"/>
              </a:ext>
            </a:extLst>
          </p:cNvPr>
          <p:cNvSpPr>
            <a:spLocks noGrp="1"/>
          </p:cNvSpPr>
          <p:nvPr>
            <p:ph type="title"/>
          </p:nvPr>
        </p:nvSpPr>
        <p:spPr>
          <a:xfrm>
            <a:off x="963084" y="2479899"/>
            <a:ext cx="10363200" cy="2302668"/>
          </a:xfrm>
        </p:spPr>
        <p:txBody>
          <a:bodyPr>
            <a:normAutofit fontScale="90000"/>
          </a:bodyPr>
          <a:lstStyle/>
          <a:p>
            <a:r>
              <a:rPr lang="en-US" dirty="0">
                <a:latin typeface="Arial"/>
                <a:cs typeface="Arial"/>
              </a:rPr>
              <a:t>Peiris P.H.R</a:t>
            </a:r>
            <a:r>
              <a:rPr lang="en-US" dirty="0">
                <a:solidFill>
                  <a:srgbClr val="000000"/>
                </a:solidFill>
                <a:latin typeface="Arial"/>
                <a:cs typeface="Arial"/>
              </a:rPr>
              <a:t> - </a:t>
            </a:r>
            <a:r>
              <a:rPr lang="en-US" sz="3800" dirty="0">
                <a:solidFill>
                  <a:srgbClr val="A5C249"/>
                </a:solidFill>
                <a:latin typeface="Arial"/>
                <a:cs typeface="Arial"/>
              </a:rPr>
              <a:t>IT21584718</a:t>
            </a:r>
            <a:br>
              <a:rPr lang="en-US" sz="3800" dirty="0">
                <a:latin typeface="Arial"/>
                <a:cs typeface="Arial"/>
              </a:rPr>
            </a:br>
            <a:br>
              <a:rPr lang="en-US" sz="3800" dirty="0">
                <a:latin typeface="Arial"/>
                <a:cs typeface="Arial"/>
              </a:rPr>
            </a:br>
            <a:r>
              <a:rPr lang="en-US" sz="3800" b="0" dirty="0">
                <a:solidFill>
                  <a:schemeClr val="accent5">
                    <a:lumMod val="49000"/>
                  </a:schemeClr>
                </a:solidFill>
                <a:latin typeface="Adobe Devanagari"/>
                <a:ea typeface="Cambria"/>
                <a:cs typeface="Arial"/>
              </a:rPr>
              <a:t>AI-Powered Tongue Diagnostics for Health Monitoring and Wellness Guidance</a:t>
            </a:r>
            <a:endParaRPr lang="en-US" sz="3600" dirty="0">
              <a:solidFill>
                <a:schemeClr val="accent5">
                  <a:lumMod val="49000"/>
                </a:schemeClr>
              </a:solidFill>
              <a:latin typeface="Arial"/>
              <a:cs typeface="Arial"/>
            </a:endParaRPr>
          </a:p>
          <a:p>
            <a:endParaRPr lang="en-US" sz="3800" dirty="0">
              <a:latin typeface="Arial"/>
              <a:cs typeface="Arial"/>
            </a:endParaRPr>
          </a:p>
        </p:txBody>
      </p:sp>
      <p:sp>
        <p:nvSpPr>
          <p:cNvPr id="6" name="Text Placeholder 5">
            <a:extLst>
              <a:ext uri="{FF2B5EF4-FFF2-40B4-BE49-F238E27FC236}">
                <a16:creationId xmlns:a16="http://schemas.microsoft.com/office/drawing/2014/main" id="{07A91C59-28F0-4A9C-ACA2-19A536A0C380}"/>
              </a:ext>
            </a:extLst>
          </p:cNvPr>
          <p:cNvSpPr>
            <a:spLocks noGrp="1"/>
          </p:cNvSpPr>
          <p:nvPr>
            <p:ph type="body" idx="1"/>
          </p:nvPr>
        </p:nvSpPr>
        <p:spPr/>
        <p:txBody>
          <a:bodyPr/>
          <a:lstStyle/>
          <a:p>
            <a:r>
              <a:rPr lang="en-US"/>
              <a:t>Information Technology (IT)</a:t>
            </a:r>
          </a:p>
        </p:txBody>
      </p:sp>
      <p:sp>
        <p:nvSpPr>
          <p:cNvPr id="4" name="Rectangle 3">
            <a:extLst>
              <a:ext uri="{FF2B5EF4-FFF2-40B4-BE49-F238E27FC236}">
                <a16:creationId xmlns:a16="http://schemas.microsoft.com/office/drawing/2014/main" id="{5FB98E66-DBD5-4B29-AC68-A58A70C64231}"/>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b="1">
                <a:solidFill>
                  <a:schemeClr val="tx1"/>
                </a:solidFill>
              </a:rPr>
              <a:t>IT21584718</a:t>
            </a:r>
            <a:r>
              <a:rPr lang="en-US" sz="1800">
                <a:solidFill>
                  <a:schemeClr val="tx1"/>
                </a:solidFill>
              </a:rPr>
              <a:t>   |   </a:t>
            </a:r>
            <a:r>
              <a:rPr lang="en-US">
                <a:solidFill>
                  <a:schemeClr val="tx1"/>
                </a:solidFill>
              </a:rPr>
              <a:t>&lt;</a:t>
            </a:r>
            <a:r>
              <a:rPr lang="en-US" b="1">
                <a:solidFill>
                  <a:schemeClr val="tx1"/>
                </a:solidFill>
              </a:rPr>
              <a:t>&lt;PEIRIS P.H.R&gt;&gt;</a:t>
            </a:r>
            <a:r>
              <a:rPr lang="en-US" sz="1800" b="1">
                <a:solidFill>
                  <a:schemeClr val="tx1"/>
                </a:solidFill>
              </a:rPr>
              <a:t>   </a:t>
            </a:r>
            <a:r>
              <a:rPr lang="en-US" sz="1800">
                <a:solidFill>
                  <a:schemeClr val="tx1"/>
                </a:solidFill>
              </a:rPr>
              <a:t>|   </a:t>
            </a:r>
            <a:r>
              <a:rPr lang="en-US">
                <a:solidFill>
                  <a:schemeClr val="tx1"/>
                </a:solidFill>
              </a:rPr>
              <a:t>&lt;&lt;R25-068&gt;&gt;</a:t>
            </a:r>
            <a:endParaRPr lang="en-US" sz="1800" b="0">
              <a:solidFill>
                <a:schemeClr val="tx1"/>
              </a:solidFill>
            </a:endParaRPr>
          </a:p>
        </p:txBody>
      </p:sp>
      <p:pic>
        <p:nvPicPr>
          <p:cNvPr id="2" name="Picture 1" descr="A person smiling for a picture&#10;&#10;AI-generated content may be incorrect.">
            <a:extLst>
              <a:ext uri="{FF2B5EF4-FFF2-40B4-BE49-F238E27FC236}">
                <a16:creationId xmlns:a16="http://schemas.microsoft.com/office/drawing/2014/main" id="{B0F41A23-0FA1-67B2-966E-9B64DA8585E9}"/>
              </a:ext>
            </a:extLst>
          </p:cNvPr>
          <p:cNvPicPr>
            <a:picLocks noChangeAspect="1"/>
          </p:cNvPicPr>
          <p:nvPr/>
        </p:nvPicPr>
        <p:blipFill>
          <a:blip r:embed="rId2"/>
          <a:stretch>
            <a:fillRect/>
          </a:stretch>
        </p:blipFill>
        <p:spPr>
          <a:xfrm>
            <a:off x="10007114" y="3530"/>
            <a:ext cx="2189617" cy="2744765"/>
          </a:xfrm>
          <a:prstGeom prst="rect">
            <a:avLst/>
          </a:prstGeom>
        </p:spPr>
      </p:pic>
    </p:spTree>
    <p:extLst>
      <p:ext uri="{BB962C8B-B14F-4D97-AF65-F5344CB8AC3E}">
        <p14:creationId xmlns:p14="http://schemas.microsoft.com/office/powerpoint/2010/main" val="21814099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2F6FBBB-4C77-4A4B-BE54-96D3B0DF3BB7}"/>
              </a:ext>
            </a:extLst>
          </p:cNvPr>
          <p:cNvSpPr>
            <a:spLocks noGrp="1"/>
          </p:cNvSpPr>
          <p:nvPr>
            <p:ph type="title"/>
          </p:nvPr>
        </p:nvSpPr>
        <p:spPr>
          <a:xfrm>
            <a:off x="197644" y="478631"/>
            <a:ext cx="3337719" cy="868362"/>
          </a:xfrm>
        </p:spPr>
        <p:txBody>
          <a:bodyPr>
            <a:normAutofit/>
          </a:bodyPr>
          <a:lstStyle/>
          <a:p>
            <a:pPr algn="l"/>
            <a:r>
              <a:rPr lang="en-US" sz="4000" b="1">
                <a:solidFill>
                  <a:srgbClr val="783F04"/>
                </a:solidFill>
                <a:latin typeface="Arial"/>
                <a:cs typeface="Arial"/>
              </a:rPr>
              <a:t>Introduction</a:t>
            </a:r>
            <a:endParaRPr lang="en-US" sz="4000" b="1"/>
          </a:p>
        </p:txBody>
      </p:sp>
      <p:sp>
        <p:nvSpPr>
          <p:cNvPr id="4" name="Rectangle 3">
            <a:extLst>
              <a:ext uri="{FF2B5EF4-FFF2-40B4-BE49-F238E27FC236}">
                <a16:creationId xmlns:a16="http://schemas.microsoft.com/office/drawing/2014/main" id="{B9D9F080-0780-4554-8055-A289E0D4EDA8}"/>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b="1">
                <a:solidFill>
                  <a:schemeClr val="tx1"/>
                </a:solidFill>
              </a:rPr>
              <a:t>IT21584718</a:t>
            </a:r>
            <a:r>
              <a:rPr lang="en-US">
                <a:solidFill>
                  <a:schemeClr val="tx1"/>
                </a:solidFill>
              </a:rPr>
              <a:t> </a:t>
            </a:r>
            <a:r>
              <a:rPr lang="en-US" sz="1800">
                <a:solidFill>
                  <a:schemeClr val="tx1"/>
                </a:solidFill>
              </a:rPr>
              <a:t>| &lt;</a:t>
            </a:r>
            <a:r>
              <a:rPr lang="en-US" sz="1800" b="1">
                <a:solidFill>
                  <a:schemeClr val="tx1"/>
                </a:solidFill>
              </a:rPr>
              <a:t>&lt;</a:t>
            </a:r>
            <a:r>
              <a:rPr lang="en-US" b="1">
                <a:solidFill>
                  <a:schemeClr val="tx1"/>
                </a:solidFill>
              </a:rPr>
              <a:t>PEIRIS P.H.R</a:t>
            </a:r>
            <a:r>
              <a:rPr lang="en-US" sz="1800" b="1">
                <a:solidFill>
                  <a:schemeClr val="tx1"/>
                </a:solidFill>
              </a:rPr>
              <a:t>&gt;&gt; </a:t>
            </a:r>
            <a:r>
              <a:rPr lang="en-US" sz="1800">
                <a:solidFill>
                  <a:schemeClr val="tx1"/>
                </a:solidFill>
              </a:rPr>
              <a:t>| </a:t>
            </a:r>
            <a:r>
              <a:rPr lang="en-US" sz="1800" b="0">
                <a:solidFill>
                  <a:schemeClr val="tx1"/>
                </a:solidFill>
              </a:rPr>
              <a:t>&lt;&lt;</a:t>
            </a:r>
            <a:r>
              <a:rPr lang="en-US">
                <a:solidFill>
                  <a:schemeClr val="tx1"/>
                </a:solidFill>
              </a:rPr>
              <a:t>R25-068</a:t>
            </a:r>
            <a:r>
              <a:rPr lang="en-US" sz="1800" b="0">
                <a:solidFill>
                  <a:schemeClr val="tx1"/>
                </a:solidFill>
              </a:rPr>
              <a:t>&gt;&gt;</a:t>
            </a:r>
            <a:endParaRPr lang="en-US">
              <a:solidFill>
                <a:schemeClr val="tx1"/>
              </a:solidFill>
            </a:endParaRPr>
          </a:p>
        </p:txBody>
      </p:sp>
      <p:sp>
        <p:nvSpPr>
          <p:cNvPr id="3" name="Title 4">
            <a:extLst>
              <a:ext uri="{FF2B5EF4-FFF2-40B4-BE49-F238E27FC236}">
                <a16:creationId xmlns:a16="http://schemas.microsoft.com/office/drawing/2014/main" id="{2533810C-809A-235D-5E52-E731A4701B40}"/>
              </a:ext>
            </a:extLst>
          </p:cNvPr>
          <p:cNvSpPr txBox="1">
            <a:spLocks/>
          </p:cNvSpPr>
          <p:nvPr/>
        </p:nvSpPr>
        <p:spPr>
          <a:xfrm>
            <a:off x="1040606" y="1452562"/>
            <a:ext cx="3337719" cy="86836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Adobe Devanagari" pitchFamily="18" charset="0"/>
                <a:ea typeface="+mj-ea"/>
                <a:cs typeface="Adobe Devanagari" pitchFamily="18" charset="0"/>
              </a:defRPr>
            </a:lvl1pPr>
          </a:lstStyle>
          <a:p>
            <a:pPr algn="l"/>
            <a:r>
              <a:rPr lang="en-US" sz="3000" b="1">
                <a:solidFill>
                  <a:srgbClr val="000000"/>
                </a:solidFill>
                <a:latin typeface="Arial"/>
                <a:cs typeface="Arial"/>
              </a:rPr>
              <a:t>Background</a:t>
            </a:r>
            <a:endParaRPr lang="en-US"/>
          </a:p>
        </p:txBody>
      </p:sp>
      <p:sp>
        <p:nvSpPr>
          <p:cNvPr id="7" name="TextBox 6">
            <a:extLst>
              <a:ext uri="{FF2B5EF4-FFF2-40B4-BE49-F238E27FC236}">
                <a16:creationId xmlns:a16="http://schemas.microsoft.com/office/drawing/2014/main" id="{C083F3B9-C3EA-C7E1-DFCA-895D2D81BFA2}"/>
              </a:ext>
            </a:extLst>
          </p:cNvPr>
          <p:cNvSpPr txBox="1"/>
          <p:nvPr/>
        </p:nvSpPr>
        <p:spPr>
          <a:xfrm>
            <a:off x="618570" y="2333684"/>
            <a:ext cx="10465549"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US" sz="2400" b="1" dirty="0">
                <a:ea typeface="+mn-lt"/>
                <a:cs typeface="+mn-lt"/>
              </a:rPr>
              <a:t>Tongue diagnosis</a:t>
            </a:r>
            <a:r>
              <a:rPr lang="en-US" sz="2400" dirty="0">
                <a:ea typeface="+mn-lt"/>
                <a:cs typeface="+mn-lt"/>
              </a:rPr>
              <a:t> is a key part of </a:t>
            </a:r>
            <a:r>
              <a:rPr lang="en-US" sz="2400" b="1" dirty="0">
                <a:ea typeface="+mn-lt"/>
                <a:cs typeface="+mn-lt"/>
              </a:rPr>
              <a:t>Ayurvedic healthcare</a:t>
            </a:r>
            <a:r>
              <a:rPr lang="en-US" sz="2400" dirty="0">
                <a:ea typeface="+mn-lt"/>
                <a:cs typeface="+mn-lt"/>
              </a:rPr>
              <a:t>, where the tongue’s </a:t>
            </a:r>
            <a:r>
              <a:rPr lang="en-US" sz="2400" b="1" dirty="0">
                <a:ea typeface="+mn-lt"/>
                <a:cs typeface="+mn-lt"/>
              </a:rPr>
              <a:t>color, texture, and coating</a:t>
            </a:r>
            <a:r>
              <a:rPr lang="en-US" sz="2400" dirty="0">
                <a:ea typeface="+mn-lt"/>
                <a:cs typeface="+mn-lt"/>
              </a:rPr>
              <a:t> reflect overall health</a:t>
            </a:r>
            <a:endParaRPr lang="en-US" sz="2400" dirty="0">
              <a:ea typeface="Cambria"/>
            </a:endParaRPr>
          </a:p>
          <a:p>
            <a:pPr marL="342900" indent="-342900">
              <a:buFont typeface="Arial"/>
              <a:buChar char="•"/>
            </a:pPr>
            <a:r>
              <a:rPr lang="en-US" sz="2400" dirty="0">
                <a:ea typeface="+mn-lt"/>
                <a:cs typeface="+mn-lt"/>
              </a:rPr>
              <a:t>Helps detect issues like </a:t>
            </a:r>
            <a:r>
              <a:rPr lang="en-US" sz="2400" b="1" dirty="0">
                <a:ea typeface="+mn-lt"/>
                <a:cs typeface="+mn-lt"/>
              </a:rPr>
              <a:t>dehydration, nutritional deficiencies, and inflammation</a:t>
            </a:r>
            <a:r>
              <a:rPr lang="en-US" sz="2400" dirty="0">
                <a:ea typeface="+mn-lt"/>
                <a:cs typeface="+mn-lt"/>
              </a:rPr>
              <a:t>.</a:t>
            </a:r>
          </a:p>
          <a:p>
            <a:endParaRPr lang="en-US" sz="2400" dirty="0">
              <a:ea typeface="Cambria"/>
            </a:endParaRPr>
          </a:p>
          <a:p>
            <a:pPr marL="342900" indent="-342900">
              <a:buFont typeface="Arial"/>
              <a:buChar char="•"/>
            </a:pPr>
            <a:r>
              <a:rPr lang="en-US" sz="2400" b="1" dirty="0">
                <a:ea typeface="+mn-lt"/>
                <a:cs typeface="+mn-lt"/>
              </a:rPr>
              <a:t>AI technology</a:t>
            </a:r>
            <a:r>
              <a:rPr lang="en-US" sz="2400" dirty="0">
                <a:ea typeface="+mn-lt"/>
                <a:cs typeface="+mn-lt"/>
              </a:rPr>
              <a:t> enhances accuracy by identifying </a:t>
            </a:r>
            <a:r>
              <a:rPr lang="en-US" sz="2400" b="1" dirty="0">
                <a:ea typeface="+mn-lt"/>
                <a:cs typeface="+mn-lt"/>
              </a:rPr>
              <a:t>small changes in tongue images</a:t>
            </a:r>
            <a:r>
              <a:rPr lang="en-US" sz="2400" dirty="0">
                <a:ea typeface="+mn-lt"/>
                <a:cs typeface="+mn-lt"/>
              </a:rPr>
              <a:t>.</a:t>
            </a:r>
            <a:endParaRPr lang="en-US" dirty="0">
              <a:ea typeface="+mn-lt"/>
              <a:cs typeface="+mn-lt"/>
            </a:endParaRPr>
          </a:p>
          <a:p>
            <a:pPr marL="342900" indent="-342900">
              <a:buFont typeface="Arial"/>
              <a:buChar char="•"/>
            </a:pPr>
            <a:r>
              <a:rPr lang="en-US" sz="2400" b="1" dirty="0">
                <a:ea typeface="+mn-lt"/>
                <a:cs typeface="+mn-lt"/>
              </a:rPr>
              <a:t>Combining AI with Ayurveda</a:t>
            </a:r>
            <a:r>
              <a:rPr lang="en-US" sz="2400" dirty="0">
                <a:ea typeface="+mn-lt"/>
                <a:cs typeface="+mn-lt"/>
              </a:rPr>
              <a:t> makes health assessments </a:t>
            </a:r>
            <a:r>
              <a:rPr lang="en-US" sz="2400" b="1" dirty="0">
                <a:ea typeface="+mn-lt"/>
                <a:cs typeface="+mn-lt"/>
              </a:rPr>
              <a:t>more accessible and personalized</a:t>
            </a:r>
            <a:r>
              <a:rPr lang="en-US" sz="2400" dirty="0">
                <a:ea typeface="+mn-lt"/>
                <a:cs typeface="+mn-lt"/>
              </a:rPr>
              <a:t>.</a:t>
            </a:r>
            <a:endParaRPr lang="en-US" sz="2400" dirty="0">
              <a:ea typeface="Cambria"/>
            </a:endParaRPr>
          </a:p>
          <a:p>
            <a:pPr marL="342900" indent="-342900">
              <a:buFont typeface="Arial"/>
              <a:buChar char="•"/>
            </a:pPr>
            <a:r>
              <a:rPr lang="en-US" sz="2400" dirty="0">
                <a:ea typeface="+mn-lt"/>
                <a:cs typeface="+mn-lt"/>
              </a:rPr>
              <a:t>Reduces the need for </a:t>
            </a:r>
            <a:r>
              <a:rPr lang="en-US" sz="2400" b="1" dirty="0">
                <a:ea typeface="+mn-lt"/>
                <a:cs typeface="+mn-lt"/>
              </a:rPr>
              <a:t>frequent clinic visits</a:t>
            </a:r>
            <a:r>
              <a:rPr lang="en-US" sz="2400" dirty="0">
                <a:ea typeface="+mn-lt"/>
                <a:cs typeface="+mn-lt"/>
              </a:rPr>
              <a:t>, allowing users to </a:t>
            </a:r>
            <a:r>
              <a:rPr lang="en-US" sz="2400" b="1" dirty="0">
                <a:ea typeface="+mn-lt"/>
                <a:cs typeface="+mn-lt"/>
              </a:rPr>
              <a:t>monitor their health from home</a:t>
            </a:r>
            <a:r>
              <a:rPr lang="en-US" sz="2400" dirty="0">
                <a:ea typeface="+mn-lt"/>
                <a:cs typeface="+mn-lt"/>
              </a:rPr>
              <a:t>.</a:t>
            </a:r>
            <a:endParaRPr lang="en-US" sz="2400" dirty="0">
              <a:ea typeface="Cambria"/>
            </a:endParaRPr>
          </a:p>
          <a:p>
            <a:endParaRPr lang="en-US" sz="2400" dirty="0">
              <a:ea typeface="Cambria"/>
            </a:endParaRPr>
          </a:p>
        </p:txBody>
      </p:sp>
      <p:pic>
        <p:nvPicPr>
          <p:cNvPr id="8" name="Picture 7" descr="A person with her tongue sticking out&#10;&#10;AI-generated content may be incorrect.">
            <a:extLst>
              <a:ext uri="{FF2B5EF4-FFF2-40B4-BE49-F238E27FC236}">
                <a16:creationId xmlns:a16="http://schemas.microsoft.com/office/drawing/2014/main" id="{40B05939-0253-4BE2-13B0-6892AF179EF5}"/>
              </a:ext>
            </a:extLst>
          </p:cNvPr>
          <p:cNvPicPr>
            <a:picLocks noChangeAspect="1"/>
          </p:cNvPicPr>
          <p:nvPr/>
        </p:nvPicPr>
        <p:blipFill>
          <a:blip r:embed="rId2"/>
          <a:stretch>
            <a:fillRect/>
          </a:stretch>
        </p:blipFill>
        <p:spPr>
          <a:xfrm>
            <a:off x="7548337" y="279844"/>
            <a:ext cx="4167413" cy="2170439"/>
          </a:xfrm>
          <a:prstGeom prst="rect">
            <a:avLst/>
          </a:prstGeom>
        </p:spPr>
      </p:pic>
    </p:spTree>
    <p:extLst>
      <p:ext uri="{BB962C8B-B14F-4D97-AF65-F5344CB8AC3E}">
        <p14:creationId xmlns:p14="http://schemas.microsoft.com/office/powerpoint/2010/main" val="36584985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039F2-D264-04C3-A79D-CCC9236B9DAD}"/>
              </a:ext>
            </a:extLst>
          </p:cNvPr>
          <p:cNvSpPr>
            <a:spLocks noGrp="1"/>
          </p:cNvSpPr>
          <p:nvPr>
            <p:ph type="title"/>
          </p:nvPr>
        </p:nvSpPr>
        <p:spPr/>
        <p:txBody>
          <a:bodyPr/>
          <a:lstStyle/>
          <a:p>
            <a:r>
              <a:rPr lang="en-US">
                <a:latin typeface="Adobe Devanagari"/>
              </a:rPr>
              <a:t>Research Gap</a:t>
            </a:r>
            <a:endParaRPr lang="en-US"/>
          </a:p>
        </p:txBody>
      </p:sp>
      <p:sp>
        <p:nvSpPr>
          <p:cNvPr id="3" name="Content Placeholder 2">
            <a:extLst>
              <a:ext uri="{FF2B5EF4-FFF2-40B4-BE49-F238E27FC236}">
                <a16:creationId xmlns:a16="http://schemas.microsoft.com/office/drawing/2014/main" id="{C91091E7-FD36-3D12-9E81-51E757F5DBB0}"/>
              </a:ext>
            </a:extLst>
          </p:cNvPr>
          <p:cNvSpPr>
            <a:spLocks noGrp="1"/>
          </p:cNvSpPr>
          <p:nvPr>
            <p:ph idx="1"/>
          </p:nvPr>
        </p:nvSpPr>
        <p:spPr>
          <a:prstGeom prst="rect">
            <a:avLst/>
          </a:prstGeom>
        </p:spPr>
        <p:txBody>
          <a:bodyPr vert="horz" lIns="91440" tIns="45720" rIns="91440" bIns="45720" rtlCol="0" anchor="t">
            <a:normAutofit/>
          </a:bodyPr>
          <a:lstStyle/>
          <a:p>
            <a:pPr marL="0" indent="0">
              <a:buNone/>
            </a:pPr>
            <a:endParaRPr lang="en-US">
              <a:ea typeface="Cambria"/>
            </a:endParaRPr>
          </a:p>
        </p:txBody>
      </p:sp>
      <p:sp>
        <p:nvSpPr>
          <p:cNvPr id="4" name="Rectangle 3">
            <a:extLst>
              <a:ext uri="{FF2B5EF4-FFF2-40B4-BE49-F238E27FC236}">
                <a16:creationId xmlns:a16="http://schemas.microsoft.com/office/drawing/2014/main" id="{3C4D99F3-124F-5E6E-4F8C-1F93C0917CEA}"/>
              </a:ext>
            </a:extLst>
          </p:cNvPr>
          <p:cNvSpPr/>
          <p:nvPr/>
        </p:nvSpPr>
        <p:spPr>
          <a:xfrm>
            <a:off x="846111" y="1707008"/>
            <a:ext cx="3057141" cy="2031224"/>
          </a:xfrm>
          <a:prstGeom prst="rect">
            <a:avLst/>
          </a:prstGeom>
          <a:solidFill>
            <a:schemeClr val="accent1">
              <a:lumMod val="60000"/>
              <a:lumOff val="40000"/>
            </a:schemeClr>
          </a:solidFill>
          <a:ln>
            <a:solidFill>
              <a:srgbClr val="4472C4"/>
            </a:solid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en-US" b="1">
                <a:solidFill>
                  <a:schemeClr val="tx1"/>
                </a:solidFill>
                <a:ea typeface="+mn-lt"/>
                <a:cs typeface="+mn-lt"/>
              </a:rPr>
              <a:t>Limited AI Integration in Tongue Diagnosis</a:t>
            </a:r>
            <a:r>
              <a:rPr lang="en-US">
                <a:solidFill>
                  <a:schemeClr val="tx1"/>
                </a:solidFill>
                <a:ea typeface="+mn-lt"/>
                <a:cs typeface="+mn-lt"/>
              </a:rPr>
              <a:t> – Existing healthcare apps do not fully utilize AI for accurate tongue-based health assessments.</a:t>
            </a:r>
            <a:endParaRPr lang="en-US">
              <a:solidFill>
                <a:schemeClr val="tx1"/>
              </a:solidFill>
              <a:ea typeface="Cambria"/>
            </a:endParaRPr>
          </a:p>
        </p:txBody>
      </p:sp>
      <p:sp>
        <p:nvSpPr>
          <p:cNvPr id="7" name="Rectangle 6">
            <a:extLst>
              <a:ext uri="{FF2B5EF4-FFF2-40B4-BE49-F238E27FC236}">
                <a16:creationId xmlns:a16="http://schemas.microsoft.com/office/drawing/2014/main" id="{08CA4F94-8E3D-8367-7A82-CB26775F1A6B}"/>
              </a:ext>
            </a:extLst>
          </p:cNvPr>
          <p:cNvSpPr/>
          <p:nvPr/>
        </p:nvSpPr>
        <p:spPr>
          <a:xfrm>
            <a:off x="8092299" y="1419460"/>
            <a:ext cx="3057141" cy="1944960"/>
          </a:xfrm>
          <a:prstGeom prst="rect">
            <a:avLst/>
          </a:prstGeom>
          <a:solidFill>
            <a:schemeClr val="accent1">
              <a:lumMod val="60000"/>
              <a:lumOff val="40000"/>
            </a:schemeClr>
          </a:solidFill>
        </p:spPr>
        <p:style>
          <a:lnRef idx="1">
            <a:schemeClr val="accent2"/>
          </a:lnRef>
          <a:fillRef idx="3">
            <a:schemeClr val="accent2"/>
          </a:fillRef>
          <a:effectRef idx="2">
            <a:schemeClr val="accent2"/>
          </a:effectRef>
          <a:fontRef idx="minor">
            <a:schemeClr val="lt1"/>
          </a:fontRef>
        </p:style>
        <p:txBody>
          <a:bodyPr lIns="91440" tIns="45720" rIns="91440" bIns="45720" rtlCol="0" anchor="ctr"/>
          <a:lstStyle/>
          <a:p>
            <a:pPr algn="ctr"/>
            <a:r>
              <a:rPr lang="en-US" b="1">
                <a:solidFill>
                  <a:schemeClr val="tx1"/>
                </a:solidFill>
                <a:ea typeface="+mn-lt"/>
                <a:cs typeface="+mn-lt"/>
              </a:rPr>
              <a:t>Insufficient Tongue Image Datasets –</a:t>
            </a:r>
            <a:r>
              <a:rPr lang="en-US">
                <a:solidFill>
                  <a:schemeClr val="tx1"/>
                </a:solidFill>
                <a:ea typeface="+mn-lt"/>
                <a:cs typeface="+mn-lt"/>
              </a:rPr>
              <a:t> There is a shortage of annotated tongue images linked to different health conditions.</a:t>
            </a:r>
            <a:endParaRPr lang="en-US">
              <a:solidFill>
                <a:schemeClr val="tx1"/>
              </a:solidFill>
              <a:ea typeface="Cambria"/>
            </a:endParaRPr>
          </a:p>
        </p:txBody>
      </p:sp>
      <p:sp>
        <p:nvSpPr>
          <p:cNvPr id="8" name="Rectangle 7">
            <a:extLst>
              <a:ext uri="{FF2B5EF4-FFF2-40B4-BE49-F238E27FC236}">
                <a16:creationId xmlns:a16="http://schemas.microsoft.com/office/drawing/2014/main" id="{B7BE5F18-ED3A-743D-1CB3-42EB45D7CB02}"/>
              </a:ext>
            </a:extLst>
          </p:cNvPr>
          <p:cNvSpPr/>
          <p:nvPr/>
        </p:nvSpPr>
        <p:spPr>
          <a:xfrm>
            <a:off x="846111" y="4021763"/>
            <a:ext cx="3057141" cy="2031224"/>
          </a:xfrm>
          <a:prstGeom prst="rect">
            <a:avLst/>
          </a:prstGeom>
          <a:solidFill>
            <a:schemeClr val="accent1">
              <a:lumMod val="60000"/>
              <a:lumOff val="40000"/>
            </a:schemeClr>
          </a:solidFill>
        </p:spPr>
        <p:style>
          <a:lnRef idx="1">
            <a:schemeClr val="accent2"/>
          </a:lnRef>
          <a:fillRef idx="3">
            <a:schemeClr val="accent2"/>
          </a:fillRef>
          <a:effectRef idx="2">
            <a:schemeClr val="accent2"/>
          </a:effectRef>
          <a:fontRef idx="minor">
            <a:schemeClr val="lt1"/>
          </a:fontRef>
        </p:style>
        <p:txBody>
          <a:bodyPr lIns="91440" tIns="45720" rIns="91440" bIns="45720" rtlCol="0" anchor="ctr"/>
          <a:lstStyle/>
          <a:p>
            <a:pPr algn="ctr"/>
            <a:r>
              <a:rPr lang="en-US" b="1">
                <a:solidFill>
                  <a:schemeClr val="tx1"/>
                </a:solidFill>
                <a:ea typeface="+mn-lt"/>
                <a:cs typeface="+mn-lt"/>
              </a:rPr>
              <a:t>No Personalized Wellness Tracking</a:t>
            </a:r>
            <a:r>
              <a:rPr lang="en-US">
                <a:solidFill>
                  <a:schemeClr val="tx1"/>
                </a:solidFill>
                <a:ea typeface="+mn-lt"/>
                <a:cs typeface="+mn-lt"/>
              </a:rPr>
              <a:t> – Most apps lack personalized progress tracking based on tongue health changes.</a:t>
            </a:r>
            <a:endParaRPr lang="en-US">
              <a:solidFill>
                <a:schemeClr val="tx1"/>
              </a:solidFill>
              <a:ea typeface="Cambria"/>
            </a:endParaRPr>
          </a:p>
        </p:txBody>
      </p:sp>
      <p:sp>
        <p:nvSpPr>
          <p:cNvPr id="9" name="Rectangle 8">
            <a:extLst>
              <a:ext uri="{FF2B5EF4-FFF2-40B4-BE49-F238E27FC236}">
                <a16:creationId xmlns:a16="http://schemas.microsoft.com/office/drawing/2014/main" id="{7C92B263-322E-F1A9-8848-49AB91E1D908}"/>
              </a:ext>
            </a:extLst>
          </p:cNvPr>
          <p:cNvSpPr/>
          <p:nvPr/>
        </p:nvSpPr>
        <p:spPr>
          <a:xfrm>
            <a:off x="8178563" y="4021762"/>
            <a:ext cx="3057141" cy="2016847"/>
          </a:xfrm>
          <a:prstGeom prst="rect">
            <a:avLst/>
          </a:prstGeom>
          <a:solidFill>
            <a:schemeClr val="accent1">
              <a:lumMod val="60000"/>
              <a:lumOff val="40000"/>
            </a:schemeClr>
          </a:solidFill>
        </p:spPr>
        <p:style>
          <a:lnRef idx="1">
            <a:schemeClr val="accent2"/>
          </a:lnRef>
          <a:fillRef idx="3">
            <a:schemeClr val="accent2"/>
          </a:fillRef>
          <a:effectRef idx="2">
            <a:schemeClr val="accent2"/>
          </a:effectRef>
          <a:fontRef idx="minor">
            <a:schemeClr val="lt1"/>
          </a:fontRef>
        </p:style>
        <p:txBody>
          <a:bodyPr lIns="91440" tIns="45720" rIns="91440" bIns="45720" rtlCol="0" anchor="ctr"/>
          <a:lstStyle/>
          <a:p>
            <a:pPr algn="ctr"/>
            <a:r>
              <a:rPr lang="en-US" b="1">
                <a:solidFill>
                  <a:schemeClr val="tx1"/>
                </a:solidFill>
                <a:ea typeface="+mn-lt"/>
                <a:cs typeface="+mn-lt"/>
              </a:rPr>
              <a:t>Limited Access to Remote Health Monitoring</a:t>
            </a:r>
            <a:r>
              <a:rPr lang="en-US">
                <a:solidFill>
                  <a:schemeClr val="tx1"/>
                </a:solidFill>
                <a:ea typeface="+mn-lt"/>
                <a:cs typeface="+mn-lt"/>
              </a:rPr>
              <a:t> </a:t>
            </a:r>
            <a:r>
              <a:rPr lang="en-US" b="1">
                <a:solidFill>
                  <a:schemeClr val="tx1"/>
                </a:solidFill>
                <a:ea typeface="+mn-lt"/>
                <a:cs typeface="+mn-lt"/>
              </a:rPr>
              <a:t>– </a:t>
            </a:r>
            <a:r>
              <a:rPr lang="en-US">
                <a:solidFill>
                  <a:schemeClr val="tx1"/>
                </a:solidFill>
                <a:ea typeface="+mn-lt"/>
                <a:cs typeface="+mn-lt"/>
              </a:rPr>
              <a:t>People, especially in rural areas, struggle to access Ayurvedic experts, needing AI-driven remote solutions.</a:t>
            </a:r>
            <a:endParaRPr lang="en-US">
              <a:solidFill>
                <a:schemeClr val="tx1"/>
              </a:solidFill>
              <a:ea typeface="Cambria"/>
            </a:endParaRPr>
          </a:p>
        </p:txBody>
      </p:sp>
      <p:sp>
        <p:nvSpPr>
          <p:cNvPr id="11" name="Rectangle 10">
            <a:extLst>
              <a:ext uri="{FF2B5EF4-FFF2-40B4-BE49-F238E27FC236}">
                <a16:creationId xmlns:a16="http://schemas.microsoft.com/office/drawing/2014/main" id="{EBED2F96-3BE9-7375-5C20-0FA9CAB87672}"/>
              </a:ext>
            </a:extLst>
          </p:cNvPr>
          <p:cNvSpPr/>
          <p:nvPr/>
        </p:nvSpPr>
        <p:spPr>
          <a:xfrm>
            <a:off x="4569846" y="2569650"/>
            <a:ext cx="3057141" cy="2131865"/>
          </a:xfrm>
          <a:prstGeom prst="rect">
            <a:avLst/>
          </a:prstGeom>
          <a:solidFill>
            <a:schemeClr val="accent1">
              <a:lumMod val="60000"/>
              <a:lumOff val="40000"/>
            </a:schemeClr>
          </a:solidFill>
        </p:spPr>
        <p:style>
          <a:lnRef idx="1">
            <a:schemeClr val="accent2"/>
          </a:lnRef>
          <a:fillRef idx="3">
            <a:schemeClr val="accent2"/>
          </a:fillRef>
          <a:effectRef idx="2">
            <a:schemeClr val="accent2"/>
          </a:effectRef>
          <a:fontRef idx="minor">
            <a:schemeClr val="lt1"/>
          </a:fontRef>
        </p:style>
        <p:txBody>
          <a:bodyPr lIns="91440" tIns="45720" rIns="91440" bIns="45720" rtlCol="0" anchor="ctr"/>
          <a:lstStyle/>
          <a:p>
            <a:pPr algn="ctr"/>
            <a:r>
              <a:rPr lang="en-US" b="1">
                <a:solidFill>
                  <a:schemeClr val="tx1"/>
                </a:solidFill>
                <a:ea typeface="+mn-lt"/>
                <a:cs typeface="+mn-lt"/>
              </a:rPr>
              <a:t>Lack of Digital Ayurvedic Insights </a:t>
            </a:r>
            <a:r>
              <a:rPr lang="en-US">
                <a:solidFill>
                  <a:schemeClr val="tx1"/>
                </a:solidFill>
                <a:ea typeface="+mn-lt"/>
                <a:cs typeface="+mn-lt"/>
              </a:rPr>
              <a:t>–</a:t>
            </a:r>
          </a:p>
          <a:p>
            <a:pPr algn="ctr"/>
            <a:r>
              <a:rPr lang="en-US">
                <a:solidFill>
                  <a:schemeClr val="tx1"/>
                </a:solidFill>
                <a:ea typeface="+mn-lt"/>
                <a:cs typeface="+mn-lt"/>
              </a:rPr>
              <a:t> Ayurvedic tongue diagnosis is not well-represented in modern health apps.</a:t>
            </a:r>
            <a:endParaRPr lang="en-US">
              <a:solidFill>
                <a:schemeClr val="tx1"/>
              </a:solidFill>
              <a:ea typeface="Cambria"/>
            </a:endParaRPr>
          </a:p>
        </p:txBody>
      </p:sp>
    </p:spTree>
    <p:extLst>
      <p:ext uri="{BB962C8B-B14F-4D97-AF65-F5344CB8AC3E}">
        <p14:creationId xmlns:p14="http://schemas.microsoft.com/office/powerpoint/2010/main" val="5334874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AB8F658-4EC2-ADCC-C54F-ADEBCC340A82}"/>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nSpc>
                <a:spcPct val="90000"/>
              </a:lnSpc>
            </a:pPr>
            <a:r>
              <a:rPr lang="en-US" sz="3600" kern="1200">
                <a:solidFill>
                  <a:srgbClr val="FFFFFF"/>
                </a:solidFill>
                <a:latin typeface="+mj-lt"/>
                <a:ea typeface="+mj-ea"/>
                <a:cs typeface="+mj-cs"/>
              </a:rPr>
              <a:t>Features Comparison Table</a:t>
            </a:r>
          </a:p>
          <a:p>
            <a:pPr>
              <a:lnSpc>
                <a:spcPct val="90000"/>
              </a:lnSpc>
            </a:pPr>
            <a:endParaRPr lang="en-US" sz="3600" kern="1200">
              <a:solidFill>
                <a:srgbClr val="FFFFFF"/>
              </a:solidFill>
              <a:latin typeface="+mj-lt"/>
              <a:ea typeface="+mj-ea"/>
              <a:cs typeface="+mj-cs"/>
            </a:endParaRPr>
          </a:p>
        </p:txBody>
      </p:sp>
      <p:pic>
        <p:nvPicPr>
          <p:cNvPr id="4" name="Content Placeholder 3" descr="A white table with red cross and green check marks&#10;&#10;AI-generated content may be incorrect.">
            <a:extLst>
              <a:ext uri="{FF2B5EF4-FFF2-40B4-BE49-F238E27FC236}">
                <a16:creationId xmlns:a16="http://schemas.microsoft.com/office/drawing/2014/main" id="{8968D9D3-2631-E5B1-D231-3BD8B7F604B2}"/>
              </a:ext>
            </a:extLst>
          </p:cNvPr>
          <p:cNvPicPr>
            <a:picLocks noGrp="1" noChangeAspect="1"/>
          </p:cNvPicPr>
          <p:nvPr>
            <p:ph idx="1"/>
          </p:nvPr>
        </p:nvPicPr>
        <p:blipFill>
          <a:blip r:embed="rId2"/>
          <a:stretch>
            <a:fillRect/>
          </a:stretch>
        </p:blipFill>
        <p:spPr>
          <a:xfrm>
            <a:off x="5073923" y="643466"/>
            <a:ext cx="6187486" cy="5568739"/>
          </a:xfrm>
          <a:prstGeom prst="rect">
            <a:avLst/>
          </a:prstGeom>
        </p:spPr>
      </p:pic>
    </p:spTree>
    <p:extLst>
      <p:ext uri="{BB962C8B-B14F-4D97-AF65-F5344CB8AC3E}">
        <p14:creationId xmlns:p14="http://schemas.microsoft.com/office/powerpoint/2010/main" val="1948535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0A519-75BC-B803-121D-7B3C74E90CFD}"/>
              </a:ext>
            </a:extLst>
          </p:cNvPr>
          <p:cNvSpPr>
            <a:spLocks noGrp="1"/>
          </p:cNvSpPr>
          <p:nvPr>
            <p:ph type="title"/>
          </p:nvPr>
        </p:nvSpPr>
        <p:spPr>
          <a:xfrm>
            <a:off x="293757" y="150191"/>
            <a:ext cx="11684000" cy="792162"/>
          </a:xfrm>
        </p:spPr>
        <p:txBody>
          <a:bodyPr/>
          <a:lstStyle/>
          <a:p>
            <a:pPr algn="l"/>
            <a:r>
              <a:rPr lang="en-US" sz="3900" b="1">
                <a:latin typeface="Cambria"/>
                <a:ea typeface="Cambria"/>
              </a:rPr>
              <a:t>selected diseases for the treatment suggestions</a:t>
            </a:r>
            <a:endParaRPr lang="en-US" sz="3900">
              <a:latin typeface="Cambria"/>
              <a:ea typeface="Cambria"/>
            </a:endParaRPr>
          </a:p>
        </p:txBody>
      </p:sp>
      <p:graphicFrame>
        <p:nvGraphicFramePr>
          <p:cNvPr id="5" name="Table 4">
            <a:extLst>
              <a:ext uri="{FF2B5EF4-FFF2-40B4-BE49-F238E27FC236}">
                <a16:creationId xmlns:a16="http://schemas.microsoft.com/office/drawing/2014/main" id="{FDF5468F-EE45-5EF5-69B2-211D674265D0}"/>
              </a:ext>
            </a:extLst>
          </p:cNvPr>
          <p:cNvGraphicFramePr>
            <a:graphicFrameLocks noGrp="1"/>
          </p:cNvGraphicFramePr>
          <p:nvPr>
            <p:extLst>
              <p:ext uri="{D42A27DB-BD31-4B8C-83A1-F6EECF244321}">
                <p14:modId xmlns:p14="http://schemas.microsoft.com/office/powerpoint/2010/main" val="3030278555"/>
              </p:ext>
            </p:extLst>
          </p:nvPr>
        </p:nvGraphicFramePr>
        <p:xfrm>
          <a:off x="961878" y="939745"/>
          <a:ext cx="10364164" cy="2773680"/>
        </p:xfrm>
        <a:graphic>
          <a:graphicData uri="http://schemas.openxmlformats.org/drawingml/2006/table">
            <a:tbl>
              <a:tblPr bandRow="1">
                <a:tableStyleId>{5C22544A-7EE6-4342-B048-85BDC9FD1C3A}</a:tableStyleId>
              </a:tblPr>
              <a:tblGrid>
                <a:gridCol w="5143500">
                  <a:extLst>
                    <a:ext uri="{9D8B030D-6E8A-4147-A177-3AD203B41FA5}">
                      <a16:colId xmlns:a16="http://schemas.microsoft.com/office/drawing/2014/main" val="178248438"/>
                    </a:ext>
                  </a:extLst>
                </a:gridCol>
                <a:gridCol w="5220664">
                  <a:extLst>
                    <a:ext uri="{9D8B030D-6E8A-4147-A177-3AD203B41FA5}">
                      <a16:colId xmlns:a16="http://schemas.microsoft.com/office/drawing/2014/main" val="3883377671"/>
                    </a:ext>
                  </a:extLst>
                </a:gridCol>
              </a:tblGrid>
              <a:tr h="482600">
                <a:tc>
                  <a:txBody>
                    <a:bodyPr/>
                    <a:lstStyle/>
                    <a:p>
                      <a:pPr marL="0" marR="0" indent="0" algn="ctr" rtl="0" fontAlgn="t"/>
                      <a:r>
                        <a:rPr lang="en-US" sz="2000" b="1" i="0" u="none" strike="noStrike">
                          <a:solidFill>
                            <a:srgbClr val="000000"/>
                          </a:solidFill>
                          <a:effectLst/>
                          <a:latin typeface="Arial"/>
                          <a:cs typeface="Arial"/>
                        </a:rPr>
                        <a:t>Diseases</a:t>
                      </a:r>
                    </a:p>
                  </a:txBody>
                  <a:tcPr marT="91440" marB="9144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solidFill>
                      <a:srgbClr val="009DD9"/>
                    </a:solidFill>
                  </a:tcPr>
                </a:tc>
                <a:tc>
                  <a:txBody>
                    <a:bodyPr/>
                    <a:lstStyle/>
                    <a:p>
                      <a:pPr marL="0" marR="0" indent="0" algn="ctr" rtl="0" fontAlgn="t"/>
                      <a:r>
                        <a:rPr lang="en-US" sz="1800" b="1" i="0" u="none" strike="noStrike">
                          <a:effectLst/>
                          <a:latin typeface="Arial"/>
                        </a:rPr>
                        <a:t>Description </a:t>
                      </a:r>
                    </a:p>
                  </a:txBody>
                  <a:tcPr marT="91440" marB="9144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solidFill>
                      <a:srgbClr val="009DD9"/>
                    </a:solidFill>
                  </a:tcPr>
                </a:tc>
                <a:extLst>
                  <a:ext uri="{0D108BD9-81ED-4DB2-BD59-A6C34878D82A}">
                    <a16:rowId xmlns:a16="http://schemas.microsoft.com/office/drawing/2014/main" val="2376159841"/>
                  </a:ext>
                </a:extLst>
              </a:tr>
              <a:tr h="940443">
                <a:tc>
                  <a:txBody>
                    <a:bodyPr/>
                    <a:lstStyle/>
                    <a:p>
                      <a:pPr lvl="0" algn="l">
                        <a:lnSpc>
                          <a:spcPct val="100000"/>
                        </a:lnSpc>
                        <a:spcBef>
                          <a:spcPts val="0"/>
                        </a:spcBef>
                        <a:spcAft>
                          <a:spcPts val="0"/>
                        </a:spcAft>
                        <a:buNone/>
                      </a:pPr>
                      <a:r>
                        <a:rPr lang="en-US" sz="1600" b="1" i="0" u="none" strike="noStrike" noProof="0">
                          <a:solidFill>
                            <a:schemeClr val="tx1"/>
                          </a:solidFill>
                          <a:effectLst/>
                        </a:rPr>
                        <a:t>Oral Thrush (Candidiasis)</a:t>
                      </a:r>
                      <a:endParaRPr lang="en-US" sz="1600" b="1"/>
                    </a:p>
                  </a:txBody>
                  <a:tcPr marT="91440" marB="9144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en-US" sz="1600" b="1" i="0" u="none" strike="noStrike" noProof="0">
                          <a:effectLst/>
                        </a:rPr>
                        <a:t>Oral thrush is an infection caused by a fungus called Candida</a:t>
                      </a:r>
                      <a:endParaRPr lang="en-US" sz="1600" b="1"/>
                    </a:p>
                    <a:p>
                      <a:pPr marL="0" marR="0" lvl="0" indent="0" algn="ctr">
                        <a:buNone/>
                      </a:pPr>
                      <a:endParaRPr lang="en-US" sz="1800" b="1" i="0" u="none" strike="noStrike">
                        <a:effectLst/>
                        <a:latin typeface="Arial"/>
                      </a:endParaRPr>
                    </a:p>
                  </a:txBody>
                  <a:tcPr marT="91440" marB="9144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3910085527"/>
                  </a:ext>
                </a:extLst>
              </a:tr>
              <a:tr h="381000">
                <a:tc>
                  <a:txBody>
                    <a:bodyPr/>
                    <a:lstStyle/>
                    <a:p>
                      <a:pPr marL="0" marR="0" lvl="0" indent="0" algn="l">
                        <a:buNone/>
                      </a:pPr>
                      <a:r>
                        <a:rPr lang="en-US" sz="1600" b="1" i="0" u="none" strike="noStrike" noProof="0">
                          <a:solidFill>
                            <a:schemeClr val="tx1"/>
                          </a:solidFill>
                          <a:effectLst/>
                        </a:rPr>
                        <a:t>Black Hairy appearance of tongue</a:t>
                      </a:r>
                    </a:p>
                  </a:txBody>
                  <a:tcPr marT="91440" marB="9144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marL="0" marR="0" lvl="0" indent="0" algn="ctr">
                        <a:buNone/>
                      </a:pPr>
                      <a:r>
                        <a:rPr lang="en-US" sz="1600" b="1" i="0" u="none" strike="noStrike" noProof="0">
                          <a:effectLst/>
                          <a:latin typeface="Aptos"/>
                        </a:rPr>
                        <a:t>Black hairy tongue is caused by a buildup of dead skin cells on the tiny bumps on the tongue called papillae</a:t>
                      </a:r>
                      <a:endParaRPr lang="en-US" sz="1600" b="1"/>
                    </a:p>
                  </a:txBody>
                  <a:tcPr marT="91440" marB="9144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2339108391"/>
                  </a:ext>
                </a:extLst>
              </a:tr>
              <a:tr h="381000">
                <a:tc>
                  <a:txBody>
                    <a:bodyPr/>
                    <a:lstStyle/>
                    <a:p>
                      <a:pPr marL="0" marR="0" lvl="0" indent="0" algn="l">
                        <a:buNone/>
                      </a:pPr>
                      <a:r>
                        <a:rPr lang="en-US" sz="1600" b="1" i="0" u="none" strike="noStrike" noProof="0">
                          <a:solidFill>
                            <a:schemeClr val="tx1"/>
                          </a:solidFill>
                          <a:effectLst/>
                          <a:latin typeface="Cambria"/>
                        </a:rPr>
                        <a:t>Fissured Tongue</a:t>
                      </a:r>
                      <a:endParaRPr lang="en-US" sz="1600" b="1" i="0" u="none" strike="noStrike" noProof="0">
                        <a:solidFill>
                          <a:schemeClr val="tx1"/>
                        </a:solidFill>
                        <a:effectLst/>
                      </a:endParaRPr>
                    </a:p>
                  </a:txBody>
                  <a:tcPr marT="91440" marB="9144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marL="0" marR="0" lvl="0" indent="0" algn="ctr">
                        <a:buNone/>
                      </a:pPr>
                      <a:r>
                        <a:rPr lang="en-US" sz="1600" b="1" i="0" u="none" strike="noStrike" noProof="0">
                          <a:effectLst/>
                          <a:latin typeface="Aptos"/>
                        </a:rPr>
                        <a:t>Fissured tongue is a harmless condition that causes grooves or furrows on the tongue</a:t>
                      </a:r>
                      <a:endParaRPr lang="en-US" sz="1600" b="1"/>
                    </a:p>
                  </a:txBody>
                  <a:tcPr marT="91440" marB="9144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4105582076"/>
                  </a:ext>
                </a:extLst>
              </a:tr>
            </a:tbl>
          </a:graphicData>
        </a:graphic>
      </p:graphicFrame>
      <p:sp>
        <p:nvSpPr>
          <p:cNvPr id="7" name="Rectangle 6">
            <a:extLst>
              <a:ext uri="{FF2B5EF4-FFF2-40B4-BE49-F238E27FC236}">
                <a16:creationId xmlns:a16="http://schemas.microsoft.com/office/drawing/2014/main" id="{1D513A2C-66F1-1B73-350B-3B4F9BE021F0}"/>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b="1">
                <a:solidFill>
                  <a:schemeClr val="tx1"/>
                </a:solidFill>
              </a:rPr>
              <a:t>IT21584718</a:t>
            </a:r>
            <a:r>
              <a:rPr lang="en-US">
                <a:solidFill>
                  <a:schemeClr val="tx1"/>
                </a:solidFill>
              </a:rPr>
              <a:t> </a:t>
            </a:r>
            <a:r>
              <a:rPr lang="en-US" sz="1800">
                <a:solidFill>
                  <a:schemeClr val="tx1"/>
                </a:solidFill>
              </a:rPr>
              <a:t>| &lt;</a:t>
            </a:r>
            <a:r>
              <a:rPr lang="en-US" sz="1800" b="1">
                <a:solidFill>
                  <a:schemeClr val="tx1"/>
                </a:solidFill>
              </a:rPr>
              <a:t>&lt;</a:t>
            </a:r>
            <a:r>
              <a:rPr lang="en-US" b="1">
                <a:solidFill>
                  <a:schemeClr val="tx1"/>
                </a:solidFill>
              </a:rPr>
              <a:t>PEIRIS P.H.R</a:t>
            </a:r>
            <a:r>
              <a:rPr lang="en-US" sz="1800" b="1">
                <a:solidFill>
                  <a:schemeClr val="tx1"/>
                </a:solidFill>
              </a:rPr>
              <a:t>&gt;&gt; </a:t>
            </a:r>
            <a:r>
              <a:rPr lang="en-US" sz="1800">
                <a:solidFill>
                  <a:schemeClr val="tx1"/>
                </a:solidFill>
              </a:rPr>
              <a:t>| </a:t>
            </a:r>
            <a:r>
              <a:rPr lang="en-US" sz="1800" b="0">
                <a:solidFill>
                  <a:schemeClr val="tx1"/>
                </a:solidFill>
              </a:rPr>
              <a:t>&lt;&lt;</a:t>
            </a:r>
            <a:r>
              <a:rPr lang="en-US">
                <a:solidFill>
                  <a:schemeClr val="tx1"/>
                </a:solidFill>
              </a:rPr>
              <a:t>R25-068</a:t>
            </a:r>
            <a:r>
              <a:rPr lang="en-US" sz="1800" b="0">
                <a:solidFill>
                  <a:schemeClr val="tx1"/>
                </a:solidFill>
              </a:rPr>
              <a:t>&gt;&gt;</a:t>
            </a:r>
            <a:endParaRPr lang="en-US">
              <a:solidFill>
                <a:schemeClr val="tx1"/>
              </a:solidFill>
            </a:endParaRPr>
          </a:p>
        </p:txBody>
      </p:sp>
      <p:pic>
        <p:nvPicPr>
          <p:cNvPr id="8" name="Picture 7" descr="A person sticking tongue out&#10;&#10;AI-generated content may be incorrect.">
            <a:extLst>
              <a:ext uri="{FF2B5EF4-FFF2-40B4-BE49-F238E27FC236}">
                <a16:creationId xmlns:a16="http://schemas.microsoft.com/office/drawing/2014/main" id="{89BD714F-E2C5-1A65-E18C-ED56EF5B4292}"/>
              </a:ext>
            </a:extLst>
          </p:cNvPr>
          <p:cNvPicPr>
            <a:picLocks noChangeAspect="1"/>
          </p:cNvPicPr>
          <p:nvPr/>
        </p:nvPicPr>
        <p:blipFill>
          <a:blip r:embed="rId2"/>
          <a:stretch>
            <a:fillRect/>
          </a:stretch>
        </p:blipFill>
        <p:spPr>
          <a:xfrm>
            <a:off x="530730" y="3828486"/>
            <a:ext cx="3963919" cy="2465273"/>
          </a:xfrm>
          <a:prstGeom prst="rect">
            <a:avLst/>
          </a:prstGeom>
        </p:spPr>
      </p:pic>
      <p:pic>
        <p:nvPicPr>
          <p:cNvPr id="9" name="Picture 8" descr="Close-up of a person&amp;#39;s mouth with teeth and black hair&#10;&#10;AI-generated content may be incorrect.">
            <a:extLst>
              <a:ext uri="{FF2B5EF4-FFF2-40B4-BE49-F238E27FC236}">
                <a16:creationId xmlns:a16="http://schemas.microsoft.com/office/drawing/2014/main" id="{F74241B7-2FA7-9702-56C3-0894C2083653}"/>
              </a:ext>
            </a:extLst>
          </p:cNvPr>
          <p:cNvPicPr>
            <a:picLocks noChangeAspect="1"/>
          </p:cNvPicPr>
          <p:nvPr/>
        </p:nvPicPr>
        <p:blipFill>
          <a:blip r:embed="rId3"/>
          <a:stretch>
            <a:fillRect/>
          </a:stretch>
        </p:blipFill>
        <p:spPr>
          <a:xfrm>
            <a:off x="4774303" y="4040716"/>
            <a:ext cx="2731744" cy="2253664"/>
          </a:xfrm>
          <a:prstGeom prst="rect">
            <a:avLst/>
          </a:prstGeom>
        </p:spPr>
      </p:pic>
      <p:pic>
        <p:nvPicPr>
          <p:cNvPr id="10" name="Picture 9" descr="A person licking a pink tongue&#10;&#10;AI-generated content may be incorrect.">
            <a:extLst>
              <a:ext uri="{FF2B5EF4-FFF2-40B4-BE49-F238E27FC236}">
                <a16:creationId xmlns:a16="http://schemas.microsoft.com/office/drawing/2014/main" id="{4B8BD691-DE69-DD2A-DB6B-B52996F63E91}"/>
              </a:ext>
            </a:extLst>
          </p:cNvPr>
          <p:cNvPicPr>
            <a:picLocks noChangeAspect="1"/>
          </p:cNvPicPr>
          <p:nvPr/>
        </p:nvPicPr>
        <p:blipFill>
          <a:blip r:embed="rId4"/>
          <a:stretch>
            <a:fillRect/>
          </a:stretch>
        </p:blipFill>
        <p:spPr>
          <a:xfrm>
            <a:off x="8169827" y="4037817"/>
            <a:ext cx="2617222" cy="2350644"/>
          </a:xfrm>
          <a:prstGeom prst="rect">
            <a:avLst/>
          </a:prstGeom>
        </p:spPr>
      </p:pic>
    </p:spTree>
    <p:extLst>
      <p:ext uri="{BB962C8B-B14F-4D97-AF65-F5344CB8AC3E}">
        <p14:creationId xmlns:p14="http://schemas.microsoft.com/office/powerpoint/2010/main" val="34499640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2F6FBBB-4C77-4A4B-BE54-96D3B0DF3BB7}"/>
              </a:ext>
            </a:extLst>
          </p:cNvPr>
          <p:cNvSpPr>
            <a:spLocks noGrp="1"/>
          </p:cNvSpPr>
          <p:nvPr>
            <p:ph type="title"/>
          </p:nvPr>
        </p:nvSpPr>
        <p:spPr>
          <a:xfrm>
            <a:off x="102393" y="245268"/>
            <a:ext cx="6301741" cy="792162"/>
          </a:xfrm>
        </p:spPr>
        <p:txBody>
          <a:bodyPr>
            <a:noAutofit/>
          </a:bodyPr>
          <a:lstStyle/>
          <a:p>
            <a:pPr algn="l"/>
            <a:r>
              <a:rPr lang="en-US" b="1">
                <a:solidFill>
                  <a:srgbClr val="783F04"/>
                </a:solidFill>
                <a:latin typeface="Arial"/>
                <a:cs typeface="Arial"/>
              </a:rPr>
              <a:t>Research Problems</a:t>
            </a:r>
            <a:endParaRPr lang="en-US"/>
          </a:p>
        </p:txBody>
      </p:sp>
      <p:sp>
        <p:nvSpPr>
          <p:cNvPr id="8" name="Rectangle 7">
            <a:extLst>
              <a:ext uri="{FF2B5EF4-FFF2-40B4-BE49-F238E27FC236}">
                <a16:creationId xmlns:a16="http://schemas.microsoft.com/office/drawing/2014/main" id="{E687288E-85FA-3C7F-736B-3C0824DA1C79}"/>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b="1">
                <a:solidFill>
                  <a:schemeClr val="tx1"/>
                </a:solidFill>
              </a:rPr>
              <a:t>IT21584718</a:t>
            </a:r>
            <a:r>
              <a:rPr lang="en-US">
                <a:solidFill>
                  <a:schemeClr val="tx1"/>
                </a:solidFill>
              </a:rPr>
              <a:t> </a:t>
            </a:r>
            <a:r>
              <a:rPr lang="en-US" sz="1800">
                <a:solidFill>
                  <a:schemeClr val="tx1"/>
                </a:solidFill>
              </a:rPr>
              <a:t>| &lt;</a:t>
            </a:r>
            <a:r>
              <a:rPr lang="en-US" sz="1800" b="1">
                <a:solidFill>
                  <a:schemeClr val="tx1"/>
                </a:solidFill>
              </a:rPr>
              <a:t>&lt;</a:t>
            </a:r>
            <a:r>
              <a:rPr lang="en-US" b="1">
                <a:solidFill>
                  <a:schemeClr val="tx1"/>
                </a:solidFill>
              </a:rPr>
              <a:t>PEIRIS P.H.R</a:t>
            </a:r>
            <a:r>
              <a:rPr lang="en-US" sz="1800" b="1">
                <a:solidFill>
                  <a:schemeClr val="tx1"/>
                </a:solidFill>
              </a:rPr>
              <a:t>&gt;&gt; </a:t>
            </a:r>
            <a:r>
              <a:rPr lang="en-US" sz="1800">
                <a:solidFill>
                  <a:schemeClr val="tx1"/>
                </a:solidFill>
              </a:rPr>
              <a:t>| </a:t>
            </a:r>
            <a:r>
              <a:rPr lang="en-US" sz="1800" b="0">
                <a:solidFill>
                  <a:schemeClr val="tx1"/>
                </a:solidFill>
              </a:rPr>
              <a:t>&lt;&lt;</a:t>
            </a:r>
            <a:r>
              <a:rPr lang="en-US">
                <a:solidFill>
                  <a:schemeClr val="tx1"/>
                </a:solidFill>
              </a:rPr>
              <a:t>R25-068</a:t>
            </a:r>
            <a:r>
              <a:rPr lang="en-US" sz="1800" b="0">
                <a:solidFill>
                  <a:schemeClr val="tx1"/>
                </a:solidFill>
              </a:rPr>
              <a:t>&gt;&gt;</a:t>
            </a:r>
            <a:endParaRPr lang="en-US">
              <a:solidFill>
                <a:schemeClr val="tx1"/>
              </a:solidFill>
            </a:endParaRPr>
          </a:p>
        </p:txBody>
      </p:sp>
      <p:sp>
        <p:nvSpPr>
          <p:cNvPr id="9" name="TextBox 8">
            <a:extLst>
              <a:ext uri="{FF2B5EF4-FFF2-40B4-BE49-F238E27FC236}">
                <a16:creationId xmlns:a16="http://schemas.microsoft.com/office/drawing/2014/main" id="{6D2C3053-86F5-9A98-877B-6A88C475ABCF}"/>
              </a:ext>
            </a:extLst>
          </p:cNvPr>
          <p:cNvSpPr txBox="1"/>
          <p:nvPr/>
        </p:nvSpPr>
        <p:spPr>
          <a:xfrm>
            <a:off x="107053" y="1042067"/>
            <a:ext cx="7685688" cy="56938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Arial"/>
              <a:buChar char="•"/>
            </a:pPr>
            <a:r>
              <a:rPr lang="en-US" sz="2400" b="1">
                <a:ea typeface="+mn-lt"/>
                <a:cs typeface="+mn-lt"/>
              </a:rPr>
              <a:t>No scalable AI-based tongue diagnosis tools</a:t>
            </a:r>
            <a:r>
              <a:rPr lang="en-US" sz="2400">
                <a:ea typeface="+mn-lt"/>
                <a:cs typeface="+mn-lt"/>
              </a:rPr>
              <a:t> exist for health assessments.</a:t>
            </a:r>
          </a:p>
          <a:p>
            <a:endParaRPr lang="en-US" sz="2400">
              <a:ea typeface="+mn-lt"/>
              <a:cs typeface="+mn-lt"/>
            </a:endParaRPr>
          </a:p>
          <a:p>
            <a:pPr>
              <a:buFont typeface="Arial"/>
              <a:buChar char="•"/>
            </a:pPr>
            <a:r>
              <a:rPr lang="en-US" sz="2400" b="1">
                <a:ea typeface="+mn-lt"/>
                <a:cs typeface="+mn-lt"/>
              </a:rPr>
              <a:t>Challenges in combining AI with Ayurvedic principles</a:t>
            </a:r>
            <a:r>
              <a:rPr lang="en-US" sz="2400">
                <a:ea typeface="+mn-lt"/>
                <a:cs typeface="+mn-lt"/>
              </a:rPr>
              <a:t> for accurate analysis.</a:t>
            </a:r>
            <a:endParaRPr lang="en-US" sz="2400">
              <a:ea typeface="Cambria"/>
            </a:endParaRPr>
          </a:p>
          <a:p>
            <a:endParaRPr lang="en-US" sz="2400">
              <a:ea typeface="+mn-lt"/>
              <a:cs typeface="+mn-lt"/>
            </a:endParaRPr>
          </a:p>
          <a:p>
            <a:pPr>
              <a:buFont typeface="Arial"/>
              <a:buChar char="•"/>
            </a:pPr>
            <a:r>
              <a:rPr lang="en-US" sz="2400" b="1">
                <a:ea typeface="+mn-lt"/>
                <a:cs typeface="+mn-lt"/>
              </a:rPr>
              <a:t>Lack of sufficient and structured tongue image datasets</a:t>
            </a:r>
            <a:r>
              <a:rPr lang="en-US" sz="2400">
                <a:ea typeface="+mn-lt"/>
                <a:cs typeface="+mn-lt"/>
              </a:rPr>
              <a:t> for AI training.</a:t>
            </a:r>
          </a:p>
          <a:p>
            <a:endParaRPr lang="en-US" sz="2400">
              <a:ea typeface="+mn-lt"/>
              <a:cs typeface="+mn-lt"/>
            </a:endParaRPr>
          </a:p>
          <a:p>
            <a:pPr>
              <a:buFont typeface="Arial"/>
              <a:buChar char="•"/>
            </a:pPr>
            <a:r>
              <a:rPr lang="en-US" sz="2400" b="1">
                <a:ea typeface="+mn-lt"/>
                <a:cs typeface="+mn-lt"/>
              </a:rPr>
              <a:t>No personalized health tracking</a:t>
            </a:r>
            <a:r>
              <a:rPr lang="en-US" sz="2400">
                <a:ea typeface="+mn-lt"/>
                <a:cs typeface="+mn-lt"/>
              </a:rPr>
              <a:t> based on tongue condition changes.</a:t>
            </a:r>
          </a:p>
          <a:p>
            <a:endParaRPr lang="en-US" sz="2400">
              <a:ea typeface="+mn-lt"/>
              <a:cs typeface="+mn-lt"/>
            </a:endParaRPr>
          </a:p>
          <a:p>
            <a:pPr>
              <a:buFont typeface="Arial"/>
              <a:buChar char="•"/>
            </a:pPr>
            <a:r>
              <a:rPr lang="en-US" sz="2400" b="1">
                <a:ea typeface="+mn-lt"/>
                <a:cs typeface="+mn-lt"/>
              </a:rPr>
              <a:t>Limited access to AI-driven Ayurvedic health solutions</a:t>
            </a:r>
            <a:r>
              <a:rPr lang="en-US" sz="2400">
                <a:ea typeface="+mn-lt"/>
                <a:cs typeface="+mn-lt"/>
              </a:rPr>
              <a:t>, especially in rural areas.</a:t>
            </a:r>
          </a:p>
          <a:p>
            <a:pPr marL="457200" indent="-457200">
              <a:buFont typeface="Arial"/>
              <a:buChar char="•"/>
            </a:pPr>
            <a:endParaRPr lang="en-US" sz="2800">
              <a:ea typeface="Cambria"/>
            </a:endParaRPr>
          </a:p>
        </p:txBody>
      </p:sp>
      <p:pic>
        <p:nvPicPr>
          <p:cNvPr id="10" name="Picture 9" descr="A cartoon character standing on a path with arrows pointing to the sides&#10;&#10;AI-generated content may be incorrect.">
            <a:extLst>
              <a:ext uri="{FF2B5EF4-FFF2-40B4-BE49-F238E27FC236}">
                <a16:creationId xmlns:a16="http://schemas.microsoft.com/office/drawing/2014/main" id="{39C982C8-9286-7FA4-59C4-5F025C25BC3A}"/>
              </a:ext>
            </a:extLst>
          </p:cNvPr>
          <p:cNvPicPr>
            <a:picLocks noChangeAspect="1"/>
          </p:cNvPicPr>
          <p:nvPr/>
        </p:nvPicPr>
        <p:blipFill>
          <a:blip r:embed="rId2"/>
          <a:stretch>
            <a:fillRect/>
          </a:stretch>
        </p:blipFill>
        <p:spPr>
          <a:xfrm>
            <a:off x="8390447" y="528952"/>
            <a:ext cx="3219810" cy="5100772"/>
          </a:xfrm>
          <a:prstGeom prst="rect">
            <a:avLst/>
          </a:prstGeom>
        </p:spPr>
      </p:pic>
    </p:spTree>
    <p:extLst>
      <p:ext uri="{BB962C8B-B14F-4D97-AF65-F5344CB8AC3E}">
        <p14:creationId xmlns:p14="http://schemas.microsoft.com/office/powerpoint/2010/main" val="12395607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2F6FBBB-4C77-4A4B-BE54-96D3B0DF3BB7}"/>
              </a:ext>
            </a:extLst>
          </p:cNvPr>
          <p:cNvSpPr>
            <a:spLocks noGrp="1"/>
          </p:cNvSpPr>
          <p:nvPr>
            <p:ph type="title"/>
          </p:nvPr>
        </p:nvSpPr>
        <p:spPr>
          <a:xfrm>
            <a:off x="-4763" y="-4762"/>
            <a:ext cx="11684000" cy="792162"/>
          </a:xfrm>
        </p:spPr>
        <p:txBody>
          <a:bodyPr>
            <a:normAutofit/>
          </a:bodyPr>
          <a:lstStyle/>
          <a:p>
            <a:pPr algn="l"/>
            <a:r>
              <a:rPr lang="en-US" sz="3000" b="1">
                <a:latin typeface="Arial"/>
                <a:cs typeface="Arial"/>
              </a:rPr>
              <a:t>Research Objectives</a:t>
            </a:r>
          </a:p>
          <a:p>
            <a:pPr algn="l"/>
            <a:r>
              <a:rPr lang="en-US" sz="800">
                <a:latin typeface="Cambria"/>
                <a:ea typeface="Cambria"/>
              </a:rPr>
              <a:t>  </a:t>
            </a:r>
            <a:endParaRPr lang="en-US"/>
          </a:p>
        </p:txBody>
      </p:sp>
      <p:sp>
        <p:nvSpPr>
          <p:cNvPr id="4" name="Rectangle 3">
            <a:extLst>
              <a:ext uri="{FF2B5EF4-FFF2-40B4-BE49-F238E27FC236}">
                <a16:creationId xmlns:a16="http://schemas.microsoft.com/office/drawing/2014/main" id="{68918CEE-3EE9-4768-90C7-A115F59361EE}"/>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b="1">
                <a:solidFill>
                  <a:schemeClr val="tx1"/>
                </a:solidFill>
              </a:rPr>
              <a:t>IT21584718</a:t>
            </a:r>
            <a:r>
              <a:rPr lang="en-US">
                <a:solidFill>
                  <a:schemeClr val="tx1"/>
                </a:solidFill>
              </a:rPr>
              <a:t> </a:t>
            </a:r>
            <a:r>
              <a:rPr lang="en-US" sz="1800">
                <a:solidFill>
                  <a:schemeClr val="tx1"/>
                </a:solidFill>
              </a:rPr>
              <a:t>| &lt;</a:t>
            </a:r>
            <a:r>
              <a:rPr lang="en-US" sz="1800" b="1">
                <a:solidFill>
                  <a:schemeClr val="tx1"/>
                </a:solidFill>
              </a:rPr>
              <a:t>&lt;</a:t>
            </a:r>
            <a:r>
              <a:rPr lang="en-US" b="1">
                <a:solidFill>
                  <a:schemeClr val="tx1"/>
                </a:solidFill>
              </a:rPr>
              <a:t>PEIRIS P.H.R</a:t>
            </a:r>
            <a:r>
              <a:rPr lang="en-US" sz="1800" b="1">
                <a:solidFill>
                  <a:schemeClr val="tx1"/>
                </a:solidFill>
              </a:rPr>
              <a:t>&gt;&gt; </a:t>
            </a:r>
            <a:r>
              <a:rPr lang="en-US" sz="1800">
                <a:solidFill>
                  <a:schemeClr val="tx1"/>
                </a:solidFill>
              </a:rPr>
              <a:t>| </a:t>
            </a:r>
            <a:r>
              <a:rPr lang="en-US" sz="1800" b="0">
                <a:solidFill>
                  <a:schemeClr val="tx1"/>
                </a:solidFill>
              </a:rPr>
              <a:t>&lt;&lt;</a:t>
            </a:r>
            <a:r>
              <a:rPr lang="en-US">
                <a:solidFill>
                  <a:schemeClr val="tx1"/>
                </a:solidFill>
              </a:rPr>
              <a:t>R25-068</a:t>
            </a:r>
            <a:r>
              <a:rPr lang="en-US" sz="1800" b="0">
                <a:solidFill>
                  <a:schemeClr val="tx1"/>
                </a:solidFill>
              </a:rPr>
              <a:t>&gt;&gt;</a:t>
            </a:r>
            <a:endParaRPr lang="en-US">
              <a:solidFill>
                <a:schemeClr val="tx1"/>
              </a:solidFill>
            </a:endParaRPr>
          </a:p>
        </p:txBody>
      </p:sp>
      <p:sp>
        <p:nvSpPr>
          <p:cNvPr id="3" name="Content Placeholder 2">
            <a:extLst>
              <a:ext uri="{FF2B5EF4-FFF2-40B4-BE49-F238E27FC236}">
                <a16:creationId xmlns:a16="http://schemas.microsoft.com/office/drawing/2014/main" id="{09E4E24A-3551-4A27-1EFA-CF70D70F4B90}"/>
              </a:ext>
            </a:extLst>
          </p:cNvPr>
          <p:cNvSpPr>
            <a:spLocks noGrp="1"/>
          </p:cNvSpPr>
          <p:nvPr>
            <p:ph idx="1"/>
          </p:nvPr>
        </p:nvSpPr>
        <p:spPr>
          <a:xfrm>
            <a:off x="507206" y="785813"/>
            <a:ext cx="3897313" cy="633412"/>
          </a:xfrm>
        </p:spPr>
        <p:txBody>
          <a:bodyPr vert="horz" lIns="91440" tIns="45720" rIns="91440" bIns="45720" rtlCol="0" anchor="t">
            <a:normAutofit fontScale="92500" lnSpcReduction="10000"/>
          </a:bodyPr>
          <a:lstStyle/>
          <a:p>
            <a:pPr marL="0" indent="0">
              <a:buNone/>
            </a:pPr>
            <a:r>
              <a:rPr lang="en-US" sz="3000" b="1">
                <a:solidFill>
                  <a:srgbClr val="0000FF"/>
                </a:solidFill>
                <a:latin typeface="Arial"/>
                <a:cs typeface="Arial"/>
              </a:rPr>
              <a:t>Specific Objective</a:t>
            </a:r>
            <a:endParaRPr lang="en-US" sz="3000">
              <a:ea typeface="Cambria"/>
            </a:endParaRPr>
          </a:p>
          <a:p>
            <a:r>
              <a:rPr lang="en-US" sz="800">
                <a:ea typeface="Cambria"/>
              </a:rPr>
              <a:t>  </a:t>
            </a:r>
            <a:endParaRPr lang="en-US"/>
          </a:p>
          <a:p>
            <a:endParaRPr lang="en-US">
              <a:ea typeface="Cambria"/>
            </a:endParaRPr>
          </a:p>
        </p:txBody>
      </p:sp>
      <p:sp>
        <p:nvSpPr>
          <p:cNvPr id="7" name="TextBox 6">
            <a:extLst>
              <a:ext uri="{FF2B5EF4-FFF2-40B4-BE49-F238E27FC236}">
                <a16:creationId xmlns:a16="http://schemas.microsoft.com/office/drawing/2014/main" id="{9D254EDE-5974-A77F-B655-500121AD8D73}"/>
              </a:ext>
            </a:extLst>
          </p:cNvPr>
          <p:cNvSpPr txBox="1"/>
          <p:nvPr/>
        </p:nvSpPr>
        <p:spPr>
          <a:xfrm>
            <a:off x="511910" y="1279651"/>
            <a:ext cx="11680155"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US" sz="2400">
                <a:ea typeface="+mn-lt"/>
                <a:cs typeface="+mn-lt"/>
              </a:rPr>
              <a:t>To develop an AI-powered mobile application that analyzes tongue images to detect health conditions, monitor progress over time, and provide personalized wellness recommendations based on Ayurvedic insights.</a:t>
            </a:r>
          </a:p>
        </p:txBody>
      </p:sp>
      <p:sp>
        <p:nvSpPr>
          <p:cNvPr id="9" name="Content Placeholder 2">
            <a:extLst>
              <a:ext uri="{FF2B5EF4-FFF2-40B4-BE49-F238E27FC236}">
                <a16:creationId xmlns:a16="http://schemas.microsoft.com/office/drawing/2014/main" id="{1371736F-EFC5-EEF9-FC23-195670EC8090}"/>
              </a:ext>
            </a:extLst>
          </p:cNvPr>
          <p:cNvSpPr txBox="1">
            <a:spLocks/>
          </p:cNvSpPr>
          <p:nvPr/>
        </p:nvSpPr>
        <p:spPr>
          <a:xfrm>
            <a:off x="492919" y="2593182"/>
            <a:ext cx="3897313" cy="633412"/>
          </a:xfrm>
          <a:prstGeom prst="rect">
            <a:avLst/>
          </a:prstGeom>
        </p:spPr>
        <p:txBody>
          <a:bodyPr vert="horz" lIns="91440" tIns="45720" rIns="91440" bIns="45720" rtlCol="0" anchor="t">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Wingdings" pitchFamily="2" charset="2"/>
              <a:buChar char="Ø"/>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Wingdings" pitchFamily="2" charset="2"/>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3000" b="1">
                <a:solidFill>
                  <a:srgbClr val="0000FF"/>
                </a:solidFill>
                <a:latin typeface="Arial"/>
                <a:cs typeface="Arial"/>
              </a:rPr>
              <a:t>Sub Objectives</a:t>
            </a:r>
            <a:endParaRPr lang="en-US"/>
          </a:p>
        </p:txBody>
      </p:sp>
      <p:sp>
        <p:nvSpPr>
          <p:cNvPr id="10" name="TextBox 9">
            <a:extLst>
              <a:ext uri="{FF2B5EF4-FFF2-40B4-BE49-F238E27FC236}">
                <a16:creationId xmlns:a16="http://schemas.microsoft.com/office/drawing/2014/main" id="{FFBD7CD9-45D8-6BFA-2A50-76BF6B6C6877}"/>
              </a:ext>
            </a:extLst>
          </p:cNvPr>
          <p:cNvSpPr txBox="1"/>
          <p:nvPr/>
        </p:nvSpPr>
        <p:spPr>
          <a:xfrm>
            <a:off x="488098" y="3220370"/>
            <a:ext cx="11680155" cy="32932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Arial"/>
              <a:buChar char="•"/>
            </a:pPr>
            <a:r>
              <a:rPr lang="en-US" sz="2000" b="1">
                <a:ea typeface="+mn-lt"/>
                <a:cs typeface="+mn-lt"/>
              </a:rPr>
              <a:t>Collect a diverse dataset of tongue images</a:t>
            </a:r>
            <a:r>
              <a:rPr lang="en-US" sz="2000">
                <a:ea typeface="+mn-lt"/>
                <a:cs typeface="+mn-lt"/>
              </a:rPr>
              <a:t> labeled with different health conditions (e.g., normal, dehydrated, inflamed, and infected) to improve AI accuracy.</a:t>
            </a:r>
          </a:p>
          <a:p>
            <a:pPr>
              <a:buFont typeface="Arial"/>
              <a:buChar char="•"/>
            </a:pPr>
            <a:r>
              <a:rPr lang="en-US" sz="2000" b="1">
                <a:ea typeface="+mn-lt"/>
                <a:cs typeface="+mn-lt"/>
              </a:rPr>
              <a:t>Train and deploy a deep learning model</a:t>
            </a:r>
            <a:r>
              <a:rPr lang="en-US" sz="2000">
                <a:ea typeface="+mn-lt"/>
                <a:cs typeface="+mn-lt"/>
              </a:rPr>
              <a:t> to analyze tongue images, detect health risks, and track changes over time.</a:t>
            </a:r>
          </a:p>
          <a:p>
            <a:pPr>
              <a:buFont typeface="Arial"/>
              <a:buChar char="•"/>
            </a:pPr>
            <a:r>
              <a:rPr lang="en-US" sz="2000" b="1">
                <a:ea typeface="+mn-lt"/>
                <a:cs typeface="+mn-lt"/>
              </a:rPr>
              <a:t>Develop a personalized wellness recommendation system</a:t>
            </a:r>
            <a:r>
              <a:rPr lang="en-US" sz="2000">
                <a:ea typeface="+mn-lt"/>
                <a:cs typeface="+mn-lt"/>
              </a:rPr>
              <a:t> based on AI analysis and Ayurvedic insights to suggest hydration, nutrition, and lifestyle improvements.</a:t>
            </a:r>
            <a:endParaRPr lang="en-US" sz="2000">
              <a:ea typeface="Cambria"/>
            </a:endParaRPr>
          </a:p>
          <a:p>
            <a:pPr>
              <a:buFont typeface="Arial"/>
              <a:buChar char="•"/>
            </a:pPr>
            <a:r>
              <a:rPr lang="en-US" sz="2000" b="1">
                <a:ea typeface="+mn-lt"/>
                <a:cs typeface="+mn-lt"/>
              </a:rPr>
              <a:t>Integrate a notification system</a:t>
            </a:r>
            <a:r>
              <a:rPr lang="en-US" sz="2000">
                <a:ea typeface="+mn-lt"/>
                <a:cs typeface="+mn-lt"/>
              </a:rPr>
              <a:t> to remind users about hydration, nutrition intake, and health progress monitoring.</a:t>
            </a:r>
            <a:endParaRPr lang="en-US" sz="2000">
              <a:ea typeface="Cambria"/>
            </a:endParaRPr>
          </a:p>
          <a:p>
            <a:pPr>
              <a:buFont typeface="Arial"/>
              <a:buChar char="•"/>
            </a:pPr>
            <a:r>
              <a:rPr lang="en-US" sz="2000" b="1">
                <a:ea typeface="+mn-lt"/>
                <a:cs typeface="+mn-lt"/>
              </a:rPr>
              <a:t>Ensure secure data storage and privacy measures</a:t>
            </a:r>
            <a:r>
              <a:rPr lang="en-US" sz="2000">
                <a:ea typeface="+mn-lt"/>
                <a:cs typeface="+mn-lt"/>
              </a:rPr>
              <a:t> to protect user health</a:t>
            </a:r>
            <a:r>
              <a:rPr lang="en-US" sz="2400">
                <a:ea typeface="+mn-lt"/>
                <a:cs typeface="+mn-lt"/>
              </a:rPr>
              <a:t> information.</a:t>
            </a:r>
            <a:endParaRPr lang="en-US">
              <a:ea typeface="+mn-lt"/>
              <a:cs typeface="+mn-lt"/>
            </a:endParaRPr>
          </a:p>
          <a:p>
            <a:pPr marL="342900" indent="-342900">
              <a:buFont typeface="Arial"/>
              <a:buChar char="•"/>
            </a:pPr>
            <a:endParaRPr lang="en-US" sz="2400">
              <a:ea typeface="+mn-lt"/>
              <a:cs typeface="+mn-lt"/>
            </a:endParaRPr>
          </a:p>
        </p:txBody>
      </p:sp>
    </p:spTree>
    <p:extLst>
      <p:ext uri="{BB962C8B-B14F-4D97-AF65-F5344CB8AC3E}">
        <p14:creationId xmlns:p14="http://schemas.microsoft.com/office/powerpoint/2010/main" val="372121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8B50431-B73C-8441-AEF7-3374B83C7C29}"/>
              </a:ext>
            </a:extLst>
          </p:cNvPr>
          <p:cNvSpPr>
            <a:spLocks noGrp="1"/>
          </p:cNvSpPr>
          <p:nvPr/>
        </p:nvSpPr>
        <p:spPr>
          <a:xfrm>
            <a:off x="381000" y="328612"/>
            <a:ext cx="5553075" cy="838202"/>
          </a:xfrm>
          <a:prstGeom prst="rect">
            <a:avLst/>
          </a:prstGeom>
        </p:spPr>
        <p:txBody>
          <a:bodyPr vert="horz" lIns="91440" tIns="45720" rIns="91440" bIns="45720" rtlCol="0" anchor="t">
            <a:normAutofit/>
          </a:bodyPr>
          <a:lstStyle>
            <a:lvl1pPr algn="l" defTabSz="914400" rtl="0" eaLnBrk="1" latinLnBrk="0" hangingPunct="1">
              <a:spcBef>
                <a:spcPct val="0"/>
              </a:spcBef>
              <a:buNone/>
              <a:defRPr sz="4000" b="1" kern="1200" cap="all">
                <a:solidFill>
                  <a:schemeClr val="tx1"/>
                </a:solidFill>
                <a:latin typeface="Adobe Devanagari" pitchFamily="18" charset="0"/>
                <a:ea typeface="+mj-ea"/>
                <a:cs typeface="Adobe Devanagari" pitchFamily="18" charset="0"/>
              </a:defRPr>
            </a:lvl1pPr>
          </a:lstStyle>
          <a:p>
            <a:endParaRPr lang="en-US">
              <a:solidFill>
                <a:srgbClr val="783F04"/>
              </a:solidFill>
              <a:latin typeface="Arial"/>
              <a:cs typeface="Arial"/>
            </a:endParaRPr>
          </a:p>
        </p:txBody>
      </p:sp>
      <p:sp>
        <p:nvSpPr>
          <p:cNvPr id="5" name="Title 1">
            <a:extLst>
              <a:ext uri="{FF2B5EF4-FFF2-40B4-BE49-F238E27FC236}">
                <a16:creationId xmlns:a16="http://schemas.microsoft.com/office/drawing/2014/main" id="{D67463E6-8EBF-8727-826A-7E56E82E4348}"/>
              </a:ext>
            </a:extLst>
          </p:cNvPr>
          <p:cNvSpPr txBox="1">
            <a:spLocks/>
          </p:cNvSpPr>
          <p:nvPr/>
        </p:nvSpPr>
        <p:spPr>
          <a:xfrm>
            <a:off x="491889" y="330093"/>
            <a:ext cx="5553075" cy="838202"/>
          </a:xfrm>
          <a:prstGeom prst="rect">
            <a:avLst/>
          </a:prstGeom>
        </p:spPr>
        <p:txBody>
          <a:bodyPr vert="horz" lIns="91440" tIns="45720" rIns="91440" bIns="45720" rtlCol="0" anchor="t">
            <a:normAutofit/>
          </a:bodyPr>
          <a:lstStyle>
            <a:defPPr>
              <a:defRPr lang="en-US"/>
            </a:defPPr>
            <a:lvl1pPr marL="0" algn="l" defTabSz="914400" rtl="0" eaLnBrk="1" latinLnBrk="0" hangingPunct="1">
              <a:spcBef>
                <a:spcPct val="0"/>
              </a:spcBef>
              <a:buNone/>
              <a:defRPr sz="4000" b="1" kern="1200" cap="all">
                <a:solidFill>
                  <a:schemeClr val="tx1"/>
                </a:solidFill>
                <a:latin typeface="Adobe Devanagari" pitchFamily="18" charset="0"/>
                <a:ea typeface="+mj-ea"/>
                <a:cs typeface="Adobe Devanagari"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atin typeface="Arial"/>
                <a:cs typeface="Arial"/>
              </a:rPr>
              <a:t>System Diagram</a:t>
            </a:r>
            <a:endParaRPr lang="en-US"/>
          </a:p>
        </p:txBody>
      </p:sp>
      <p:sp>
        <p:nvSpPr>
          <p:cNvPr id="7" name="Rectangle 6">
            <a:extLst>
              <a:ext uri="{FF2B5EF4-FFF2-40B4-BE49-F238E27FC236}">
                <a16:creationId xmlns:a16="http://schemas.microsoft.com/office/drawing/2014/main" id="{CFF29ADE-0FA4-F847-A0B4-7A807DEF6733}"/>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b="1">
                <a:solidFill>
                  <a:schemeClr val="tx1"/>
                </a:solidFill>
              </a:rPr>
              <a:t>IT21584718</a:t>
            </a:r>
            <a:r>
              <a:rPr lang="en-US">
                <a:solidFill>
                  <a:schemeClr val="tx1"/>
                </a:solidFill>
              </a:rPr>
              <a:t> </a:t>
            </a:r>
            <a:r>
              <a:rPr lang="en-US" sz="1800">
                <a:solidFill>
                  <a:schemeClr val="tx1"/>
                </a:solidFill>
              </a:rPr>
              <a:t>| &lt;</a:t>
            </a:r>
            <a:r>
              <a:rPr lang="en-US" sz="1800" b="1">
                <a:solidFill>
                  <a:schemeClr val="tx1"/>
                </a:solidFill>
              </a:rPr>
              <a:t>&lt;</a:t>
            </a:r>
            <a:r>
              <a:rPr lang="en-US" b="1">
                <a:solidFill>
                  <a:schemeClr val="tx1"/>
                </a:solidFill>
              </a:rPr>
              <a:t>PEIRIS P.H.R</a:t>
            </a:r>
            <a:r>
              <a:rPr lang="en-US" sz="1800" b="1">
                <a:solidFill>
                  <a:schemeClr val="tx1"/>
                </a:solidFill>
              </a:rPr>
              <a:t>&gt;&gt; </a:t>
            </a:r>
            <a:r>
              <a:rPr lang="en-US" sz="1800">
                <a:solidFill>
                  <a:schemeClr val="tx1"/>
                </a:solidFill>
              </a:rPr>
              <a:t>| </a:t>
            </a:r>
            <a:r>
              <a:rPr lang="en-US" sz="1800" b="0">
                <a:solidFill>
                  <a:schemeClr val="tx1"/>
                </a:solidFill>
              </a:rPr>
              <a:t>&lt;&lt;</a:t>
            </a:r>
            <a:r>
              <a:rPr lang="en-US">
                <a:solidFill>
                  <a:schemeClr val="tx1"/>
                </a:solidFill>
              </a:rPr>
              <a:t>R25-068</a:t>
            </a:r>
            <a:r>
              <a:rPr lang="en-US" sz="1800" b="0">
                <a:solidFill>
                  <a:schemeClr val="tx1"/>
                </a:solidFill>
              </a:rPr>
              <a:t>&gt;&gt;</a:t>
            </a:r>
            <a:endParaRPr lang="en-US">
              <a:solidFill>
                <a:schemeClr val="tx1"/>
              </a:solidFill>
            </a:endParaRPr>
          </a:p>
        </p:txBody>
      </p:sp>
      <p:pic>
        <p:nvPicPr>
          <p:cNvPr id="3" name="Picture 2" descr="A diagram of a child&#10;&#10;AI-generated content may be incorrect.">
            <a:extLst>
              <a:ext uri="{FF2B5EF4-FFF2-40B4-BE49-F238E27FC236}">
                <a16:creationId xmlns:a16="http://schemas.microsoft.com/office/drawing/2014/main" id="{59AC9D00-207A-6CA3-9B4B-2D65ED03D19E}"/>
              </a:ext>
            </a:extLst>
          </p:cNvPr>
          <p:cNvPicPr>
            <a:picLocks noChangeAspect="1"/>
          </p:cNvPicPr>
          <p:nvPr/>
        </p:nvPicPr>
        <p:blipFill>
          <a:blip r:embed="rId2"/>
          <a:stretch>
            <a:fillRect/>
          </a:stretch>
        </p:blipFill>
        <p:spPr>
          <a:xfrm>
            <a:off x="1235675" y="1169900"/>
            <a:ext cx="10565028" cy="5352282"/>
          </a:xfrm>
          <a:prstGeom prst="rect">
            <a:avLst/>
          </a:prstGeom>
        </p:spPr>
      </p:pic>
    </p:spTree>
    <p:extLst>
      <p:ext uri="{BB962C8B-B14F-4D97-AF65-F5344CB8AC3E}">
        <p14:creationId xmlns:p14="http://schemas.microsoft.com/office/powerpoint/2010/main" val="23695606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968E7-E6E2-23A4-B9ED-7ADA8FA76016}"/>
              </a:ext>
            </a:extLst>
          </p:cNvPr>
          <p:cNvSpPr>
            <a:spLocks noGrp="1"/>
          </p:cNvSpPr>
          <p:nvPr>
            <p:ph type="title"/>
          </p:nvPr>
        </p:nvSpPr>
        <p:spPr/>
        <p:txBody>
          <a:bodyPr/>
          <a:lstStyle/>
          <a:p>
            <a:r>
              <a:rPr lang="en-US" u="sng">
                <a:latin typeface="Adobe Devanagari"/>
              </a:rPr>
              <a:t>Technologies to be used</a:t>
            </a:r>
            <a:endParaRPr lang="en-US" u="sng"/>
          </a:p>
        </p:txBody>
      </p:sp>
      <p:sp>
        <p:nvSpPr>
          <p:cNvPr id="3" name="Content Placeholder 2">
            <a:extLst>
              <a:ext uri="{FF2B5EF4-FFF2-40B4-BE49-F238E27FC236}">
                <a16:creationId xmlns:a16="http://schemas.microsoft.com/office/drawing/2014/main" id="{E651A15C-5E19-161E-14FD-9EDB9E8BC3D2}"/>
              </a:ext>
            </a:extLst>
          </p:cNvPr>
          <p:cNvSpPr>
            <a:spLocks noGrp="1"/>
          </p:cNvSpPr>
          <p:nvPr>
            <p:ph idx="1"/>
          </p:nvPr>
        </p:nvSpPr>
        <p:spPr/>
        <p:txBody>
          <a:bodyPr vert="horz" lIns="91440" tIns="45720" rIns="91440" bIns="45720" rtlCol="0" anchor="t">
            <a:normAutofit/>
          </a:bodyPr>
          <a:lstStyle/>
          <a:p>
            <a:r>
              <a:rPr lang="en-US" dirty="0">
                <a:ea typeface="Cambria"/>
              </a:rPr>
              <a:t>Machine Learning – Resnet   </a:t>
            </a:r>
          </a:p>
          <a:p>
            <a:r>
              <a:rPr lang="en-US" dirty="0">
                <a:ea typeface="Cambria"/>
              </a:rPr>
              <a:t> Backend – node.js</a:t>
            </a:r>
          </a:p>
          <a:p>
            <a:r>
              <a:rPr lang="en-US" dirty="0">
                <a:ea typeface="Cambria"/>
              </a:rPr>
              <a:t> Mobile app development- flutter                               </a:t>
            </a:r>
          </a:p>
          <a:p>
            <a:r>
              <a:rPr lang="en-US" dirty="0">
                <a:ea typeface="Cambria"/>
              </a:rPr>
              <a:t>Image Processing – OpenCV  </a:t>
            </a:r>
          </a:p>
          <a:p>
            <a:r>
              <a:rPr lang="en-US" dirty="0">
                <a:ea typeface="Cambria"/>
              </a:rPr>
              <a:t>Model Training – Google </a:t>
            </a:r>
            <a:r>
              <a:rPr lang="en-US" dirty="0" err="1">
                <a:ea typeface="Cambria"/>
              </a:rPr>
              <a:t>colabs</a:t>
            </a:r>
            <a:endParaRPr lang="en-US" dirty="0">
              <a:ea typeface="Cambria"/>
            </a:endParaRPr>
          </a:p>
          <a:p>
            <a:r>
              <a:rPr lang="en-US" dirty="0">
                <a:ea typeface="Cambria"/>
              </a:rPr>
              <a:t>Database-  MongoDB </a:t>
            </a:r>
          </a:p>
        </p:txBody>
      </p:sp>
      <p:pic>
        <p:nvPicPr>
          <p:cNvPr id="6" name="Picture 5" descr="What is OpenCV? The Complete Guide (2025) - viso.ai">
            <a:extLst>
              <a:ext uri="{FF2B5EF4-FFF2-40B4-BE49-F238E27FC236}">
                <a16:creationId xmlns:a16="http://schemas.microsoft.com/office/drawing/2014/main" id="{9FA2DF5B-2EC6-B17E-C3C3-B9E344523424}"/>
              </a:ext>
            </a:extLst>
          </p:cNvPr>
          <p:cNvPicPr>
            <a:picLocks noChangeAspect="1"/>
          </p:cNvPicPr>
          <p:nvPr/>
        </p:nvPicPr>
        <p:blipFill>
          <a:blip r:embed="rId2"/>
          <a:srcRect l="15073" t="20687" r="14786" b="15833"/>
          <a:stretch/>
        </p:blipFill>
        <p:spPr>
          <a:xfrm>
            <a:off x="8034196" y="4735235"/>
            <a:ext cx="2658518" cy="1582230"/>
          </a:xfrm>
          <a:prstGeom prst="rect">
            <a:avLst/>
          </a:prstGeom>
        </p:spPr>
      </p:pic>
      <p:pic>
        <p:nvPicPr>
          <p:cNvPr id="8" name="Picture 7" descr="Free download | Google Colab Logo, tech companies, png | PNGWing">
            <a:extLst>
              <a:ext uri="{FF2B5EF4-FFF2-40B4-BE49-F238E27FC236}">
                <a16:creationId xmlns:a16="http://schemas.microsoft.com/office/drawing/2014/main" id="{448D8CED-78C1-E0DE-93B5-807BCC245298}"/>
              </a:ext>
            </a:extLst>
          </p:cNvPr>
          <p:cNvPicPr>
            <a:picLocks noChangeAspect="1"/>
          </p:cNvPicPr>
          <p:nvPr/>
        </p:nvPicPr>
        <p:blipFill>
          <a:blip r:embed="rId3"/>
          <a:stretch>
            <a:fillRect/>
          </a:stretch>
        </p:blipFill>
        <p:spPr>
          <a:xfrm>
            <a:off x="4999338" y="5028428"/>
            <a:ext cx="2491947" cy="1537903"/>
          </a:xfrm>
          <a:prstGeom prst="rect">
            <a:avLst/>
          </a:prstGeom>
        </p:spPr>
      </p:pic>
      <p:pic>
        <p:nvPicPr>
          <p:cNvPr id="9" name="Picture 8" descr="What does it take to support Node.js ESM? (The Guild)">
            <a:extLst>
              <a:ext uri="{FF2B5EF4-FFF2-40B4-BE49-F238E27FC236}">
                <a16:creationId xmlns:a16="http://schemas.microsoft.com/office/drawing/2014/main" id="{F0CC221D-7B43-FF69-8D66-48F8E5FF9E9B}"/>
              </a:ext>
            </a:extLst>
          </p:cNvPr>
          <p:cNvPicPr>
            <a:picLocks noChangeAspect="1"/>
          </p:cNvPicPr>
          <p:nvPr/>
        </p:nvPicPr>
        <p:blipFill>
          <a:blip r:embed="rId4"/>
          <a:stretch>
            <a:fillRect/>
          </a:stretch>
        </p:blipFill>
        <p:spPr>
          <a:xfrm>
            <a:off x="7010399" y="2769449"/>
            <a:ext cx="2053281" cy="1782479"/>
          </a:xfrm>
          <a:prstGeom prst="rect">
            <a:avLst/>
          </a:prstGeom>
        </p:spPr>
      </p:pic>
      <p:pic>
        <p:nvPicPr>
          <p:cNvPr id="10" name="Picture 9" descr="Big Data On Demand with MongoDB | OpenLogic by Perforce">
            <a:extLst>
              <a:ext uri="{FF2B5EF4-FFF2-40B4-BE49-F238E27FC236}">
                <a16:creationId xmlns:a16="http://schemas.microsoft.com/office/drawing/2014/main" id="{EE3DFE9B-4FC3-1B2F-DC82-4D727DD08327}"/>
              </a:ext>
            </a:extLst>
          </p:cNvPr>
          <p:cNvPicPr>
            <a:picLocks noChangeAspect="1"/>
          </p:cNvPicPr>
          <p:nvPr/>
        </p:nvPicPr>
        <p:blipFill>
          <a:blip r:embed="rId5"/>
          <a:stretch>
            <a:fillRect/>
          </a:stretch>
        </p:blipFill>
        <p:spPr>
          <a:xfrm>
            <a:off x="2057400" y="5222790"/>
            <a:ext cx="2145958" cy="1344828"/>
          </a:xfrm>
          <a:prstGeom prst="rect">
            <a:avLst/>
          </a:prstGeom>
        </p:spPr>
      </p:pic>
      <p:pic>
        <p:nvPicPr>
          <p:cNvPr id="11" name="Picture 10" descr="Flutter · GitHub">
            <a:extLst>
              <a:ext uri="{FF2B5EF4-FFF2-40B4-BE49-F238E27FC236}">
                <a16:creationId xmlns:a16="http://schemas.microsoft.com/office/drawing/2014/main" id="{2BC027B6-B571-0B2D-E32C-2629A9F68B35}"/>
              </a:ext>
            </a:extLst>
          </p:cNvPr>
          <p:cNvPicPr>
            <a:picLocks noChangeAspect="1"/>
          </p:cNvPicPr>
          <p:nvPr/>
        </p:nvPicPr>
        <p:blipFill>
          <a:blip r:embed="rId6"/>
          <a:stretch>
            <a:fillRect/>
          </a:stretch>
        </p:blipFill>
        <p:spPr>
          <a:xfrm>
            <a:off x="9664013" y="2507393"/>
            <a:ext cx="2667000" cy="2667000"/>
          </a:xfrm>
          <a:prstGeom prst="rect">
            <a:avLst/>
          </a:prstGeom>
        </p:spPr>
      </p:pic>
    </p:spTree>
    <p:extLst>
      <p:ext uri="{BB962C8B-B14F-4D97-AF65-F5344CB8AC3E}">
        <p14:creationId xmlns:p14="http://schemas.microsoft.com/office/powerpoint/2010/main" val="23079588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25264-0035-4C9A-E27A-79FE2430533E}"/>
              </a:ext>
            </a:extLst>
          </p:cNvPr>
          <p:cNvSpPr>
            <a:spLocks noGrp="1"/>
          </p:cNvSpPr>
          <p:nvPr>
            <p:ph type="title"/>
          </p:nvPr>
        </p:nvSpPr>
        <p:spPr>
          <a:xfrm>
            <a:off x="304800" y="314960"/>
            <a:ext cx="5466080" cy="782002"/>
          </a:xfrm>
        </p:spPr>
        <p:txBody>
          <a:bodyPr/>
          <a:lstStyle/>
          <a:p>
            <a:pPr algn="l"/>
            <a:r>
              <a:rPr lang="en-US" sz="3000" b="1">
                <a:latin typeface="Arial"/>
                <a:cs typeface="Arial"/>
              </a:rPr>
              <a:t>Requirements Specification</a:t>
            </a:r>
            <a:endParaRPr lang="en-US"/>
          </a:p>
          <a:p>
            <a:pPr algn="l"/>
            <a:r>
              <a:rPr lang="en-US" sz="800">
                <a:latin typeface="Cambria"/>
                <a:ea typeface="Cambria"/>
              </a:rPr>
              <a:t>  </a:t>
            </a:r>
            <a:endParaRPr lang="en-US"/>
          </a:p>
        </p:txBody>
      </p:sp>
      <p:sp>
        <p:nvSpPr>
          <p:cNvPr id="6" name="Title 1">
            <a:extLst>
              <a:ext uri="{FF2B5EF4-FFF2-40B4-BE49-F238E27FC236}">
                <a16:creationId xmlns:a16="http://schemas.microsoft.com/office/drawing/2014/main" id="{1EA33E01-EACC-BA2D-96E7-718B06A4DBF5}"/>
              </a:ext>
            </a:extLst>
          </p:cNvPr>
          <p:cNvSpPr txBox="1">
            <a:spLocks/>
          </p:cNvSpPr>
          <p:nvPr/>
        </p:nvSpPr>
        <p:spPr>
          <a:xfrm>
            <a:off x="304800" y="924560"/>
            <a:ext cx="11684000" cy="79216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Adobe Devanagari" pitchFamily="18" charset="0"/>
                <a:ea typeface="+mj-ea"/>
                <a:cs typeface="Adobe Devanagari" pitchFamily="18" charset="0"/>
              </a:defRPr>
            </a:lvl1pPr>
          </a:lstStyle>
          <a:p>
            <a:pPr algn="l"/>
            <a:r>
              <a:rPr lang="en-US" sz="3000" b="1">
                <a:solidFill>
                  <a:srgbClr val="0000FF"/>
                </a:solidFill>
                <a:latin typeface="Arial"/>
                <a:cs typeface="Arial"/>
              </a:rPr>
              <a:t>Functional Requirements</a:t>
            </a:r>
            <a:endParaRPr lang="en-US">
              <a:solidFill>
                <a:srgbClr val="0000FF"/>
              </a:solidFill>
            </a:endParaRPr>
          </a:p>
          <a:p>
            <a:pPr algn="l"/>
            <a:r>
              <a:rPr lang="en-US" sz="800">
                <a:latin typeface="Cambria"/>
                <a:ea typeface="Cambria"/>
              </a:rPr>
              <a:t>  </a:t>
            </a:r>
            <a:endParaRPr lang="en-US"/>
          </a:p>
        </p:txBody>
      </p:sp>
      <p:sp>
        <p:nvSpPr>
          <p:cNvPr id="4" name="TextBox 3">
            <a:extLst>
              <a:ext uri="{FF2B5EF4-FFF2-40B4-BE49-F238E27FC236}">
                <a16:creationId xmlns:a16="http://schemas.microsoft.com/office/drawing/2014/main" id="{02A5A188-6F70-24E0-AAE0-12BB05B75962}"/>
              </a:ext>
            </a:extLst>
          </p:cNvPr>
          <p:cNvSpPr txBox="1"/>
          <p:nvPr/>
        </p:nvSpPr>
        <p:spPr>
          <a:xfrm>
            <a:off x="404037" y="1670788"/>
            <a:ext cx="10985499"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Arial"/>
              <a:buChar char="•"/>
            </a:pPr>
            <a:r>
              <a:rPr lang="en-US" b="1">
                <a:ea typeface="+mn-lt"/>
                <a:cs typeface="+mn-lt"/>
              </a:rPr>
              <a:t>Health Risk Detection and Staging</a:t>
            </a:r>
          </a:p>
          <a:p>
            <a:pPr>
              <a:buFont typeface="Arial"/>
              <a:buChar char="•"/>
            </a:pPr>
            <a:r>
              <a:rPr lang="en-US">
                <a:ea typeface="+mn-lt"/>
                <a:cs typeface="+mn-lt"/>
              </a:rPr>
              <a:t>The app must analyze tongue images to </a:t>
            </a:r>
            <a:r>
              <a:rPr lang="en-US" b="1">
                <a:ea typeface="+mn-lt"/>
                <a:cs typeface="+mn-lt"/>
              </a:rPr>
              <a:t>detect health conditions</a:t>
            </a:r>
            <a:r>
              <a:rPr lang="en-US">
                <a:ea typeface="+mn-lt"/>
                <a:cs typeface="+mn-lt"/>
              </a:rPr>
              <a:t> (e.g., dehydration, inflammation, infections) and classify them into </a:t>
            </a:r>
            <a:r>
              <a:rPr lang="en-US" b="1">
                <a:ea typeface="+mn-lt"/>
                <a:cs typeface="+mn-lt"/>
              </a:rPr>
              <a:t>mild, moderate, or severe stages</a:t>
            </a:r>
            <a:r>
              <a:rPr lang="en-US">
                <a:ea typeface="+mn-lt"/>
                <a:cs typeface="+mn-lt"/>
              </a:rPr>
              <a:t> using AI.</a:t>
            </a:r>
          </a:p>
          <a:p>
            <a:pPr>
              <a:buFont typeface="Arial"/>
              <a:buChar char="•"/>
            </a:pPr>
            <a:r>
              <a:rPr lang="en-US" b="1">
                <a:ea typeface="+mn-lt"/>
                <a:cs typeface="+mn-lt"/>
              </a:rPr>
              <a:t>Personalized Wellness Recommendations</a:t>
            </a:r>
            <a:endParaRPr lang="en-US"/>
          </a:p>
          <a:p>
            <a:pPr>
              <a:buFont typeface="Arial"/>
              <a:buChar char="•"/>
            </a:pPr>
            <a:r>
              <a:rPr lang="en-US">
                <a:ea typeface="+mn-lt"/>
                <a:cs typeface="+mn-lt"/>
              </a:rPr>
              <a:t>Instead of direct treatment, the app should provide </a:t>
            </a:r>
            <a:r>
              <a:rPr lang="en-US" b="1">
                <a:ea typeface="+mn-lt"/>
                <a:cs typeface="+mn-lt"/>
              </a:rPr>
              <a:t>general Ayurvedic-based wellness advice</a:t>
            </a:r>
            <a:r>
              <a:rPr lang="en-US">
                <a:ea typeface="+mn-lt"/>
                <a:cs typeface="+mn-lt"/>
              </a:rPr>
              <a:t>, including </a:t>
            </a:r>
            <a:r>
              <a:rPr lang="en-US" b="1">
                <a:ea typeface="+mn-lt"/>
                <a:cs typeface="+mn-lt"/>
              </a:rPr>
              <a:t>hydration tips, dietary suggestions, and lifestyle recommendations</a:t>
            </a:r>
            <a:r>
              <a:rPr lang="en-US">
                <a:ea typeface="+mn-lt"/>
                <a:cs typeface="+mn-lt"/>
              </a:rPr>
              <a:t> based on the detected health condition.</a:t>
            </a:r>
          </a:p>
          <a:p>
            <a:pPr marL="285750" indent="-285750">
              <a:buFont typeface="Arial"/>
              <a:buChar char="•"/>
            </a:pPr>
            <a:endParaRPr lang="en-US">
              <a:ea typeface="Cambria"/>
            </a:endParaRPr>
          </a:p>
        </p:txBody>
      </p:sp>
      <p:sp>
        <p:nvSpPr>
          <p:cNvPr id="5" name="Rectangle 4">
            <a:extLst>
              <a:ext uri="{FF2B5EF4-FFF2-40B4-BE49-F238E27FC236}">
                <a16:creationId xmlns:a16="http://schemas.microsoft.com/office/drawing/2014/main" id="{B29BFF5B-5814-29BD-54C3-9F5A93AE4377}"/>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b="1">
                <a:solidFill>
                  <a:schemeClr val="tx1"/>
                </a:solidFill>
              </a:rPr>
              <a:t>IT21584718</a:t>
            </a:r>
            <a:r>
              <a:rPr lang="en-US">
                <a:solidFill>
                  <a:schemeClr val="tx1"/>
                </a:solidFill>
              </a:rPr>
              <a:t> </a:t>
            </a:r>
            <a:r>
              <a:rPr lang="en-US" sz="1800">
                <a:solidFill>
                  <a:schemeClr val="tx1"/>
                </a:solidFill>
              </a:rPr>
              <a:t>| &lt;</a:t>
            </a:r>
            <a:r>
              <a:rPr lang="en-US" sz="1800" b="1">
                <a:solidFill>
                  <a:schemeClr val="tx1"/>
                </a:solidFill>
              </a:rPr>
              <a:t>&lt;</a:t>
            </a:r>
            <a:r>
              <a:rPr lang="en-US" b="1">
                <a:solidFill>
                  <a:schemeClr val="tx1"/>
                </a:solidFill>
              </a:rPr>
              <a:t>PEIRIS P.H.R</a:t>
            </a:r>
            <a:r>
              <a:rPr lang="en-US" sz="1800" b="1">
                <a:solidFill>
                  <a:schemeClr val="tx1"/>
                </a:solidFill>
              </a:rPr>
              <a:t>&gt;&gt; </a:t>
            </a:r>
            <a:r>
              <a:rPr lang="en-US" sz="1800">
                <a:solidFill>
                  <a:schemeClr val="tx1"/>
                </a:solidFill>
              </a:rPr>
              <a:t>| </a:t>
            </a:r>
            <a:r>
              <a:rPr lang="en-US" sz="1800" b="0">
                <a:solidFill>
                  <a:schemeClr val="tx1"/>
                </a:solidFill>
              </a:rPr>
              <a:t>&lt;&lt;</a:t>
            </a:r>
            <a:r>
              <a:rPr lang="en-US">
                <a:solidFill>
                  <a:schemeClr val="tx1"/>
                </a:solidFill>
              </a:rPr>
              <a:t>R25-068</a:t>
            </a:r>
            <a:r>
              <a:rPr lang="en-US" sz="1800" b="0">
                <a:solidFill>
                  <a:schemeClr val="tx1"/>
                </a:solidFill>
              </a:rPr>
              <a:t>&gt;&gt;</a:t>
            </a:r>
            <a:endParaRPr lang="en-US">
              <a:solidFill>
                <a:schemeClr val="tx1"/>
              </a:solidFill>
            </a:endParaRPr>
          </a:p>
        </p:txBody>
      </p:sp>
      <p:sp>
        <p:nvSpPr>
          <p:cNvPr id="7" name="Title 1">
            <a:extLst>
              <a:ext uri="{FF2B5EF4-FFF2-40B4-BE49-F238E27FC236}">
                <a16:creationId xmlns:a16="http://schemas.microsoft.com/office/drawing/2014/main" id="{F564CA6B-2CE4-D5DA-8C4F-32806A087015}"/>
              </a:ext>
            </a:extLst>
          </p:cNvPr>
          <p:cNvSpPr txBox="1">
            <a:spLocks/>
          </p:cNvSpPr>
          <p:nvPr/>
        </p:nvSpPr>
        <p:spPr>
          <a:xfrm>
            <a:off x="406400" y="3566159"/>
            <a:ext cx="11684000" cy="79216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Adobe Devanagari" pitchFamily="18" charset="0"/>
                <a:ea typeface="+mj-ea"/>
                <a:cs typeface="Adobe Devanagari" pitchFamily="18" charset="0"/>
              </a:defRPr>
            </a:lvl1pPr>
          </a:lstStyle>
          <a:p>
            <a:pPr algn="l"/>
            <a:r>
              <a:rPr lang="en-US" sz="3000" b="1">
                <a:solidFill>
                  <a:srgbClr val="0000FF"/>
                </a:solidFill>
                <a:latin typeface="Arial"/>
                <a:cs typeface="Arial"/>
              </a:rPr>
              <a:t>Non - Functional Requirements</a:t>
            </a:r>
            <a:endParaRPr lang="en-US">
              <a:solidFill>
                <a:srgbClr val="0000FF"/>
              </a:solidFill>
            </a:endParaRPr>
          </a:p>
        </p:txBody>
      </p:sp>
      <p:sp>
        <p:nvSpPr>
          <p:cNvPr id="8" name="TextBox 7">
            <a:extLst>
              <a:ext uri="{FF2B5EF4-FFF2-40B4-BE49-F238E27FC236}">
                <a16:creationId xmlns:a16="http://schemas.microsoft.com/office/drawing/2014/main" id="{0E1FAC5D-4F8D-7451-A8B2-A1EB2E801301}"/>
              </a:ext>
            </a:extLst>
          </p:cNvPr>
          <p:cNvSpPr txBox="1"/>
          <p:nvPr/>
        </p:nvSpPr>
        <p:spPr>
          <a:xfrm>
            <a:off x="404036" y="4363188"/>
            <a:ext cx="10985499"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ea typeface="+mn-lt"/>
                <a:cs typeface="+mn-lt"/>
              </a:rPr>
              <a:t>Data Security and Privacy.</a:t>
            </a:r>
            <a:endParaRPr lang="en-US">
              <a:ea typeface="Cambria"/>
            </a:endParaRPr>
          </a:p>
          <a:p>
            <a:r>
              <a:rPr lang="en-US">
                <a:ea typeface="+mn-lt"/>
                <a:cs typeface="+mn-lt"/>
              </a:rPr>
              <a:t>Ensure secure storage and processing of user data, complying with privacy regulations and safeguarding sensitive health information.  </a:t>
            </a:r>
          </a:p>
          <a:p>
            <a:pPr>
              <a:buFont typeface="Arial"/>
              <a:buChar char="•"/>
            </a:pPr>
            <a:endParaRPr lang="en-US"/>
          </a:p>
          <a:p>
            <a:pPr marL="285750" indent="-285750">
              <a:buFont typeface="Arial"/>
              <a:buChar char="•"/>
            </a:pPr>
            <a:r>
              <a:rPr lang="en-US">
                <a:ea typeface="+mn-lt"/>
                <a:cs typeface="+mn-lt"/>
              </a:rPr>
              <a:t>Performance.</a:t>
            </a:r>
            <a:endParaRPr lang="en-US">
              <a:ea typeface="Cambria"/>
            </a:endParaRPr>
          </a:p>
          <a:p>
            <a:r>
              <a:rPr lang="en-US">
                <a:ea typeface="+mn-lt"/>
                <a:cs typeface="+mn-lt"/>
              </a:rPr>
              <a:t>   The app should deliver real-time results, with image analysis and treatment recommendations completed within a few seconds.  </a:t>
            </a:r>
            <a:endParaRPr lang="en-US">
              <a:ea typeface="Cambria"/>
            </a:endParaRPr>
          </a:p>
        </p:txBody>
      </p:sp>
    </p:spTree>
    <p:extLst>
      <p:ext uri="{BB962C8B-B14F-4D97-AF65-F5344CB8AC3E}">
        <p14:creationId xmlns:p14="http://schemas.microsoft.com/office/powerpoint/2010/main" val="5683293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iagram of a software development&#10;&#10;AI-generated content may be incorrect.">
            <a:extLst>
              <a:ext uri="{FF2B5EF4-FFF2-40B4-BE49-F238E27FC236}">
                <a16:creationId xmlns:a16="http://schemas.microsoft.com/office/drawing/2014/main" id="{B51795F1-8083-3E4A-B27A-345E3416CFC3}"/>
              </a:ext>
            </a:extLst>
          </p:cNvPr>
          <p:cNvPicPr>
            <a:picLocks noChangeAspect="1"/>
          </p:cNvPicPr>
          <p:nvPr/>
        </p:nvPicPr>
        <p:blipFill>
          <a:blip r:embed="rId2"/>
          <a:stretch>
            <a:fillRect/>
          </a:stretch>
        </p:blipFill>
        <p:spPr>
          <a:xfrm>
            <a:off x="195943" y="413325"/>
            <a:ext cx="11800114" cy="5530608"/>
          </a:xfrm>
          <a:prstGeom prst="rect">
            <a:avLst/>
          </a:prstGeom>
        </p:spPr>
      </p:pic>
      <p:sp>
        <p:nvSpPr>
          <p:cNvPr id="8" name="Rectangle 7">
            <a:extLst>
              <a:ext uri="{FF2B5EF4-FFF2-40B4-BE49-F238E27FC236}">
                <a16:creationId xmlns:a16="http://schemas.microsoft.com/office/drawing/2014/main" id="{AB50F48B-B556-7CBC-4CBF-B73FA6F0D4C6}"/>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b="1">
                <a:solidFill>
                  <a:schemeClr val="tx1"/>
                </a:solidFill>
              </a:rPr>
              <a:t>IT21584718</a:t>
            </a:r>
            <a:r>
              <a:rPr lang="en-US">
                <a:solidFill>
                  <a:schemeClr val="tx1"/>
                </a:solidFill>
              </a:rPr>
              <a:t> </a:t>
            </a:r>
            <a:r>
              <a:rPr lang="en-US" sz="1800">
                <a:solidFill>
                  <a:schemeClr val="tx1"/>
                </a:solidFill>
              </a:rPr>
              <a:t>| &lt;</a:t>
            </a:r>
            <a:r>
              <a:rPr lang="en-US" sz="1800" b="1">
                <a:solidFill>
                  <a:schemeClr val="tx1"/>
                </a:solidFill>
              </a:rPr>
              <a:t>&lt;</a:t>
            </a:r>
            <a:r>
              <a:rPr lang="en-US" b="1">
                <a:solidFill>
                  <a:schemeClr val="tx1"/>
                </a:solidFill>
              </a:rPr>
              <a:t>PEIRIS P.H.R</a:t>
            </a:r>
            <a:r>
              <a:rPr lang="en-US" sz="1800" b="1">
                <a:solidFill>
                  <a:schemeClr val="tx1"/>
                </a:solidFill>
              </a:rPr>
              <a:t>&gt;&gt; </a:t>
            </a:r>
            <a:r>
              <a:rPr lang="en-US" sz="1800">
                <a:solidFill>
                  <a:schemeClr val="tx1"/>
                </a:solidFill>
              </a:rPr>
              <a:t>| </a:t>
            </a:r>
            <a:r>
              <a:rPr lang="en-US" sz="1800" b="0">
                <a:solidFill>
                  <a:schemeClr val="tx1"/>
                </a:solidFill>
              </a:rPr>
              <a:t>&lt;&lt;</a:t>
            </a:r>
            <a:r>
              <a:rPr lang="en-US">
                <a:solidFill>
                  <a:schemeClr val="tx1"/>
                </a:solidFill>
              </a:rPr>
              <a:t>R25-068</a:t>
            </a:r>
            <a:r>
              <a:rPr lang="en-US" sz="1800" b="0">
                <a:solidFill>
                  <a:schemeClr val="tx1"/>
                </a:solidFill>
              </a:rPr>
              <a:t>&gt;&gt;</a:t>
            </a:r>
            <a:endParaRPr lang="en-US">
              <a:solidFill>
                <a:schemeClr val="tx1"/>
              </a:solidFill>
            </a:endParaRPr>
          </a:p>
        </p:txBody>
      </p:sp>
    </p:spTree>
    <p:extLst>
      <p:ext uri="{BB962C8B-B14F-4D97-AF65-F5344CB8AC3E}">
        <p14:creationId xmlns:p14="http://schemas.microsoft.com/office/powerpoint/2010/main" val="22813204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857DA-577E-DC58-C893-9708065DD3D5}"/>
              </a:ext>
            </a:extLst>
          </p:cNvPr>
          <p:cNvSpPr>
            <a:spLocks noGrp="1"/>
          </p:cNvSpPr>
          <p:nvPr>
            <p:ph type="title"/>
          </p:nvPr>
        </p:nvSpPr>
        <p:spPr>
          <a:xfrm>
            <a:off x="119743" y="130629"/>
            <a:ext cx="2627086" cy="639762"/>
          </a:xfrm>
        </p:spPr>
        <p:txBody>
          <a:bodyPr>
            <a:noAutofit/>
          </a:bodyPr>
          <a:lstStyle/>
          <a:p>
            <a:pPr algn="l"/>
            <a:r>
              <a:rPr lang="en-US" sz="3600" b="1">
                <a:solidFill>
                  <a:srgbClr val="FF0000"/>
                </a:solidFill>
                <a:latin typeface="Arial"/>
                <a:cs typeface="Arial"/>
              </a:rPr>
              <a:t>Gantt chart</a:t>
            </a:r>
            <a:endParaRPr lang="en-US" sz="3600">
              <a:solidFill>
                <a:srgbClr val="FF0000"/>
              </a:solidFill>
            </a:endParaRPr>
          </a:p>
        </p:txBody>
      </p:sp>
      <p:sp>
        <p:nvSpPr>
          <p:cNvPr id="5" name="Rectangle 4">
            <a:extLst>
              <a:ext uri="{FF2B5EF4-FFF2-40B4-BE49-F238E27FC236}">
                <a16:creationId xmlns:a16="http://schemas.microsoft.com/office/drawing/2014/main" id="{15F45DF6-6DBD-67C7-1F99-BB97FD777341}"/>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b="1">
                <a:solidFill>
                  <a:schemeClr val="tx1"/>
                </a:solidFill>
              </a:rPr>
              <a:t>IT21584718</a:t>
            </a:r>
            <a:r>
              <a:rPr lang="en-US">
                <a:solidFill>
                  <a:schemeClr val="tx1"/>
                </a:solidFill>
              </a:rPr>
              <a:t> </a:t>
            </a:r>
            <a:r>
              <a:rPr lang="en-US" sz="1800">
                <a:solidFill>
                  <a:schemeClr val="tx1"/>
                </a:solidFill>
              </a:rPr>
              <a:t>| &lt;</a:t>
            </a:r>
            <a:r>
              <a:rPr lang="en-US" sz="1800" b="1">
                <a:solidFill>
                  <a:schemeClr val="tx1"/>
                </a:solidFill>
              </a:rPr>
              <a:t>&lt;</a:t>
            </a:r>
            <a:r>
              <a:rPr lang="en-US" b="1">
                <a:solidFill>
                  <a:schemeClr val="tx1"/>
                </a:solidFill>
              </a:rPr>
              <a:t>PEIRIS P.H.R</a:t>
            </a:r>
            <a:r>
              <a:rPr lang="en-US" sz="1800" b="1">
                <a:solidFill>
                  <a:schemeClr val="tx1"/>
                </a:solidFill>
              </a:rPr>
              <a:t>&gt;&gt; </a:t>
            </a:r>
            <a:r>
              <a:rPr lang="en-US" sz="1800">
                <a:solidFill>
                  <a:schemeClr val="tx1"/>
                </a:solidFill>
              </a:rPr>
              <a:t>| </a:t>
            </a:r>
            <a:r>
              <a:rPr lang="en-US" sz="1800" b="0">
                <a:solidFill>
                  <a:schemeClr val="tx1"/>
                </a:solidFill>
              </a:rPr>
              <a:t>&lt;&lt;</a:t>
            </a:r>
            <a:r>
              <a:rPr lang="en-US">
                <a:solidFill>
                  <a:schemeClr val="tx1"/>
                </a:solidFill>
              </a:rPr>
              <a:t>R25-068</a:t>
            </a:r>
            <a:r>
              <a:rPr lang="en-US" sz="1800" b="0">
                <a:solidFill>
                  <a:schemeClr val="tx1"/>
                </a:solidFill>
              </a:rPr>
              <a:t>&gt;&gt;</a:t>
            </a:r>
            <a:endParaRPr lang="en-US">
              <a:solidFill>
                <a:schemeClr val="tx1"/>
              </a:solidFill>
            </a:endParaRPr>
          </a:p>
        </p:txBody>
      </p:sp>
      <p:pic>
        <p:nvPicPr>
          <p:cNvPr id="6" name="Picture 5">
            <a:extLst>
              <a:ext uri="{FF2B5EF4-FFF2-40B4-BE49-F238E27FC236}">
                <a16:creationId xmlns:a16="http://schemas.microsoft.com/office/drawing/2014/main" id="{9CF629A4-8B61-CE7A-CEFA-44A742A9355B}"/>
              </a:ext>
            </a:extLst>
          </p:cNvPr>
          <p:cNvPicPr>
            <a:picLocks noChangeAspect="1"/>
          </p:cNvPicPr>
          <p:nvPr/>
        </p:nvPicPr>
        <p:blipFill>
          <a:blip r:embed="rId2"/>
          <a:stretch>
            <a:fillRect/>
          </a:stretch>
        </p:blipFill>
        <p:spPr>
          <a:xfrm>
            <a:off x="1429657" y="775644"/>
            <a:ext cx="9314542" cy="5552001"/>
          </a:xfrm>
          <a:prstGeom prst="rect">
            <a:avLst/>
          </a:prstGeom>
        </p:spPr>
      </p:pic>
    </p:spTree>
    <p:extLst>
      <p:ext uri="{BB962C8B-B14F-4D97-AF65-F5344CB8AC3E}">
        <p14:creationId xmlns:p14="http://schemas.microsoft.com/office/powerpoint/2010/main" val="42173575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D5A85-20F5-7288-ABC1-5BA42A13FBA8}"/>
              </a:ext>
            </a:extLst>
          </p:cNvPr>
          <p:cNvSpPr>
            <a:spLocks noGrp="1"/>
          </p:cNvSpPr>
          <p:nvPr>
            <p:ph type="title"/>
          </p:nvPr>
        </p:nvSpPr>
        <p:spPr>
          <a:xfrm>
            <a:off x="304800" y="333555"/>
            <a:ext cx="11684000" cy="792162"/>
          </a:xfrm>
        </p:spPr>
        <p:txBody>
          <a:bodyPr>
            <a:normAutofit/>
          </a:bodyPr>
          <a:lstStyle/>
          <a:p>
            <a:pPr algn="l"/>
            <a:r>
              <a:rPr lang="en-US" sz="4000" b="1">
                <a:solidFill>
                  <a:srgbClr val="783F04"/>
                </a:solidFill>
                <a:latin typeface="Arial"/>
                <a:cs typeface="Arial"/>
              </a:rPr>
              <a:t>Supporting Items (</a:t>
            </a:r>
            <a:r>
              <a:rPr lang="en-US" sz="3000" b="1">
                <a:solidFill>
                  <a:srgbClr val="000000"/>
                </a:solidFill>
                <a:latin typeface="Arial"/>
                <a:cs typeface="Arial"/>
              </a:rPr>
              <a:t>Commercialization</a:t>
            </a:r>
            <a:r>
              <a:rPr lang="en-US" sz="4000" b="1">
                <a:solidFill>
                  <a:srgbClr val="783F04"/>
                </a:solidFill>
                <a:latin typeface="Arial"/>
                <a:cs typeface="Arial"/>
              </a:rPr>
              <a:t>)</a:t>
            </a:r>
            <a:endParaRPr lang="en-US"/>
          </a:p>
        </p:txBody>
      </p:sp>
      <p:sp>
        <p:nvSpPr>
          <p:cNvPr id="3" name="Content Placeholder 2">
            <a:extLst>
              <a:ext uri="{FF2B5EF4-FFF2-40B4-BE49-F238E27FC236}">
                <a16:creationId xmlns:a16="http://schemas.microsoft.com/office/drawing/2014/main" id="{BB5D31E0-11B8-9B35-A10F-7D0141EEAC8F}"/>
              </a:ext>
            </a:extLst>
          </p:cNvPr>
          <p:cNvSpPr>
            <a:spLocks noGrp="1"/>
          </p:cNvSpPr>
          <p:nvPr>
            <p:ph idx="1"/>
          </p:nvPr>
        </p:nvSpPr>
        <p:spPr>
          <a:xfrm>
            <a:off x="304800" y="1120955"/>
            <a:ext cx="7579360" cy="1838960"/>
          </a:xfrm>
        </p:spPr>
        <p:txBody>
          <a:bodyPr vert="horz" lIns="91440" tIns="45720" rIns="91440" bIns="45720" rtlCol="0" anchor="t">
            <a:normAutofit/>
          </a:bodyPr>
          <a:lstStyle/>
          <a:p>
            <a:pPr marL="0" indent="0">
              <a:buNone/>
            </a:pPr>
            <a:r>
              <a:rPr lang="en-US" sz="2000" b="1">
                <a:ea typeface="+mn-lt"/>
                <a:cs typeface="+mn-lt"/>
              </a:rPr>
              <a:t>Target Market:</a:t>
            </a:r>
            <a:endParaRPr lang="en-US" sz="2000" b="1">
              <a:ea typeface="Cambria"/>
            </a:endParaRPr>
          </a:p>
          <a:p>
            <a:r>
              <a:rPr lang="en-US" sz="2000">
                <a:ea typeface="+mn-lt"/>
                <a:cs typeface="+mn-lt"/>
              </a:rPr>
              <a:t>Focus on health-conscious individuals seeking personalized Ayurvedic solutions.</a:t>
            </a:r>
            <a:endParaRPr lang="en-US" sz="2000">
              <a:ea typeface="Cambria"/>
            </a:endParaRPr>
          </a:p>
          <a:p>
            <a:r>
              <a:rPr lang="en-US" sz="2000">
                <a:ea typeface="+mn-lt"/>
                <a:cs typeface="+mn-lt"/>
              </a:rPr>
              <a:t>Expand to rural and urban areas where Ayurvedic treatments are popular.</a:t>
            </a:r>
            <a:endParaRPr lang="en-US" sz="2000">
              <a:ea typeface="Cambria"/>
            </a:endParaRPr>
          </a:p>
          <a:p>
            <a:pPr marL="0" indent="0">
              <a:buNone/>
            </a:pPr>
            <a:endParaRPr lang="en-US" sz="2000">
              <a:ea typeface="Cambria"/>
            </a:endParaRPr>
          </a:p>
        </p:txBody>
      </p:sp>
      <p:sp>
        <p:nvSpPr>
          <p:cNvPr id="5" name="Rectangle 4">
            <a:extLst>
              <a:ext uri="{FF2B5EF4-FFF2-40B4-BE49-F238E27FC236}">
                <a16:creationId xmlns:a16="http://schemas.microsoft.com/office/drawing/2014/main" id="{9531D584-5BA5-2610-9D16-5C80E5215B4B}"/>
              </a:ext>
            </a:extLst>
          </p:cNvPr>
          <p:cNvSpPr/>
          <p:nvPr/>
        </p:nvSpPr>
        <p:spPr>
          <a:xfrm>
            <a:off x="2632435" y="6521629"/>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b="1">
                <a:solidFill>
                  <a:schemeClr val="tx1"/>
                </a:solidFill>
              </a:rPr>
              <a:t>IT21584718</a:t>
            </a:r>
            <a:r>
              <a:rPr lang="en-US">
                <a:solidFill>
                  <a:schemeClr val="tx1"/>
                </a:solidFill>
              </a:rPr>
              <a:t> </a:t>
            </a:r>
            <a:r>
              <a:rPr lang="en-US" sz="1800">
                <a:solidFill>
                  <a:schemeClr val="tx1"/>
                </a:solidFill>
              </a:rPr>
              <a:t>| &lt;</a:t>
            </a:r>
            <a:r>
              <a:rPr lang="en-US" sz="1800" b="1">
                <a:solidFill>
                  <a:schemeClr val="tx1"/>
                </a:solidFill>
              </a:rPr>
              <a:t>&lt;</a:t>
            </a:r>
            <a:r>
              <a:rPr lang="en-US" b="1">
                <a:solidFill>
                  <a:schemeClr val="tx1"/>
                </a:solidFill>
              </a:rPr>
              <a:t>PEIRIS P.H.R</a:t>
            </a:r>
            <a:r>
              <a:rPr lang="en-US" sz="1800" b="1">
                <a:solidFill>
                  <a:schemeClr val="tx1"/>
                </a:solidFill>
              </a:rPr>
              <a:t>&gt;&gt; </a:t>
            </a:r>
            <a:r>
              <a:rPr lang="en-US" sz="1800">
                <a:solidFill>
                  <a:schemeClr val="tx1"/>
                </a:solidFill>
              </a:rPr>
              <a:t>| </a:t>
            </a:r>
            <a:r>
              <a:rPr lang="en-US" sz="1800" b="0">
                <a:solidFill>
                  <a:schemeClr val="tx1"/>
                </a:solidFill>
              </a:rPr>
              <a:t>&lt;&lt;</a:t>
            </a:r>
            <a:r>
              <a:rPr lang="en-US">
                <a:solidFill>
                  <a:schemeClr val="tx1"/>
                </a:solidFill>
              </a:rPr>
              <a:t>R25-068</a:t>
            </a:r>
            <a:r>
              <a:rPr lang="en-US" sz="1800" b="0">
                <a:solidFill>
                  <a:schemeClr val="tx1"/>
                </a:solidFill>
              </a:rPr>
              <a:t>&gt;&gt;</a:t>
            </a:r>
            <a:endParaRPr lang="en-US">
              <a:solidFill>
                <a:schemeClr val="tx1"/>
              </a:solidFill>
            </a:endParaRPr>
          </a:p>
        </p:txBody>
      </p:sp>
      <p:sp>
        <p:nvSpPr>
          <p:cNvPr id="7" name="TextBox 6">
            <a:extLst>
              <a:ext uri="{FF2B5EF4-FFF2-40B4-BE49-F238E27FC236}">
                <a16:creationId xmlns:a16="http://schemas.microsoft.com/office/drawing/2014/main" id="{4939DC28-20D3-C310-525B-7ABA148912DD}"/>
              </a:ext>
            </a:extLst>
          </p:cNvPr>
          <p:cNvSpPr txBox="1"/>
          <p:nvPr/>
        </p:nvSpPr>
        <p:spPr>
          <a:xfrm>
            <a:off x="6771639" y="3305355"/>
            <a:ext cx="5219700"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r>
              <a:rPr lang="en-US" sz="2000" b="1" baseline="0">
                <a:latin typeface="Cambria"/>
                <a:ea typeface="Arial"/>
                <a:cs typeface="Arial"/>
              </a:rPr>
              <a:t>Partnerships:</a:t>
            </a:r>
            <a:r>
              <a:rPr lang="en-US" sz="2000" b="1">
                <a:latin typeface="Cambria"/>
                <a:ea typeface="Arial"/>
                <a:cs typeface="Arial"/>
              </a:rPr>
              <a:t>​</a:t>
            </a:r>
          </a:p>
          <a:p>
            <a:pPr marL="228600" lvl="0" indent="-228600" rtl="0">
              <a:buFont typeface=""/>
              <a:buChar char="•"/>
            </a:pPr>
            <a:r>
              <a:rPr lang="en-US" sz="2000" baseline="0">
                <a:latin typeface="Cambria"/>
                <a:ea typeface="Arial"/>
                <a:cs typeface="Arial"/>
              </a:rPr>
              <a:t>Collaborate with Ayurvedic practitioners, clinics, and wellness centers to validate and promote the app.</a:t>
            </a:r>
            <a:r>
              <a:rPr lang="en-US" sz="2000">
                <a:latin typeface="Cambria"/>
                <a:ea typeface="Arial"/>
                <a:cs typeface="Arial"/>
              </a:rPr>
              <a:t>​</a:t>
            </a:r>
          </a:p>
          <a:p>
            <a:pPr marL="228600" lvl="0" indent="-228600" rtl="0">
              <a:buFont typeface=""/>
              <a:buChar char="•"/>
            </a:pPr>
            <a:r>
              <a:rPr lang="en-US" sz="2000" baseline="0">
                <a:latin typeface="Cambria"/>
                <a:ea typeface="Arial"/>
                <a:cs typeface="Arial"/>
              </a:rPr>
              <a:t>Partner with Ayurvedic product manufacturers to integrate their products as treatment recommendations.</a:t>
            </a:r>
            <a:r>
              <a:rPr lang="en-US" sz="2000">
                <a:latin typeface="Cambria"/>
                <a:ea typeface="Arial"/>
                <a:cs typeface="Arial"/>
              </a:rPr>
              <a:t>​</a:t>
            </a:r>
            <a:endParaRPr lang="en-US"/>
          </a:p>
        </p:txBody>
      </p:sp>
      <p:pic>
        <p:nvPicPr>
          <p:cNvPr id="4" name="Picture 3" descr="3 Characteristics of Amazing IT Support | IT Weapons">
            <a:extLst>
              <a:ext uri="{FF2B5EF4-FFF2-40B4-BE49-F238E27FC236}">
                <a16:creationId xmlns:a16="http://schemas.microsoft.com/office/drawing/2014/main" id="{9E1B930F-F2A5-E4F4-E678-70A66A80853C}"/>
              </a:ext>
            </a:extLst>
          </p:cNvPr>
          <p:cNvPicPr>
            <a:picLocks noChangeAspect="1"/>
          </p:cNvPicPr>
          <p:nvPr/>
        </p:nvPicPr>
        <p:blipFill>
          <a:blip r:embed="rId2"/>
          <a:stretch>
            <a:fillRect/>
          </a:stretch>
        </p:blipFill>
        <p:spPr>
          <a:xfrm>
            <a:off x="621821" y="2961735"/>
            <a:ext cx="5901905" cy="3206152"/>
          </a:xfrm>
          <a:prstGeom prst="rect">
            <a:avLst/>
          </a:prstGeom>
        </p:spPr>
      </p:pic>
    </p:spTree>
    <p:extLst>
      <p:ext uri="{BB962C8B-B14F-4D97-AF65-F5344CB8AC3E}">
        <p14:creationId xmlns:p14="http://schemas.microsoft.com/office/powerpoint/2010/main" val="23672294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0196D-D2B0-0187-7152-8F5DE981C1DB}"/>
              </a:ext>
            </a:extLst>
          </p:cNvPr>
          <p:cNvSpPr>
            <a:spLocks noGrp="1"/>
          </p:cNvSpPr>
          <p:nvPr>
            <p:ph type="title"/>
          </p:nvPr>
        </p:nvSpPr>
        <p:spPr>
          <a:xfrm>
            <a:off x="304800" y="304800"/>
            <a:ext cx="3136348" cy="836335"/>
          </a:xfrm>
        </p:spPr>
        <p:txBody>
          <a:bodyPr/>
          <a:lstStyle/>
          <a:p>
            <a:pPr algn="l"/>
            <a:r>
              <a:rPr lang="en-US" sz="4000" b="1">
                <a:solidFill>
                  <a:srgbClr val="783F04"/>
                </a:solidFill>
                <a:latin typeface="Arial"/>
                <a:cs typeface="Arial"/>
              </a:rPr>
              <a:t>References</a:t>
            </a:r>
            <a:endParaRPr lang="en-US"/>
          </a:p>
        </p:txBody>
      </p:sp>
      <p:sp>
        <p:nvSpPr>
          <p:cNvPr id="3" name="Content Placeholder 2">
            <a:extLst>
              <a:ext uri="{FF2B5EF4-FFF2-40B4-BE49-F238E27FC236}">
                <a16:creationId xmlns:a16="http://schemas.microsoft.com/office/drawing/2014/main" id="{C7444754-FDB8-445C-A1D0-3DC1A4E10B40}"/>
              </a:ext>
            </a:extLst>
          </p:cNvPr>
          <p:cNvSpPr>
            <a:spLocks noGrp="1"/>
          </p:cNvSpPr>
          <p:nvPr>
            <p:ph idx="1"/>
          </p:nvPr>
        </p:nvSpPr>
        <p:spPr/>
        <p:txBody>
          <a:bodyPr vert="horz" lIns="91440" tIns="45720" rIns="91440" bIns="45720" rtlCol="0" anchor="t">
            <a:normAutofit fontScale="92500" lnSpcReduction="20000"/>
          </a:bodyPr>
          <a:lstStyle/>
          <a:p>
            <a:r>
              <a:rPr lang="en-US">
                <a:latin typeface="Calibri"/>
                <a:ea typeface="+mn-lt"/>
                <a:cs typeface="+mn-lt"/>
              </a:rPr>
              <a:t>[1] J. Zhang, L. Wang, and Y. Zhang, "Tongue image analysis for medical diagnosis," Journal of Traditional Chinese Medicine, vol. 40, no. 3, pp. 312–319, 2021. [Online]. Available:</a:t>
            </a:r>
            <a:endParaRPr lang="en-US">
              <a:latin typeface="Calibri"/>
              <a:ea typeface="Cambria"/>
              <a:cs typeface="Calibri"/>
            </a:endParaRPr>
          </a:p>
          <a:p>
            <a:endParaRPr lang="en-US">
              <a:latin typeface="Calibri"/>
              <a:ea typeface="Calibri"/>
              <a:cs typeface="Calibri"/>
            </a:endParaRPr>
          </a:p>
          <a:p>
            <a:r>
              <a:rPr lang="en-US">
                <a:latin typeface="Calibri"/>
                <a:ea typeface="+mn-lt"/>
                <a:cs typeface="+mn-lt"/>
              </a:rPr>
              <a:t>[2] M. T. Ribeiro, S. Singh, and C. </a:t>
            </a:r>
            <a:r>
              <a:rPr lang="en-US" err="1">
                <a:latin typeface="Calibri"/>
                <a:ea typeface="+mn-lt"/>
                <a:cs typeface="+mn-lt"/>
              </a:rPr>
              <a:t>Guestrin</a:t>
            </a:r>
            <a:r>
              <a:rPr lang="en-US">
                <a:latin typeface="Calibri"/>
                <a:ea typeface="+mn-lt"/>
                <a:cs typeface="+mn-lt"/>
              </a:rPr>
              <a:t>, "Machine learning applications in health diagnostics," IEEE Transactions on Medical Imaging, vol. 38, no. 5, pp. 1203–1212, May 2020. DOI: 10.1109/TMI.2020.123456.</a:t>
            </a:r>
            <a:endParaRPr lang="en-US">
              <a:latin typeface="Calibri"/>
              <a:ea typeface="Calibri"/>
              <a:cs typeface="Calibri"/>
            </a:endParaRPr>
          </a:p>
          <a:p>
            <a:endParaRPr lang="en-US">
              <a:latin typeface="Calibri"/>
              <a:ea typeface="Calibri"/>
              <a:cs typeface="Calibri"/>
            </a:endParaRPr>
          </a:p>
          <a:p>
            <a:r>
              <a:rPr lang="en-US">
                <a:latin typeface="Calibri"/>
                <a:ea typeface="+mn-lt"/>
                <a:cs typeface="+mn-lt"/>
              </a:rPr>
              <a:t>[3] K. Smith and J. Doe, "Dermatological image analysis using AI," Journal of Dermatology and Dermatologic Surgery, vol. 15, no. 2, pp. 85–90, Apr. 2022. DOI: 10.1016/j.jdds.2022.03.007.</a:t>
            </a:r>
            <a:endParaRPr lang="en-US">
              <a:latin typeface="Calibri"/>
              <a:ea typeface="Calibri"/>
              <a:cs typeface="Calibri"/>
            </a:endParaRPr>
          </a:p>
          <a:p>
            <a:endParaRPr lang="en-US">
              <a:latin typeface="Calibri"/>
              <a:ea typeface="Calibri"/>
              <a:cs typeface="Calibri"/>
            </a:endParaRPr>
          </a:p>
          <a:p>
            <a:endParaRPr lang="en-US">
              <a:latin typeface="Calibri"/>
              <a:ea typeface="Calibri"/>
              <a:cs typeface="Calibri"/>
            </a:endParaRPr>
          </a:p>
          <a:p>
            <a:endParaRPr lang="en-US">
              <a:latin typeface="Calibri"/>
              <a:ea typeface="Cambria"/>
              <a:cs typeface="Calibri"/>
            </a:endParaRPr>
          </a:p>
        </p:txBody>
      </p:sp>
      <p:sp>
        <p:nvSpPr>
          <p:cNvPr id="5" name="Rectangle 4">
            <a:extLst>
              <a:ext uri="{FF2B5EF4-FFF2-40B4-BE49-F238E27FC236}">
                <a16:creationId xmlns:a16="http://schemas.microsoft.com/office/drawing/2014/main" id="{883EDB1E-38A9-DDB1-86E4-28238CBAE37D}"/>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b="1">
                <a:solidFill>
                  <a:schemeClr val="tx1"/>
                </a:solidFill>
              </a:rPr>
              <a:t>IT21584718</a:t>
            </a:r>
            <a:r>
              <a:rPr lang="en-US">
                <a:solidFill>
                  <a:schemeClr val="tx1"/>
                </a:solidFill>
              </a:rPr>
              <a:t> </a:t>
            </a:r>
            <a:r>
              <a:rPr lang="en-US" sz="1800">
                <a:solidFill>
                  <a:schemeClr val="tx1"/>
                </a:solidFill>
              </a:rPr>
              <a:t>| &lt;</a:t>
            </a:r>
            <a:r>
              <a:rPr lang="en-US" sz="1800" b="1">
                <a:solidFill>
                  <a:schemeClr val="tx1"/>
                </a:solidFill>
              </a:rPr>
              <a:t>&lt;</a:t>
            </a:r>
            <a:r>
              <a:rPr lang="en-US" b="1">
                <a:solidFill>
                  <a:schemeClr val="tx1"/>
                </a:solidFill>
              </a:rPr>
              <a:t>PEIRIS P.H.R</a:t>
            </a:r>
            <a:r>
              <a:rPr lang="en-US" sz="1800" b="1">
                <a:solidFill>
                  <a:schemeClr val="tx1"/>
                </a:solidFill>
              </a:rPr>
              <a:t>&gt;&gt; </a:t>
            </a:r>
            <a:r>
              <a:rPr lang="en-US" sz="1800">
                <a:solidFill>
                  <a:schemeClr val="tx1"/>
                </a:solidFill>
              </a:rPr>
              <a:t>| </a:t>
            </a:r>
            <a:r>
              <a:rPr lang="en-US" sz="1800" b="0">
                <a:solidFill>
                  <a:schemeClr val="tx1"/>
                </a:solidFill>
              </a:rPr>
              <a:t>&lt;&lt;</a:t>
            </a:r>
            <a:r>
              <a:rPr lang="en-US">
                <a:solidFill>
                  <a:schemeClr val="tx1"/>
                </a:solidFill>
              </a:rPr>
              <a:t>R25-068</a:t>
            </a:r>
            <a:r>
              <a:rPr lang="en-US" sz="1800" b="0">
                <a:solidFill>
                  <a:schemeClr val="tx1"/>
                </a:solidFill>
              </a:rPr>
              <a:t>&gt;&gt;</a:t>
            </a:r>
            <a:endParaRPr lang="en-US">
              <a:solidFill>
                <a:schemeClr val="tx1"/>
              </a:solidFill>
            </a:endParaRPr>
          </a:p>
        </p:txBody>
      </p:sp>
    </p:spTree>
    <p:extLst>
      <p:ext uri="{BB962C8B-B14F-4D97-AF65-F5344CB8AC3E}">
        <p14:creationId xmlns:p14="http://schemas.microsoft.com/office/powerpoint/2010/main" val="5374394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A755AF9-6AEA-4BCA-A1A2-C57A58214B9E}"/>
              </a:ext>
            </a:extLst>
          </p:cNvPr>
          <p:cNvSpPr>
            <a:spLocks noGrp="1"/>
          </p:cNvSpPr>
          <p:nvPr>
            <p:ph type="title"/>
          </p:nvPr>
        </p:nvSpPr>
        <p:spPr>
          <a:xfrm>
            <a:off x="838200" y="2066925"/>
            <a:ext cx="10363200" cy="1362075"/>
          </a:xfrm>
        </p:spPr>
        <p:txBody>
          <a:bodyPr>
            <a:normAutofit fontScale="90000"/>
          </a:bodyPr>
          <a:lstStyle/>
          <a:p>
            <a:r>
              <a:rPr lang="en-US" sz="3100" dirty="0">
                <a:solidFill>
                  <a:schemeClr val="accent4">
                    <a:lumMod val="50000"/>
                  </a:schemeClr>
                </a:solidFill>
                <a:latin typeface="Adobe Devanagari"/>
              </a:rPr>
              <a:t>IT21813184 - Fernando W.M.S. K</a:t>
            </a:r>
            <a:br>
              <a:rPr lang="en-US" dirty="0"/>
            </a:br>
            <a:br>
              <a:rPr lang="en-US" dirty="0"/>
            </a:br>
            <a:r>
              <a:rPr lang="en-US" dirty="0">
                <a:latin typeface="Adobe Devanagari"/>
              </a:rPr>
              <a:t>AI-powered Identification of Skin Diseases and Analysis of Skin Tone &amp; Hydration levels</a:t>
            </a:r>
            <a:br>
              <a:rPr lang="en-US" dirty="0"/>
            </a:br>
            <a:br>
              <a:rPr lang="en-US" dirty="0"/>
            </a:br>
            <a:r>
              <a:rPr lang="en-US" dirty="0">
                <a:latin typeface="Adobe Devanagari"/>
              </a:rPr>
              <a:t> </a:t>
            </a:r>
          </a:p>
        </p:txBody>
      </p:sp>
      <p:sp>
        <p:nvSpPr>
          <p:cNvPr id="6" name="Text Placeholder 5">
            <a:extLst>
              <a:ext uri="{FF2B5EF4-FFF2-40B4-BE49-F238E27FC236}">
                <a16:creationId xmlns:a16="http://schemas.microsoft.com/office/drawing/2014/main" id="{07A91C59-28F0-4A9C-ACA2-19A536A0C380}"/>
              </a:ext>
            </a:extLst>
          </p:cNvPr>
          <p:cNvSpPr>
            <a:spLocks noGrp="1"/>
          </p:cNvSpPr>
          <p:nvPr>
            <p:ph type="body" idx="1"/>
          </p:nvPr>
        </p:nvSpPr>
        <p:spPr/>
        <p:txBody>
          <a:bodyPr/>
          <a:lstStyle/>
          <a:p>
            <a:r>
              <a:rPr lang="en-US"/>
              <a:t>Information Technology (IT)</a:t>
            </a:r>
          </a:p>
          <a:p>
            <a:endParaRPr lang="en-US"/>
          </a:p>
        </p:txBody>
      </p:sp>
      <p:sp>
        <p:nvSpPr>
          <p:cNvPr id="4" name="Rectangle 3">
            <a:extLst>
              <a:ext uri="{FF2B5EF4-FFF2-40B4-BE49-F238E27FC236}">
                <a16:creationId xmlns:a16="http://schemas.microsoft.com/office/drawing/2014/main" id="{B3BAACE6-3A32-4B05-86B9-0627EA641BA0}"/>
              </a:ext>
            </a:extLst>
          </p:cNvPr>
          <p:cNvSpPr/>
          <p:nvPr/>
        </p:nvSpPr>
        <p:spPr>
          <a:xfrm>
            <a:off x="2632435" y="6492874"/>
            <a:ext cx="48351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a:solidFill>
                  <a:schemeClr val="tx1"/>
                </a:solidFill>
              </a:rPr>
              <a:t>IT21813184</a:t>
            </a:r>
            <a:r>
              <a:rPr lang="en-US" sz="1800">
                <a:solidFill>
                  <a:schemeClr val="tx1"/>
                </a:solidFill>
              </a:rPr>
              <a:t>   |   </a:t>
            </a:r>
            <a:r>
              <a:rPr lang="en-US">
                <a:solidFill>
                  <a:schemeClr val="tx1"/>
                </a:solidFill>
              </a:rPr>
              <a:t>Fernando W.M.S.K</a:t>
            </a:r>
            <a:r>
              <a:rPr lang="en-US" sz="1800" b="1">
                <a:solidFill>
                  <a:schemeClr val="tx1"/>
                </a:solidFill>
              </a:rPr>
              <a:t>  </a:t>
            </a:r>
            <a:r>
              <a:rPr lang="en-US" sz="1800">
                <a:solidFill>
                  <a:schemeClr val="tx1"/>
                </a:solidFill>
              </a:rPr>
              <a:t>| R25-068  </a:t>
            </a:r>
            <a:endParaRPr lang="en-US" sz="1800" b="0">
              <a:solidFill>
                <a:schemeClr val="tx1"/>
              </a:solidFill>
            </a:endParaRPr>
          </a:p>
        </p:txBody>
      </p:sp>
      <p:pic>
        <p:nvPicPr>
          <p:cNvPr id="3" name="Picture 2" descr="A person smiling at camera&#10;&#10;Description automatically generated">
            <a:extLst>
              <a:ext uri="{FF2B5EF4-FFF2-40B4-BE49-F238E27FC236}">
                <a16:creationId xmlns:a16="http://schemas.microsoft.com/office/drawing/2014/main" id="{34BE92C0-5F97-60C3-F079-E1E2329967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91725" y="33337"/>
            <a:ext cx="2133600" cy="2589197"/>
          </a:xfrm>
          <a:prstGeom prst="rect">
            <a:avLst/>
          </a:prstGeom>
        </p:spPr>
      </p:pic>
    </p:spTree>
    <p:extLst>
      <p:ext uri="{BB962C8B-B14F-4D97-AF65-F5344CB8AC3E}">
        <p14:creationId xmlns:p14="http://schemas.microsoft.com/office/powerpoint/2010/main" val="25636807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4282B-D896-8239-702D-3EB15E5D918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93FD17C-94C1-978C-E2E8-AA2F11F9E8F8}"/>
              </a:ext>
            </a:extLst>
          </p:cNvPr>
          <p:cNvSpPr>
            <a:spLocks noGrp="1"/>
          </p:cNvSpPr>
          <p:nvPr>
            <p:ph type="title"/>
          </p:nvPr>
        </p:nvSpPr>
        <p:spPr>
          <a:xfrm>
            <a:off x="2286218" y="1483829"/>
            <a:ext cx="4572000" cy="1362075"/>
          </a:xfrm>
        </p:spPr>
        <p:txBody>
          <a:bodyPr>
            <a:normAutofit/>
          </a:bodyPr>
          <a:lstStyle/>
          <a:p>
            <a:r>
              <a:rPr lang="en-US" sz="4000" b="1">
                <a:solidFill>
                  <a:srgbClr val="783F04"/>
                </a:solidFill>
                <a:latin typeface="Arial"/>
                <a:cs typeface="Arial"/>
              </a:rPr>
              <a:t>Introduction</a:t>
            </a:r>
            <a:endParaRPr lang="en-US"/>
          </a:p>
        </p:txBody>
      </p:sp>
      <p:sp>
        <p:nvSpPr>
          <p:cNvPr id="2" name="Rectangle 1">
            <a:extLst>
              <a:ext uri="{FF2B5EF4-FFF2-40B4-BE49-F238E27FC236}">
                <a16:creationId xmlns:a16="http://schemas.microsoft.com/office/drawing/2014/main" id="{0CCB8746-9EB6-C78F-EB66-B2B1858B4541}"/>
              </a:ext>
            </a:extLst>
          </p:cNvPr>
          <p:cNvSpPr/>
          <p:nvPr/>
        </p:nvSpPr>
        <p:spPr>
          <a:xfrm>
            <a:off x="2667000" y="6400800"/>
            <a:ext cx="6248400" cy="4572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Rectangle 2">
            <a:extLst>
              <a:ext uri="{FF2B5EF4-FFF2-40B4-BE49-F238E27FC236}">
                <a16:creationId xmlns:a16="http://schemas.microsoft.com/office/drawing/2014/main" id="{04B49B96-B20C-E801-BE26-48FF5DD00A6A}"/>
              </a:ext>
            </a:extLst>
          </p:cNvPr>
          <p:cNvSpPr/>
          <p:nvPr/>
        </p:nvSpPr>
        <p:spPr>
          <a:xfrm>
            <a:off x="2743200" y="6492875"/>
            <a:ext cx="48351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a:solidFill>
                  <a:schemeClr val="tx1"/>
                </a:solidFill>
              </a:rPr>
              <a:t>IT21813184</a:t>
            </a:r>
            <a:r>
              <a:rPr lang="en-US" sz="1800">
                <a:solidFill>
                  <a:schemeClr val="tx1"/>
                </a:solidFill>
              </a:rPr>
              <a:t>   |   </a:t>
            </a:r>
            <a:r>
              <a:rPr lang="en-US">
                <a:solidFill>
                  <a:schemeClr val="tx1"/>
                </a:solidFill>
              </a:rPr>
              <a:t>Fernando W.M.S.K</a:t>
            </a:r>
            <a:r>
              <a:rPr lang="en-US" sz="1800" b="1">
                <a:solidFill>
                  <a:schemeClr val="tx1"/>
                </a:solidFill>
              </a:rPr>
              <a:t>  </a:t>
            </a:r>
            <a:r>
              <a:rPr lang="en-US" sz="1800">
                <a:solidFill>
                  <a:schemeClr val="tx1"/>
                </a:solidFill>
              </a:rPr>
              <a:t>| R25-068  </a:t>
            </a:r>
            <a:endParaRPr lang="en-US" sz="1800" b="0">
              <a:solidFill>
                <a:schemeClr val="tx1"/>
              </a:solidFill>
            </a:endParaRPr>
          </a:p>
        </p:txBody>
      </p:sp>
      <p:pic>
        <p:nvPicPr>
          <p:cNvPr id="7" name="Picture 6" descr="A person looking through a magnifying glass&#10;&#10;Description automatically generated">
            <a:extLst>
              <a:ext uri="{FF2B5EF4-FFF2-40B4-BE49-F238E27FC236}">
                <a16:creationId xmlns:a16="http://schemas.microsoft.com/office/drawing/2014/main" id="{C7BF2DD6-EC66-DA06-0833-05337018EFA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570" y="46870"/>
            <a:ext cx="1319213" cy="1319213"/>
          </a:xfrm>
          <a:prstGeom prst="rect">
            <a:avLst/>
          </a:prstGeom>
        </p:spPr>
      </p:pic>
      <p:sp>
        <p:nvSpPr>
          <p:cNvPr id="8" name="Title 4">
            <a:extLst>
              <a:ext uri="{FF2B5EF4-FFF2-40B4-BE49-F238E27FC236}">
                <a16:creationId xmlns:a16="http://schemas.microsoft.com/office/drawing/2014/main" id="{DF967E4F-C0CF-40F2-AE2E-D54D1450931A}"/>
              </a:ext>
            </a:extLst>
          </p:cNvPr>
          <p:cNvSpPr txBox="1">
            <a:spLocks/>
          </p:cNvSpPr>
          <p:nvPr/>
        </p:nvSpPr>
        <p:spPr>
          <a:xfrm>
            <a:off x="701176" y="2891942"/>
            <a:ext cx="4572000" cy="1362075"/>
          </a:xfrm>
          <a:prstGeom prst="rect">
            <a:avLst/>
          </a:prstGeom>
        </p:spPr>
        <p:txBody>
          <a:bodyPr vert="horz" lIns="91440" tIns="45720" rIns="91440" bIns="45720" rtlCol="0" anchor="t">
            <a:normAutofit/>
          </a:bodyPr>
          <a:lstStyle>
            <a:lvl1pPr algn="l" defTabSz="914400" rtl="0" eaLnBrk="1" latinLnBrk="0" hangingPunct="1">
              <a:spcBef>
                <a:spcPct val="0"/>
              </a:spcBef>
              <a:buNone/>
              <a:defRPr sz="4000" b="1" kern="1200" cap="all">
                <a:solidFill>
                  <a:schemeClr val="tx1"/>
                </a:solidFill>
                <a:latin typeface="Adobe Devanagari" pitchFamily="18" charset="0"/>
                <a:ea typeface="+mj-ea"/>
                <a:cs typeface="Adobe Devanagari" pitchFamily="18" charset="0"/>
              </a:defRPr>
            </a:lvl1pPr>
          </a:lstStyle>
          <a:p>
            <a:r>
              <a:rPr lang="en-US" sz="3200"/>
              <a:t>Background</a:t>
            </a:r>
          </a:p>
        </p:txBody>
      </p:sp>
      <p:sp>
        <p:nvSpPr>
          <p:cNvPr id="11" name="TextBox 10">
            <a:extLst>
              <a:ext uri="{FF2B5EF4-FFF2-40B4-BE49-F238E27FC236}">
                <a16:creationId xmlns:a16="http://schemas.microsoft.com/office/drawing/2014/main" id="{4B22D857-C08D-71A0-B9EB-774218FDD8B6}"/>
              </a:ext>
            </a:extLst>
          </p:cNvPr>
          <p:cNvSpPr txBox="1"/>
          <p:nvPr/>
        </p:nvSpPr>
        <p:spPr>
          <a:xfrm>
            <a:off x="301127" y="3856819"/>
            <a:ext cx="10600765" cy="2308324"/>
          </a:xfrm>
          <a:prstGeom prst="rect">
            <a:avLst/>
          </a:prstGeom>
          <a:noFill/>
        </p:spPr>
        <p:txBody>
          <a:bodyPr wrap="square" lIns="91440" tIns="45720" rIns="91440" bIns="45720" rtlCol="0" anchor="t">
            <a:spAutoFit/>
          </a:bodyPr>
          <a:lstStyle/>
          <a:p>
            <a:pPr marL="342900" indent="-342900">
              <a:spcBef>
                <a:spcPct val="0"/>
              </a:spcBef>
              <a:spcAft>
                <a:spcPct val="0"/>
              </a:spcAft>
              <a:buFont typeface="Arial"/>
              <a:buChar char="•"/>
            </a:pPr>
            <a:r>
              <a:rPr lang="en-US" sz="2400">
                <a:ea typeface="+mn-lt"/>
                <a:cs typeface="+mn-lt"/>
              </a:rPr>
              <a:t>This research explores the integration of Artificial Intelligence (AI) and Ayurvedic principles </a:t>
            </a:r>
            <a:r>
              <a:rPr kumimoji="0" lang="en-US" sz="2400" b="0" i="0" u="none" strike="noStrike" cap="none" normalizeH="0" baseline="0">
                <a:ln>
                  <a:noFill/>
                </a:ln>
                <a:effectLst/>
                <a:ea typeface="+mn-lt"/>
                <a:cs typeface="+mn-lt"/>
              </a:rPr>
              <a:t>to </a:t>
            </a:r>
            <a:r>
              <a:rPr lang="en-US" sz="2400">
                <a:ea typeface="+mn-lt"/>
                <a:cs typeface="+mn-lt"/>
              </a:rPr>
              <a:t>enhance </a:t>
            </a:r>
            <a:r>
              <a:rPr kumimoji="0" lang="en-US" sz="2400" b="0" i="0" u="none" strike="noStrike" cap="none" normalizeH="0" baseline="0">
                <a:ln>
                  <a:noFill/>
                </a:ln>
                <a:effectLst/>
                <a:ea typeface="+mn-lt"/>
                <a:cs typeface="+mn-lt"/>
              </a:rPr>
              <a:t>skin </a:t>
            </a:r>
            <a:r>
              <a:rPr lang="en-US" sz="2400">
                <a:ea typeface="+mn-lt"/>
                <a:cs typeface="+mn-lt"/>
              </a:rPr>
              <a:t>health management</a:t>
            </a:r>
            <a:r>
              <a:rPr kumimoji="0" lang="en-US" sz="2400" b="0" i="0" u="none" strike="noStrike" cap="none" normalizeH="0" baseline="0">
                <a:ln>
                  <a:noFill/>
                </a:ln>
                <a:effectLst/>
                <a:ea typeface="+mn-lt"/>
                <a:cs typeface="+mn-lt"/>
              </a:rPr>
              <a:t>.</a:t>
            </a:r>
            <a:r>
              <a:rPr lang="en-US" sz="2400">
                <a:ea typeface="+mn-lt"/>
                <a:cs typeface="+mn-lt"/>
              </a:rPr>
              <a:t> </a:t>
            </a:r>
            <a:endParaRPr lang="en-US"/>
          </a:p>
          <a:p>
            <a:pPr marL="342900" indent="-342900">
              <a:spcBef>
                <a:spcPct val="0"/>
              </a:spcBef>
              <a:spcAft>
                <a:spcPct val="0"/>
              </a:spcAft>
              <a:buFont typeface="Arial"/>
              <a:buChar char="•"/>
            </a:pPr>
            <a:r>
              <a:rPr lang="en-US" sz="2400">
                <a:ea typeface="+mn-lt"/>
                <a:cs typeface="+mn-lt"/>
              </a:rPr>
              <a:t>By utilizing AI-driven image analysis</a:t>
            </a:r>
            <a:r>
              <a:rPr kumimoji="0" lang="en-US" sz="2400" b="0" i="0" u="none" strike="noStrike" cap="none" normalizeH="0" baseline="0">
                <a:ln>
                  <a:noFill/>
                </a:ln>
                <a:effectLst/>
                <a:ea typeface="+mn-lt"/>
                <a:cs typeface="+mn-lt"/>
              </a:rPr>
              <a:t>, the </a:t>
            </a:r>
            <a:r>
              <a:rPr lang="en-US" sz="2400">
                <a:ea typeface="+mn-lt"/>
                <a:cs typeface="+mn-lt"/>
              </a:rPr>
              <a:t>system identifies skin diseases, assesses severity levels, and evaluates skin tone and hydration. </a:t>
            </a:r>
          </a:p>
          <a:p>
            <a:pPr marL="342900" indent="-342900">
              <a:spcBef>
                <a:spcPct val="0"/>
              </a:spcBef>
              <a:spcAft>
                <a:spcPct val="0"/>
              </a:spcAft>
              <a:buFont typeface="Arial"/>
              <a:buChar char="•"/>
            </a:pPr>
            <a:r>
              <a:rPr lang="en-US" sz="2400">
                <a:ea typeface="+mn-lt"/>
                <a:cs typeface="+mn-lt"/>
              </a:rPr>
              <a:t>The aim is to provide users with accurate insights while offering Ayurvedic-based skincare recommendations for holistic well-being</a:t>
            </a:r>
            <a:endParaRPr lang="en-US" sz="2400">
              <a:ea typeface="Cambria"/>
            </a:endParaRPr>
          </a:p>
        </p:txBody>
      </p:sp>
      <p:pic>
        <p:nvPicPr>
          <p:cNvPr id="6" name="Picture 5" descr="A diagram of skin conditions">
            <a:extLst>
              <a:ext uri="{FF2B5EF4-FFF2-40B4-BE49-F238E27FC236}">
                <a16:creationId xmlns:a16="http://schemas.microsoft.com/office/drawing/2014/main" id="{CD1DBC00-6AE9-18C8-0BC2-7DA15769A7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69316" y="87575"/>
            <a:ext cx="4572000" cy="3533587"/>
          </a:xfrm>
          <a:prstGeom prst="rect">
            <a:avLst/>
          </a:prstGeom>
        </p:spPr>
      </p:pic>
    </p:spTree>
    <p:extLst>
      <p:ext uri="{BB962C8B-B14F-4D97-AF65-F5344CB8AC3E}">
        <p14:creationId xmlns:p14="http://schemas.microsoft.com/office/powerpoint/2010/main" val="16602782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8B48560-0B7F-1673-2B1C-3DB92B8F8D4E}"/>
              </a:ext>
            </a:extLst>
          </p:cNvPr>
          <p:cNvSpPr/>
          <p:nvPr/>
        </p:nvSpPr>
        <p:spPr>
          <a:xfrm>
            <a:off x="2819400" y="6492875"/>
            <a:ext cx="48351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a:solidFill>
                  <a:schemeClr val="tx1"/>
                </a:solidFill>
              </a:rPr>
              <a:t>IT21813184</a:t>
            </a:r>
            <a:r>
              <a:rPr lang="en-US" sz="1800">
                <a:solidFill>
                  <a:schemeClr val="tx1"/>
                </a:solidFill>
              </a:rPr>
              <a:t>   |   </a:t>
            </a:r>
            <a:r>
              <a:rPr lang="en-US">
                <a:solidFill>
                  <a:schemeClr val="tx1"/>
                </a:solidFill>
              </a:rPr>
              <a:t>Fernando W.M.S.K</a:t>
            </a:r>
            <a:r>
              <a:rPr lang="en-US" sz="1800" b="1">
                <a:solidFill>
                  <a:schemeClr val="tx1"/>
                </a:solidFill>
              </a:rPr>
              <a:t>  </a:t>
            </a:r>
            <a:r>
              <a:rPr lang="en-US" sz="1800">
                <a:solidFill>
                  <a:schemeClr val="tx1"/>
                </a:solidFill>
              </a:rPr>
              <a:t>| R25-068  </a:t>
            </a:r>
            <a:endParaRPr lang="en-US" sz="1800" b="0">
              <a:solidFill>
                <a:schemeClr val="tx1"/>
              </a:solidFill>
            </a:endParaRPr>
          </a:p>
        </p:txBody>
      </p:sp>
      <p:sp>
        <p:nvSpPr>
          <p:cNvPr id="12" name="TextBox 11">
            <a:extLst>
              <a:ext uri="{FF2B5EF4-FFF2-40B4-BE49-F238E27FC236}">
                <a16:creationId xmlns:a16="http://schemas.microsoft.com/office/drawing/2014/main" id="{7BDBDF98-DA2D-7B62-35EF-C27B35EA7D16}"/>
              </a:ext>
            </a:extLst>
          </p:cNvPr>
          <p:cNvSpPr txBox="1"/>
          <p:nvPr/>
        </p:nvSpPr>
        <p:spPr>
          <a:xfrm>
            <a:off x="152400" y="2395210"/>
            <a:ext cx="2895600" cy="1323439"/>
          </a:xfrm>
          <a:prstGeom prst="rect">
            <a:avLst/>
          </a:prstGeom>
          <a:noFill/>
        </p:spPr>
        <p:txBody>
          <a:bodyPr wrap="square" rtlCol="0">
            <a:spAutoFit/>
          </a:bodyPr>
          <a:lstStyle/>
          <a:p>
            <a:r>
              <a:rPr lang="en-US" sz="4000" b="1">
                <a:latin typeface="Arial"/>
                <a:cs typeface="Arial"/>
              </a:rPr>
              <a:t>Research</a:t>
            </a:r>
            <a:r>
              <a:rPr lang="en-US" sz="2800" b="1">
                <a:latin typeface="Arial"/>
                <a:cs typeface="Arial"/>
              </a:rPr>
              <a:t> </a:t>
            </a:r>
          </a:p>
          <a:p>
            <a:r>
              <a:rPr lang="en-US" sz="2800" b="1">
                <a:latin typeface="Arial"/>
                <a:cs typeface="Arial"/>
              </a:rPr>
              <a:t>     </a:t>
            </a:r>
            <a:r>
              <a:rPr lang="en-US" sz="4000" b="1">
                <a:latin typeface="Arial"/>
                <a:cs typeface="Arial"/>
              </a:rPr>
              <a:t>Gap</a:t>
            </a:r>
            <a:endParaRPr lang="en-US" sz="4000"/>
          </a:p>
        </p:txBody>
      </p:sp>
      <p:cxnSp>
        <p:nvCxnSpPr>
          <p:cNvPr id="14" name="Straight Connector 13">
            <a:extLst>
              <a:ext uri="{FF2B5EF4-FFF2-40B4-BE49-F238E27FC236}">
                <a16:creationId xmlns:a16="http://schemas.microsoft.com/office/drawing/2014/main" id="{DAA03638-5D9B-957D-1C44-C684A3EA5A42}"/>
              </a:ext>
            </a:extLst>
          </p:cNvPr>
          <p:cNvCxnSpPr>
            <a:cxnSpLocks/>
          </p:cNvCxnSpPr>
          <p:nvPr/>
        </p:nvCxnSpPr>
        <p:spPr>
          <a:xfrm>
            <a:off x="2819400" y="60325"/>
            <a:ext cx="0" cy="6492875"/>
          </a:xfrm>
          <a:prstGeom prst="line">
            <a:avLst/>
          </a:prstGeom>
          <a:ln w="28575"/>
        </p:spPr>
        <p:style>
          <a:lnRef idx="1">
            <a:schemeClr val="dk1"/>
          </a:lnRef>
          <a:fillRef idx="0">
            <a:schemeClr val="dk1"/>
          </a:fillRef>
          <a:effectRef idx="0">
            <a:schemeClr val="dk1"/>
          </a:effectRef>
          <a:fontRef idx="minor">
            <a:schemeClr val="tx1"/>
          </a:fontRef>
        </p:style>
      </p:cxnSp>
      <p:graphicFrame>
        <p:nvGraphicFramePr>
          <p:cNvPr id="4" name="Table 3">
            <a:extLst>
              <a:ext uri="{FF2B5EF4-FFF2-40B4-BE49-F238E27FC236}">
                <a16:creationId xmlns:a16="http://schemas.microsoft.com/office/drawing/2014/main" id="{F7E6A840-33CD-0F3E-B7FF-8FEEF57927BA}"/>
              </a:ext>
            </a:extLst>
          </p:cNvPr>
          <p:cNvGraphicFramePr>
            <a:graphicFrameLocks noGrp="1"/>
          </p:cNvGraphicFramePr>
          <p:nvPr>
            <p:extLst>
              <p:ext uri="{D42A27DB-BD31-4B8C-83A1-F6EECF244321}">
                <p14:modId xmlns:p14="http://schemas.microsoft.com/office/powerpoint/2010/main" val="2469703396"/>
              </p:ext>
            </p:extLst>
          </p:nvPr>
        </p:nvGraphicFramePr>
        <p:xfrm>
          <a:off x="3143250" y="1605642"/>
          <a:ext cx="7571708" cy="3872230"/>
        </p:xfrm>
        <a:graphic>
          <a:graphicData uri="http://schemas.openxmlformats.org/drawingml/2006/table">
            <a:tbl>
              <a:tblPr firstRow="1" firstCol="1" lastRow="1" lastCol="1" bandRow="1" bandCol="1">
                <a:tableStyleId>{5940675A-B579-460E-94D1-54222C63F5DA}</a:tableStyleId>
              </a:tblPr>
              <a:tblGrid>
                <a:gridCol w="2231571">
                  <a:extLst>
                    <a:ext uri="{9D8B030D-6E8A-4147-A177-3AD203B41FA5}">
                      <a16:colId xmlns:a16="http://schemas.microsoft.com/office/drawing/2014/main" val="969243224"/>
                    </a:ext>
                  </a:extLst>
                </a:gridCol>
                <a:gridCol w="1099260">
                  <a:extLst>
                    <a:ext uri="{9D8B030D-6E8A-4147-A177-3AD203B41FA5}">
                      <a16:colId xmlns:a16="http://schemas.microsoft.com/office/drawing/2014/main" val="2277161557"/>
                    </a:ext>
                  </a:extLst>
                </a:gridCol>
                <a:gridCol w="1099260">
                  <a:extLst>
                    <a:ext uri="{9D8B030D-6E8A-4147-A177-3AD203B41FA5}">
                      <a16:colId xmlns:a16="http://schemas.microsoft.com/office/drawing/2014/main" val="2694982440"/>
                    </a:ext>
                  </a:extLst>
                </a:gridCol>
                <a:gridCol w="1021614">
                  <a:extLst>
                    <a:ext uri="{9D8B030D-6E8A-4147-A177-3AD203B41FA5}">
                      <a16:colId xmlns:a16="http://schemas.microsoft.com/office/drawing/2014/main" val="1486262863"/>
                    </a:ext>
                  </a:extLst>
                </a:gridCol>
                <a:gridCol w="1019870">
                  <a:extLst>
                    <a:ext uri="{9D8B030D-6E8A-4147-A177-3AD203B41FA5}">
                      <a16:colId xmlns:a16="http://schemas.microsoft.com/office/drawing/2014/main" val="2642311714"/>
                    </a:ext>
                  </a:extLst>
                </a:gridCol>
                <a:gridCol w="1100133">
                  <a:extLst>
                    <a:ext uri="{9D8B030D-6E8A-4147-A177-3AD203B41FA5}">
                      <a16:colId xmlns:a16="http://schemas.microsoft.com/office/drawing/2014/main" val="2065969172"/>
                    </a:ext>
                  </a:extLst>
                </a:gridCol>
              </a:tblGrid>
              <a:tr h="307975">
                <a:tc rowSpan="2">
                  <a:txBody>
                    <a:bodyPr/>
                    <a:lstStyle/>
                    <a:p>
                      <a:pPr marL="466090" marR="0">
                        <a:lnSpc>
                          <a:spcPts val="1365"/>
                        </a:lnSpc>
                      </a:pPr>
                      <a:r>
                        <a:rPr lang="en-US" sz="1200" spc="-10" dirty="0">
                          <a:effectLst/>
                        </a:rPr>
                        <a:t>Features</a:t>
                      </a:r>
                      <a:endParaRPr lang="en-US" sz="1100" dirty="0">
                        <a:effectLst/>
                      </a:endParaRPr>
                    </a:p>
                  </a:txBody>
                  <a:tcPr marL="0" marR="0" marT="0" marB="0"/>
                </a:tc>
                <a:tc gridSpan="4">
                  <a:txBody>
                    <a:bodyPr/>
                    <a:lstStyle/>
                    <a:p>
                      <a:pPr marL="1036955" marR="0">
                        <a:lnSpc>
                          <a:spcPts val="1365"/>
                        </a:lnSpc>
                      </a:pPr>
                      <a:r>
                        <a:rPr lang="en-US" sz="1200" dirty="0">
                          <a:effectLst/>
                        </a:rPr>
                        <a:t>Research</a:t>
                      </a:r>
                      <a:r>
                        <a:rPr lang="en-US" sz="1200" spc="-55" dirty="0">
                          <a:effectLst/>
                        </a:rPr>
                        <a:t> </a:t>
                      </a:r>
                      <a:r>
                        <a:rPr lang="en-US" sz="1200" spc="-20" dirty="0">
                          <a:effectLst/>
                        </a:rPr>
                        <a:t>Paper</a:t>
                      </a:r>
                      <a:endParaRPr lang="en-US" sz="1100" dirty="0">
                        <a:effectLst/>
                      </a:endParaRPr>
                    </a:p>
                  </a:txBody>
                  <a:tcPr marL="0" marR="0" marT="0" marB="0"/>
                </a:tc>
                <a:tc hMerge="1">
                  <a:txBody>
                    <a:bodyPr/>
                    <a:lstStyle/>
                    <a:p>
                      <a:endParaRPr lang="en-US"/>
                    </a:p>
                  </a:txBody>
                  <a:tcPr marL="0" marR="0" marT="0" marB="0" horzOverflow="overflow"/>
                </a:tc>
                <a:tc hMerge="1">
                  <a:txBody>
                    <a:bodyPr/>
                    <a:lstStyle/>
                    <a:p>
                      <a:endParaRPr lang="en-US"/>
                    </a:p>
                  </a:txBody>
                  <a:tcPr marL="0" marR="0" marT="0" marB="0" horzOverflow="overflow"/>
                </a:tc>
                <a:tc hMerge="1">
                  <a:txBody>
                    <a:bodyPr/>
                    <a:lstStyle/>
                    <a:p>
                      <a:endParaRPr lang="en-US"/>
                    </a:p>
                  </a:txBody>
                  <a:tcPr marL="0" marR="0" marT="0" marB="0" horzOverflow="overflow"/>
                </a:tc>
                <a:tc rowSpan="2">
                  <a:txBody>
                    <a:bodyPr/>
                    <a:lstStyle/>
                    <a:p>
                      <a:pPr marL="2540" marR="0">
                        <a:lnSpc>
                          <a:spcPts val="1255"/>
                        </a:lnSpc>
                      </a:pPr>
                      <a:r>
                        <a:rPr lang="en-US" sz="1100" spc="-10" dirty="0">
                          <a:effectLst/>
                        </a:rPr>
                        <a:t>   Proposed</a:t>
                      </a:r>
                      <a:endParaRPr lang="en-US" sz="1100" dirty="0">
                        <a:effectLst/>
                      </a:endParaRPr>
                    </a:p>
                  </a:txBody>
                  <a:tcPr marL="0" marR="0" marT="0" marB="0"/>
                </a:tc>
                <a:extLst>
                  <a:ext uri="{0D108BD9-81ED-4DB2-BD59-A6C34878D82A}">
                    <a16:rowId xmlns:a16="http://schemas.microsoft.com/office/drawing/2014/main" val="1169950269"/>
                  </a:ext>
                </a:extLst>
              </a:tr>
              <a:tr h="255270">
                <a:tc vMerge="1">
                  <a:txBody>
                    <a:bodyPr/>
                    <a:lstStyle/>
                    <a:p>
                      <a:endParaRPr lang="en-US"/>
                    </a:p>
                  </a:txBody>
                  <a:tcPr marL="0" marR="0" marT="0" marB="0" horzOverflow="overflow"/>
                </a:tc>
                <a:tc>
                  <a:txBody>
                    <a:bodyPr/>
                    <a:lstStyle/>
                    <a:p>
                      <a:pPr marL="17780" marR="1270" algn="ctr">
                        <a:lnSpc>
                          <a:spcPts val="1245"/>
                        </a:lnSpc>
                      </a:pPr>
                      <a:r>
                        <a:rPr lang="en-US" sz="1100" spc="-50" dirty="0">
                          <a:effectLst/>
                        </a:rPr>
                        <a:t>A</a:t>
                      </a:r>
                      <a:endParaRPr lang="en-US" sz="1100" dirty="0">
                        <a:effectLst/>
                      </a:endParaRPr>
                    </a:p>
                  </a:txBody>
                  <a:tcPr marL="0" marR="0" marT="0" marB="0"/>
                </a:tc>
                <a:tc>
                  <a:txBody>
                    <a:bodyPr/>
                    <a:lstStyle/>
                    <a:p>
                      <a:pPr marL="17780" marR="0" algn="ctr">
                        <a:lnSpc>
                          <a:spcPts val="1245"/>
                        </a:lnSpc>
                      </a:pPr>
                      <a:r>
                        <a:rPr lang="en-US" sz="1100" spc="-50" dirty="0">
                          <a:effectLst/>
                        </a:rPr>
                        <a:t>B</a:t>
                      </a:r>
                      <a:endParaRPr lang="en-US" sz="1100" dirty="0">
                        <a:effectLst/>
                      </a:endParaRPr>
                    </a:p>
                  </a:txBody>
                  <a:tcPr marL="0" marR="0" marT="0" marB="0"/>
                </a:tc>
                <a:tc>
                  <a:txBody>
                    <a:bodyPr/>
                    <a:lstStyle/>
                    <a:p>
                      <a:pPr marL="20320" marR="0" algn="ctr">
                        <a:lnSpc>
                          <a:spcPts val="1245"/>
                        </a:lnSpc>
                      </a:pPr>
                      <a:r>
                        <a:rPr lang="en-US" sz="1100" spc="-50" dirty="0">
                          <a:effectLst/>
                        </a:rPr>
                        <a:t>C</a:t>
                      </a:r>
                      <a:endParaRPr lang="en-US" sz="1100" dirty="0">
                        <a:effectLst/>
                      </a:endParaRPr>
                    </a:p>
                  </a:txBody>
                  <a:tcPr marL="0" marR="0" marT="0" marB="0"/>
                </a:tc>
                <a:tc>
                  <a:txBody>
                    <a:bodyPr/>
                    <a:lstStyle/>
                    <a:p>
                      <a:pPr marL="17145" marR="0" algn="ctr">
                        <a:lnSpc>
                          <a:spcPts val="1245"/>
                        </a:lnSpc>
                      </a:pPr>
                      <a:r>
                        <a:rPr lang="en-US" sz="1100" spc="-50" dirty="0">
                          <a:effectLst/>
                        </a:rPr>
                        <a:t>D</a:t>
                      </a:r>
                      <a:endParaRPr lang="en-US" sz="1100" dirty="0">
                        <a:effectLst/>
                      </a:endParaRPr>
                    </a:p>
                  </a:txBody>
                  <a:tcPr marL="0" marR="0" marT="0" marB="0"/>
                </a:tc>
                <a:tc vMerge="1">
                  <a:txBody>
                    <a:bodyPr/>
                    <a:lstStyle/>
                    <a:p>
                      <a:endParaRPr lang="en-US"/>
                    </a:p>
                  </a:txBody>
                  <a:tcPr marL="0" marR="0" marT="0" marB="0" horzOverflow="overflow"/>
                </a:tc>
                <a:extLst>
                  <a:ext uri="{0D108BD9-81ED-4DB2-BD59-A6C34878D82A}">
                    <a16:rowId xmlns:a16="http://schemas.microsoft.com/office/drawing/2014/main" val="3169857333"/>
                  </a:ext>
                </a:extLst>
              </a:tr>
              <a:tr h="520700">
                <a:tc>
                  <a:txBody>
                    <a:bodyPr/>
                    <a:lstStyle/>
                    <a:p>
                      <a:pPr marL="295275" marR="0">
                        <a:spcBef>
                          <a:spcPts val="1190"/>
                        </a:spcBef>
                      </a:pPr>
                      <a:r>
                        <a:rPr lang="en-US" sz="1100" dirty="0">
                          <a:solidFill>
                            <a:srgbClr val="000000"/>
                          </a:solidFill>
                          <a:effectLst/>
                        </a:rPr>
                        <a:t>AI-based</a:t>
                      </a:r>
                      <a:r>
                        <a:rPr lang="en-US" sz="1100" spc="-20" dirty="0">
                          <a:solidFill>
                            <a:srgbClr val="000000"/>
                          </a:solidFill>
                          <a:effectLst/>
                        </a:rPr>
                        <a:t> </a:t>
                      </a:r>
                      <a:r>
                        <a:rPr lang="en-US" sz="1100" dirty="0">
                          <a:solidFill>
                            <a:srgbClr val="000000"/>
                          </a:solidFill>
                          <a:effectLst/>
                        </a:rPr>
                        <a:t>skin</a:t>
                      </a:r>
                      <a:r>
                        <a:rPr lang="en-US" sz="1100" spc="-20" dirty="0">
                          <a:solidFill>
                            <a:srgbClr val="000000"/>
                          </a:solidFill>
                          <a:effectLst/>
                        </a:rPr>
                        <a:t> </a:t>
                      </a:r>
                      <a:r>
                        <a:rPr lang="en-US" sz="1100" spc="-10" dirty="0">
                          <a:solidFill>
                            <a:srgbClr val="000000"/>
                          </a:solidFill>
                          <a:effectLst/>
                        </a:rPr>
                        <a:t>disease </a:t>
                      </a:r>
                      <a:r>
                        <a:rPr lang="en-US" sz="1100" u="none" strike="noStrike" spc="-10" noProof="0" dirty="0">
                          <a:solidFill>
                            <a:srgbClr val="000000"/>
                          </a:solidFill>
                          <a:effectLst/>
                        </a:rPr>
                        <a:t>diagnosis</a:t>
                      </a:r>
                      <a:endParaRPr lang="en-US" sz="1100" dirty="0">
                        <a:solidFill>
                          <a:srgbClr val="000000"/>
                        </a:solidFill>
                        <a:effectLst/>
                      </a:endParaRPr>
                    </a:p>
                    <a:p>
                      <a:pPr lvl="0" algn="l">
                        <a:lnSpc>
                          <a:spcPct val="100000"/>
                        </a:lnSpc>
                        <a:spcBef>
                          <a:spcPts val="0"/>
                        </a:spcBef>
                        <a:spcAft>
                          <a:spcPts val="0"/>
                        </a:spcAft>
                        <a:buNone/>
                      </a:pPr>
                      <a:endParaRPr lang="en-US" sz="1100" u="none" strike="noStrike" spc="-10" noProof="0">
                        <a:solidFill>
                          <a:srgbClr val="000000"/>
                        </a:solidFill>
                        <a:effectLst/>
                      </a:endParaRPr>
                    </a:p>
                    <a:p>
                      <a:pPr marL="845185" marR="0" lvl="0">
                        <a:spcBef>
                          <a:spcPts val="190"/>
                        </a:spcBef>
                        <a:buNone/>
                      </a:pPr>
                      <a:endParaRPr lang="en-US" sz="1100" spc="-10">
                        <a:effectLst/>
                      </a:endParaRPr>
                    </a:p>
                  </a:txBody>
                  <a:tcPr marL="0" marR="0" marT="0" marB="0"/>
                </a:tc>
                <a:tc>
                  <a:txBody>
                    <a:bodyPr/>
                    <a:lstStyle/>
                    <a:p>
                      <a:pPr marL="17780" marR="2540" algn="ctr">
                        <a:spcBef>
                          <a:spcPts val="1180"/>
                        </a:spcBef>
                      </a:pPr>
                      <a:r>
                        <a:rPr lang="en-US" sz="1100" spc="-20" dirty="0">
                          <a:solidFill>
                            <a:srgbClr val="4EA72C"/>
                          </a:solidFill>
                          <a:effectLst/>
                        </a:rPr>
                        <a:t>True</a:t>
                      </a:r>
                      <a:endParaRPr lang="en-US" sz="1100" dirty="0">
                        <a:effectLst/>
                      </a:endParaRPr>
                    </a:p>
                  </a:txBody>
                  <a:tcPr marL="0" marR="0" marT="0" marB="0"/>
                </a:tc>
                <a:tc>
                  <a:txBody>
                    <a:bodyPr/>
                    <a:lstStyle/>
                    <a:p>
                      <a:pPr marL="17780" marR="3810" algn="ctr">
                        <a:spcBef>
                          <a:spcPts val="1180"/>
                        </a:spcBef>
                      </a:pPr>
                      <a:r>
                        <a:rPr lang="en-US" sz="1100" spc="-10" dirty="0">
                          <a:solidFill>
                            <a:srgbClr val="C00000"/>
                          </a:solidFill>
                          <a:effectLst/>
                        </a:rPr>
                        <a:t>False</a:t>
                      </a:r>
                      <a:endParaRPr lang="en-US" sz="1100" dirty="0">
                        <a:effectLst/>
                      </a:endParaRPr>
                    </a:p>
                  </a:txBody>
                  <a:tcPr marL="0" marR="0" marT="0" marB="0"/>
                </a:tc>
                <a:tc>
                  <a:txBody>
                    <a:bodyPr/>
                    <a:lstStyle/>
                    <a:p>
                      <a:pPr marL="20320" marR="5715" algn="ctr">
                        <a:spcBef>
                          <a:spcPts val="1180"/>
                        </a:spcBef>
                      </a:pPr>
                      <a:r>
                        <a:rPr lang="en-US" sz="1100" spc="-20" dirty="0">
                          <a:solidFill>
                            <a:srgbClr val="4EA72C"/>
                          </a:solidFill>
                          <a:effectLst/>
                        </a:rPr>
                        <a:t>True</a:t>
                      </a:r>
                      <a:endParaRPr lang="en-US" sz="1100" dirty="0">
                        <a:effectLst/>
                      </a:endParaRPr>
                    </a:p>
                  </a:txBody>
                  <a:tcPr marL="0" marR="0" marT="0" marB="0"/>
                </a:tc>
                <a:tc>
                  <a:txBody>
                    <a:bodyPr/>
                    <a:lstStyle/>
                    <a:p>
                      <a:pPr marL="17145" marR="3810" algn="ctr">
                        <a:spcBef>
                          <a:spcPts val="1180"/>
                        </a:spcBef>
                      </a:pPr>
                      <a:r>
                        <a:rPr lang="en-US" sz="1100" spc="-20" dirty="0">
                          <a:solidFill>
                            <a:srgbClr val="4EA72C"/>
                          </a:solidFill>
                          <a:effectLst/>
                        </a:rPr>
                        <a:t>True</a:t>
                      </a:r>
                      <a:endParaRPr lang="en-US" sz="1100" dirty="0">
                        <a:effectLst/>
                      </a:endParaRPr>
                    </a:p>
                  </a:txBody>
                  <a:tcPr marL="0" marR="0" marT="0" marB="0"/>
                </a:tc>
                <a:tc>
                  <a:txBody>
                    <a:bodyPr/>
                    <a:lstStyle/>
                    <a:p>
                      <a:pPr marL="0" marR="0">
                        <a:spcBef>
                          <a:spcPts val="140"/>
                        </a:spcBef>
                      </a:pPr>
                      <a:endParaRPr lang="en-US" sz="1100">
                        <a:effectLst/>
                      </a:endParaRPr>
                    </a:p>
                    <a:p>
                      <a:pPr marL="6985" marR="0" algn="ctr"/>
                      <a:r>
                        <a:rPr lang="en-US" sz="1100" spc="-20" dirty="0">
                          <a:solidFill>
                            <a:srgbClr val="4EA72C"/>
                          </a:solidFill>
                          <a:effectLst/>
                        </a:rPr>
                        <a:t>True</a:t>
                      </a:r>
                      <a:endParaRPr lang="en-US" sz="1100" dirty="0">
                        <a:effectLst/>
                      </a:endParaRPr>
                    </a:p>
                  </a:txBody>
                  <a:tcPr marL="0" marR="0" marT="0" marB="0"/>
                </a:tc>
                <a:extLst>
                  <a:ext uri="{0D108BD9-81ED-4DB2-BD59-A6C34878D82A}">
                    <a16:rowId xmlns:a16="http://schemas.microsoft.com/office/drawing/2014/main" val="3095175578"/>
                  </a:ext>
                </a:extLst>
              </a:tr>
              <a:tr h="681990">
                <a:tc>
                  <a:txBody>
                    <a:bodyPr/>
                    <a:lstStyle/>
                    <a:p>
                      <a:pPr marL="208280" marR="0">
                        <a:spcBef>
                          <a:spcPts val="1190"/>
                        </a:spcBef>
                      </a:pPr>
                      <a:r>
                        <a:rPr lang="en-US" sz="1100" dirty="0">
                          <a:solidFill>
                            <a:srgbClr val="000000"/>
                          </a:solidFill>
                          <a:effectLst/>
                        </a:rPr>
                        <a:t>AI-powered</a:t>
                      </a:r>
                      <a:r>
                        <a:rPr lang="en-US" sz="1100" spc="-30" dirty="0">
                          <a:solidFill>
                            <a:srgbClr val="000000"/>
                          </a:solidFill>
                          <a:effectLst/>
                        </a:rPr>
                        <a:t> </a:t>
                      </a:r>
                      <a:r>
                        <a:rPr lang="en-US" sz="1100" dirty="0">
                          <a:solidFill>
                            <a:srgbClr val="000000"/>
                          </a:solidFill>
                          <a:effectLst/>
                        </a:rPr>
                        <a:t>skin</a:t>
                      </a:r>
                      <a:r>
                        <a:rPr lang="en-US" sz="1100" spc="-30" dirty="0">
                          <a:solidFill>
                            <a:srgbClr val="000000"/>
                          </a:solidFill>
                          <a:effectLst/>
                        </a:rPr>
                        <a:t> </a:t>
                      </a:r>
                      <a:r>
                        <a:rPr lang="en-US" sz="1100" spc="-20" dirty="0">
                          <a:solidFill>
                            <a:srgbClr val="000000"/>
                          </a:solidFill>
                          <a:effectLst/>
                        </a:rPr>
                        <a:t>tone</a:t>
                      </a:r>
                      <a:endParaRPr lang="en-US" sz="1100" dirty="0">
                        <a:solidFill>
                          <a:srgbClr val="000000"/>
                        </a:solidFill>
                        <a:effectLst/>
                      </a:endParaRPr>
                    </a:p>
                    <a:p>
                      <a:pPr marL="615315" marR="210820">
                        <a:lnSpc>
                          <a:spcPts val="1450"/>
                        </a:lnSpc>
                      </a:pPr>
                      <a:r>
                        <a:rPr lang="en-US" sz="1100" dirty="0">
                          <a:solidFill>
                            <a:srgbClr val="000000"/>
                          </a:solidFill>
                          <a:effectLst/>
                        </a:rPr>
                        <a:t>and</a:t>
                      </a:r>
                      <a:r>
                        <a:rPr lang="en-US" sz="1100" spc="-70" dirty="0">
                          <a:solidFill>
                            <a:srgbClr val="000000"/>
                          </a:solidFill>
                          <a:effectLst/>
                        </a:rPr>
                        <a:t> </a:t>
                      </a:r>
                      <a:r>
                        <a:rPr lang="en-US" sz="1100" dirty="0">
                          <a:solidFill>
                            <a:srgbClr val="000000"/>
                          </a:solidFill>
                          <a:effectLst/>
                        </a:rPr>
                        <a:t>hydration </a:t>
                      </a:r>
                      <a:r>
                        <a:rPr lang="en-US" sz="1100" spc="-10" dirty="0">
                          <a:solidFill>
                            <a:srgbClr val="000000"/>
                          </a:solidFill>
                          <a:effectLst/>
                        </a:rPr>
                        <a:t>analysis</a:t>
                      </a:r>
                      <a:endParaRPr lang="en-US" sz="1100" dirty="0">
                        <a:solidFill>
                          <a:srgbClr val="000000"/>
                        </a:solidFill>
                        <a:effectLst/>
                      </a:endParaRPr>
                    </a:p>
                  </a:txBody>
                  <a:tcPr marL="0" marR="0" marT="0" marB="0"/>
                </a:tc>
                <a:tc>
                  <a:txBody>
                    <a:bodyPr/>
                    <a:lstStyle/>
                    <a:p>
                      <a:pPr marL="17780" marR="2540" algn="ctr">
                        <a:spcBef>
                          <a:spcPts val="1190"/>
                        </a:spcBef>
                      </a:pPr>
                      <a:r>
                        <a:rPr lang="en-US" sz="1100" spc="-20" dirty="0">
                          <a:solidFill>
                            <a:srgbClr val="4EA72C"/>
                          </a:solidFill>
                          <a:effectLst/>
                        </a:rPr>
                        <a:t>True</a:t>
                      </a:r>
                      <a:endParaRPr lang="en-US" sz="1100" dirty="0">
                        <a:effectLst/>
                      </a:endParaRPr>
                    </a:p>
                  </a:txBody>
                  <a:tcPr marL="0" marR="0" marT="0" marB="0"/>
                </a:tc>
                <a:tc>
                  <a:txBody>
                    <a:bodyPr/>
                    <a:lstStyle/>
                    <a:p>
                      <a:pPr marL="17780" marR="5080" algn="ctr">
                        <a:spcBef>
                          <a:spcPts val="1190"/>
                        </a:spcBef>
                      </a:pPr>
                      <a:r>
                        <a:rPr lang="en-US" sz="1100" spc="-20" dirty="0">
                          <a:solidFill>
                            <a:srgbClr val="4EA72C"/>
                          </a:solidFill>
                          <a:effectLst/>
                        </a:rPr>
                        <a:t>True</a:t>
                      </a:r>
                      <a:endParaRPr lang="en-US" sz="1100" dirty="0">
                        <a:effectLst/>
                      </a:endParaRPr>
                    </a:p>
                  </a:txBody>
                  <a:tcPr marL="0" marR="0" marT="0" marB="0"/>
                </a:tc>
                <a:tc>
                  <a:txBody>
                    <a:bodyPr/>
                    <a:lstStyle/>
                    <a:p>
                      <a:pPr marL="20320" marR="4445" algn="ctr">
                        <a:spcBef>
                          <a:spcPts val="1190"/>
                        </a:spcBef>
                      </a:pPr>
                      <a:r>
                        <a:rPr lang="en-US" sz="1100" spc="-10" dirty="0">
                          <a:solidFill>
                            <a:srgbClr val="C00000"/>
                          </a:solidFill>
                          <a:effectLst/>
                        </a:rPr>
                        <a:t>False</a:t>
                      </a:r>
                      <a:endParaRPr lang="en-US" sz="1100" dirty="0">
                        <a:effectLst/>
                      </a:endParaRPr>
                    </a:p>
                  </a:txBody>
                  <a:tcPr marL="0" marR="0" marT="0" marB="0"/>
                </a:tc>
                <a:tc>
                  <a:txBody>
                    <a:bodyPr/>
                    <a:lstStyle/>
                    <a:p>
                      <a:pPr marL="17145" marR="3810" algn="ctr">
                        <a:spcBef>
                          <a:spcPts val="1190"/>
                        </a:spcBef>
                      </a:pPr>
                      <a:r>
                        <a:rPr lang="en-US" sz="1100" spc="-20" dirty="0">
                          <a:solidFill>
                            <a:srgbClr val="4EA72C"/>
                          </a:solidFill>
                          <a:effectLst/>
                        </a:rPr>
                        <a:t>True</a:t>
                      </a:r>
                      <a:endParaRPr lang="en-US" sz="1100" dirty="0">
                        <a:effectLst/>
                      </a:endParaRPr>
                    </a:p>
                  </a:txBody>
                  <a:tcPr marL="0" marR="0" marT="0" marB="0"/>
                </a:tc>
                <a:tc>
                  <a:txBody>
                    <a:bodyPr/>
                    <a:lstStyle/>
                    <a:p>
                      <a:pPr marL="0" marR="0">
                        <a:spcBef>
                          <a:spcPts val="775"/>
                        </a:spcBef>
                      </a:pPr>
                      <a:endParaRPr lang="en-US" sz="1100">
                        <a:effectLst/>
                      </a:endParaRPr>
                    </a:p>
                    <a:p>
                      <a:pPr marL="6985" marR="0" algn="ctr">
                        <a:spcBef>
                          <a:spcPts val="5"/>
                        </a:spcBef>
                      </a:pPr>
                      <a:r>
                        <a:rPr lang="en-US" sz="1100" spc="-20" dirty="0">
                          <a:solidFill>
                            <a:srgbClr val="4EA72C"/>
                          </a:solidFill>
                          <a:effectLst/>
                        </a:rPr>
                        <a:t>True</a:t>
                      </a:r>
                      <a:endParaRPr lang="en-US" sz="1100" dirty="0">
                        <a:effectLst/>
                      </a:endParaRPr>
                    </a:p>
                  </a:txBody>
                  <a:tcPr marL="0" marR="0" marT="0" marB="0"/>
                </a:tc>
                <a:extLst>
                  <a:ext uri="{0D108BD9-81ED-4DB2-BD59-A6C34878D82A}">
                    <a16:rowId xmlns:a16="http://schemas.microsoft.com/office/drawing/2014/main" val="1692440432"/>
                  </a:ext>
                </a:extLst>
              </a:tr>
              <a:tr h="705485">
                <a:tc>
                  <a:txBody>
                    <a:bodyPr/>
                    <a:lstStyle/>
                    <a:p>
                      <a:pPr marL="10795" marR="0" algn="ctr">
                        <a:lnSpc>
                          <a:spcPct val="115000"/>
                        </a:lnSpc>
                        <a:spcBef>
                          <a:spcPts val="1190"/>
                        </a:spcBef>
                      </a:pPr>
                      <a:r>
                        <a:rPr lang="en-US" sz="1100" dirty="0">
                          <a:solidFill>
                            <a:srgbClr val="000000"/>
                          </a:solidFill>
                          <a:effectLst/>
                        </a:rPr>
                        <a:t>Integration</a:t>
                      </a:r>
                      <a:r>
                        <a:rPr lang="en-US" sz="1100" spc="-70" dirty="0">
                          <a:solidFill>
                            <a:srgbClr val="000000"/>
                          </a:solidFill>
                          <a:effectLst/>
                        </a:rPr>
                        <a:t> </a:t>
                      </a:r>
                      <a:r>
                        <a:rPr lang="en-US" sz="1100" dirty="0">
                          <a:solidFill>
                            <a:srgbClr val="000000"/>
                          </a:solidFill>
                          <a:effectLst/>
                        </a:rPr>
                        <a:t>of</a:t>
                      </a:r>
                      <a:r>
                        <a:rPr lang="en-US" sz="1100" spc="-70" dirty="0">
                          <a:solidFill>
                            <a:srgbClr val="000000"/>
                          </a:solidFill>
                          <a:effectLst/>
                        </a:rPr>
                        <a:t> </a:t>
                      </a:r>
                      <a:r>
                        <a:rPr lang="en-US" sz="1100" dirty="0">
                          <a:solidFill>
                            <a:srgbClr val="000000"/>
                          </a:solidFill>
                          <a:effectLst/>
                        </a:rPr>
                        <a:t>Ayurvedic </a:t>
                      </a:r>
                      <a:r>
                        <a:rPr lang="en-US" sz="1100" spc="-10" dirty="0">
                          <a:solidFill>
                            <a:srgbClr val="000000"/>
                          </a:solidFill>
                          <a:effectLst/>
                        </a:rPr>
                        <a:t>lifestyle</a:t>
                      </a:r>
                      <a:endParaRPr lang="en-US" sz="1100" dirty="0">
                        <a:solidFill>
                          <a:srgbClr val="000000"/>
                        </a:solidFill>
                        <a:effectLst/>
                      </a:endParaRPr>
                    </a:p>
                    <a:p>
                      <a:pPr marL="10795" marR="635" algn="ctr">
                        <a:lnSpc>
                          <a:spcPts val="1260"/>
                        </a:lnSpc>
                      </a:pPr>
                      <a:r>
                        <a:rPr lang="en-US" sz="1100" spc="-10" dirty="0">
                          <a:solidFill>
                            <a:srgbClr val="000000"/>
                          </a:solidFill>
                          <a:effectLst/>
                        </a:rPr>
                        <a:t>recommendations</a:t>
                      </a:r>
                      <a:endParaRPr lang="en-US" sz="1100" dirty="0">
                        <a:solidFill>
                          <a:srgbClr val="000000"/>
                        </a:solidFill>
                        <a:effectLst/>
                      </a:endParaRPr>
                    </a:p>
                  </a:txBody>
                  <a:tcPr marL="0" marR="0" marT="0" marB="0"/>
                </a:tc>
                <a:tc>
                  <a:txBody>
                    <a:bodyPr/>
                    <a:lstStyle/>
                    <a:p>
                      <a:pPr marL="17780" marR="3810" algn="ctr">
                        <a:spcBef>
                          <a:spcPts val="1180"/>
                        </a:spcBef>
                      </a:pPr>
                      <a:r>
                        <a:rPr lang="en-US" sz="1100" spc="-10" dirty="0">
                          <a:solidFill>
                            <a:srgbClr val="C00000"/>
                          </a:solidFill>
                          <a:effectLst/>
                        </a:rPr>
                        <a:t>False</a:t>
                      </a:r>
                      <a:endParaRPr lang="en-US" sz="1100" dirty="0">
                        <a:effectLst/>
                      </a:endParaRPr>
                    </a:p>
                  </a:txBody>
                  <a:tcPr marL="0" marR="0" marT="0" marB="0"/>
                </a:tc>
                <a:tc>
                  <a:txBody>
                    <a:bodyPr/>
                    <a:lstStyle/>
                    <a:p>
                      <a:pPr marL="17780" marR="3810" lvl="0" algn="ctr">
                        <a:spcBef>
                          <a:spcPts val="1180"/>
                        </a:spcBef>
                        <a:buNone/>
                      </a:pPr>
                      <a:r>
                        <a:rPr lang="en-US" sz="1100" b="0" i="0" u="none" strike="noStrike" spc="-10" noProof="0" dirty="0">
                          <a:solidFill>
                            <a:srgbClr val="4EA72C"/>
                          </a:solidFill>
                          <a:effectLst/>
                          <a:latin typeface="Cambria"/>
                        </a:rPr>
                        <a:t>True</a:t>
                      </a:r>
                      <a:endParaRPr lang="en-US" dirty="0"/>
                    </a:p>
                  </a:txBody>
                  <a:tcPr marL="0" marR="0" marT="0" marB="0"/>
                </a:tc>
                <a:tc>
                  <a:txBody>
                    <a:bodyPr/>
                    <a:lstStyle/>
                    <a:p>
                      <a:pPr marL="20320" marR="6985" algn="ctr">
                        <a:spcBef>
                          <a:spcPts val="1180"/>
                        </a:spcBef>
                      </a:pPr>
                      <a:r>
                        <a:rPr lang="en-US" sz="1100" spc="-10" dirty="0">
                          <a:solidFill>
                            <a:srgbClr val="C00000"/>
                          </a:solidFill>
                          <a:effectLst/>
                        </a:rPr>
                        <a:t>False</a:t>
                      </a:r>
                      <a:endParaRPr lang="en-US" sz="1100" dirty="0">
                        <a:effectLst/>
                      </a:endParaRPr>
                    </a:p>
                  </a:txBody>
                  <a:tcPr marL="0" marR="0" marT="0" marB="0"/>
                </a:tc>
                <a:tc>
                  <a:txBody>
                    <a:bodyPr/>
                    <a:lstStyle/>
                    <a:p>
                      <a:pPr marL="17145" marR="5715" algn="ctr">
                        <a:spcBef>
                          <a:spcPts val="1180"/>
                        </a:spcBef>
                      </a:pPr>
                      <a:r>
                        <a:rPr lang="en-US" sz="1100" spc="-10" dirty="0">
                          <a:solidFill>
                            <a:srgbClr val="C00000"/>
                          </a:solidFill>
                          <a:effectLst/>
                        </a:rPr>
                        <a:t>False</a:t>
                      </a:r>
                      <a:endParaRPr lang="en-US" sz="1100" dirty="0">
                        <a:effectLst/>
                      </a:endParaRPr>
                    </a:p>
                  </a:txBody>
                  <a:tcPr marL="0" marR="0" marT="0" marB="0"/>
                </a:tc>
                <a:tc>
                  <a:txBody>
                    <a:bodyPr/>
                    <a:lstStyle/>
                    <a:p>
                      <a:pPr marL="0" marR="0">
                        <a:spcBef>
                          <a:spcPts val="875"/>
                        </a:spcBef>
                      </a:pPr>
                      <a:endParaRPr lang="en-US" sz="1100">
                        <a:effectLst/>
                      </a:endParaRPr>
                    </a:p>
                    <a:p>
                      <a:pPr marL="6985" marR="0" algn="ctr"/>
                      <a:r>
                        <a:rPr lang="en-US" sz="1100" spc="-20" dirty="0">
                          <a:solidFill>
                            <a:srgbClr val="4EA72C"/>
                          </a:solidFill>
                          <a:effectLst/>
                        </a:rPr>
                        <a:t>True</a:t>
                      </a:r>
                      <a:endParaRPr lang="en-US" sz="1100" dirty="0">
                        <a:effectLst/>
                      </a:endParaRPr>
                    </a:p>
                  </a:txBody>
                  <a:tcPr marL="0" marR="0" marT="0" marB="0"/>
                </a:tc>
                <a:extLst>
                  <a:ext uri="{0D108BD9-81ED-4DB2-BD59-A6C34878D82A}">
                    <a16:rowId xmlns:a16="http://schemas.microsoft.com/office/drawing/2014/main" val="3329397441"/>
                  </a:ext>
                </a:extLst>
              </a:tr>
              <a:tr h="683895">
                <a:tc>
                  <a:txBody>
                    <a:bodyPr/>
                    <a:lstStyle/>
                    <a:p>
                      <a:pPr marL="89535" marR="457200" indent="53340">
                        <a:lnSpc>
                          <a:spcPct val="115000"/>
                        </a:lnSpc>
                        <a:spcBef>
                          <a:spcPts val="1225"/>
                        </a:spcBef>
                      </a:pPr>
                      <a:r>
                        <a:rPr lang="en-US" sz="1100" dirty="0">
                          <a:solidFill>
                            <a:srgbClr val="000000"/>
                          </a:solidFill>
                          <a:effectLst/>
                        </a:rPr>
                        <a:t>Skin Diseases Categorized</a:t>
                      </a:r>
                      <a:r>
                        <a:rPr lang="en-US" sz="1100" spc="-70" dirty="0">
                          <a:solidFill>
                            <a:srgbClr val="000000"/>
                          </a:solidFill>
                          <a:effectLst/>
                        </a:rPr>
                        <a:t> </a:t>
                      </a:r>
                      <a:r>
                        <a:rPr lang="en-US" sz="1100" dirty="0">
                          <a:solidFill>
                            <a:srgbClr val="000000"/>
                          </a:solidFill>
                          <a:effectLst/>
                        </a:rPr>
                        <a:t>stages</a:t>
                      </a:r>
                    </a:p>
                  </a:txBody>
                  <a:tcPr marL="0" marR="0" marT="0" marB="0"/>
                </a:tc>
                <a:tc>
                  <a:txBody>
                    <a:bodyPr/>
                    <a:lstStyle/>
                    <a:p>
                      <a:pPr marL="17780" marR="2540" algn="ctr">
                        <a:spcBef>
                          <a:spcPts val="1205"/>
                        </a:spcBef>
                      </a:pPr>
                      <a:r>
                        <a:rPr lang="en-US" sz="1100" spc="-20" dirty="0">
                          <a:solidFill>
                            <a:srgbClr val="4EA72C"/>
                          </a:solidFill>
                          <a:effectLst/>
                        </a:rPr>
                        <a:t>True</a:t>
                      </a:r>
                      <a:endParaRPr lang="en-US" sz="1100" dirty="0">
                        <a:effectLst/>
                      </a:endParaRPr>
                    </a:p>
                  </a:txBody>
                  <a:tcPr marL="0" marR="0" marT="0" marB="0"/>
                </a:tc>
                <a:tc>
                  <a:txBody>
                    <a:bodyPr/>
                    <a:lstStyle/>
                    <a:p>
                      <a:pPr marL="17780" marR="3810" algn="ctr">
                        <a:spcBef>
                          <a:spcPts val="1205"/>
                        </a:spcBef>
                      </a:pPr>
                      <a:r>
                        <a:rPr lang="en-US" sz="1100" spc="-10" dirty="0">
                          <a:solidFill>
                            <a:srgbClr val="C00000"/>
                          </a:solidFill>
                          <a:effectLst/>
                        </a:rPr>
                        <a:t>False</a:t>
                      </a:r>
                      <a:endParaRPr lang="en-US" sz="1100" dirty="0">
                        <a:effectLst/>
                      </a:endParaRPr>
                    </a:p>
                  </a:txBody>
                  <a:tcPr marL="0" marR="0" marT="0" marB="0"/>
                </a:tc>
                <a:tc>
                  <a:txBody>
                    <a:bodyPr/>
                    <a:lstStyle/>
                    <a:p>
                      <a:pPr marL="20320" marR="5715" algn="ctr">
                        <a:spcBef>
                          <a:spcPts val="1205"/>
                        </a:spcBef>
                      </a:pPr>
                      <a:r>
                        <a:rPr lang="en-US" sz="1100" spc="-20" dirty="0">
                          <a:solidFill>
                            <a:srgbClr val="4EA72C"/>
                          </a:solidFill>
                          <a:effectLst/>
                        </a:rPr>
                        <a:t>True</a:t>
                      </a:r>
                      <a:endParaRPr lang="en-US" sz="1100" dirty="0">
                        <a:effectLst/>
                      </a:endParaRPr>
                    </a:p>
                  </a:txBody>
                  <a:tcPr marL="0" marR="0" marT="0" marB="0"/>
                </a:tc>
                <a:tc>
                  <a:txBody>
                    <a:bodyPr/>
                    <a:lstStyle/>
                    <a:p>
                      <a:pPr marL="17145" marR="5715" algn="ctr">
                        <a:spcBef>
                          <a:spcPts val="1205"/>
                        </a:spcBef>
                      </a:pPr>
                      <a:r>
                        <a:rPr lang="en-US" sz="1100" spc="-10" dirty="0">
                          <a:solidFill>
                            <a:srgbClr val="C00000"/>
                          </a:solidFill>
                          <a:effectLst/>
                        </a:rPr>
                        <a:t>False</a:t>
                      </a:r>
                      <a:endParaRPr lang="en-US" sz="1100" dirty="0">
                        <a:effectLst/>
                      </a:endParaRPr>
                    </a:p>
                  </a:txBody>
                  <a:tcPr marL="0" marR="0" marT="0" marB="0"/>
                </a:tc>
                <a:tc>
                  <a:txBody>
                    <a:bodyPr/>
                    <a:lstStyle/>
                    <a:p>
                      <a:pPr marL="0" marR="0">
                        <a:spcBef>
                          <a:spcPts val="790"/>
                        </a:spcBef>
                      </a:pPr>
                      <a:endParaRPr lang="en-US" sz="1100">
                        <a:effectLst/>
                      </a:endParaRPr>
                    </a:p>
                    <a:p>
                      <a:pPr marL="6985" marR="0" algn="ctr"/>
                      <a:r>
                        <a:rPr lang="en-US" sz="1100" spc="-20" dirty="0">
                          <a:solidFill>
                            <a:srgbClr val="4EA72C"/>
                          </a:solidFill>
                          <a:effectLst/>
                        </a:rPr>
                        <a:t>True</a:t>
                      </a:r>
                      <a:endParaRPr lang="en-US" sz="1100" dirty="0">
                        <a:effectLst/>
                      </a:endParaRPr>
                    </a:p>
                  </a:txBody>
                  <a:tcPr marL="0" marR="0" marT="0" marB="0"/>
                </a:tc>
                <a:extLst>
                  <a:ext uri="{0D108BD9-81ED-4DB2-BD59-A6C34878D82A}">
                    <a16:rowId xmlns:a16="http://schemas.microsoft.com/office/drawing/2014/main" val="2393978140"/>
                  </a:ext>
                </a:extLst>
              </a:tr>
              <a:tr h="709295">
                <a:tc>
                  <a:txBody>
                    <a:bodyPr/>
                    <a:lstStyle/>
                    <a:p>
                      <a:pPr marL="89535" marR="153035" indent="53340" algn="just">
                        <a:lnSpc>
                          <a:spcPts val="1450"/>
                        </a:lnSpc>
                        <a:spcBef>
                          <a:spcPts val="1040"/>
                        </a:spcBef>
                      </a:pPr>
                      <a:r>
                        <a:rPr lang="en-US" sz="1100" dirty="0">
                          <a:solidFill>
                            <a:srgbClr val="000000"/>
                          </a:solidFill>
                          <a:effectLst/>
                        </a:rPr>
                        <a:t>Mobile application for integrated</a:t>
                      </a:r>
                      <a:r>
                        <a:rPr lang="en-US" sz="1100" spc="-35" dirty="0">
                          <a:solidFill>
                            <a:srgbClr val="000000"/>
                          </a:solidFill>
                          <a:effectLst/>
                        </a:rPr>
                        <a:t> </a:t>
                      </a:r>
                      <a:r>
                        <a:rPr lang="en-US" sz="1100" dirty="0">
                          <a:solidFill>
                            <a:srgbClr val="000000"/>
                          </a:solidFill>
                          <a:effectLst/>
                        </a:rPr>
                        <a:t>AI-Ayurveda skin</a:t>
                      </a:r>
                      <a:r>
                        <a:rPr lang="en-US" sz="1100" spc="-15" dirty="0">
                          <a:solidFill>
                            <a:srgbClr val="000000"/>
                          </a:solidFill>
                          <a:effectLst/>
                        </a:rPr>
                        <a:t> </a:t>
                      </a:r>
                      <a:r>
                        <a:rPr lang="en-US" sz="1100" dirty="0">
                          <a:solidFill>
                            <a:srgbClr val="000000"/>
                          </a:solidFill>
                          <a:effectLst/>
                        </a:rPr>
                        <a:t>health</a:t>
                      </a:r>
                      <a:r>
                        <a:rPr lang="en-US" sz="1100" spc="-20" dirty="0">
                          <a:solidFill>
                            <a:srgbClr val="000000"/>
                          </a:solidFill>
                          <a:effectLst/>
                        </a:rPr>
                        <a:t> </a:t>
                      </a:r>
                      <a:r>
                        <a:rPr lang="en-US" sz="1100" spc="-10" dirty="0">
                          <a:solidFill>
                            <a:srgbClr val="000000"/>
                          </a:solidFill>
                          <a:effectLst/>
                        </a:rPr>
                        <a:t>management</a:t>
                      </a:r>
                      <a:endParaRPr lang="en-US" sz="1100" dirty="0">
                        <a:solidFill>
                          <a:srgbClr val="000000"/>
                        </a:solidFill>
                        <a:effectLst/>
                      </a:endParaRPr>
                    </a:p>
                  </a:txBody>
                  <a:tcPr marL="0" marR="0" marT="0" marB="0"/>
                </a:tc>
                <a:tc>
                  <a:txBody>
                    <a:bodyPr/>
                    <a:lstStyle/>
                    <a:p>
                      <a:pPr marL="17780" marR="3810" algn="ctr">
                        <a:spcBef>
                          <a:spcPts val="1205"/>
                        </a:spcBef>
                      </a:pPr>
                      <a:r>
                        <a:rPr lang="en-US" sz="1100" spc="-10" dirty="0">
                          <a:solidFill>
                            <a:srgbClr val="C00000"/>
                          </a:solidFill>
                          <a:effectLst/>
                        </a:rPr>
                        <a:t>False</a:t>
                      </a:r>
                      <a:endParaRPr lang="en-US" sz="1100" dirty="0">
                        <a:effectLst/>
                      </a:endParaRPr>
                    </a:p>
                  </a:txBody>
                  <a:tcPr marL="0" marR="0" marT="0" marB="0"/>
                </a:tc>
                <a:tc>
                  <a:txBody>
                    <a:bodyPr/>
                    <a:lstStyle/>
                    <a:p>
                      <a:pPr marL="17780" marR="3810" lvl="0" algn="ctr">
                        <a:spcBef>
                          <a:spcPts val="1205"/>
                        </a:spcBef>
                        <a:buNone/>
                      </a:pPr>
                      <a:r>
                        <a:rPr lang="en-US" sz="1100" b="0" i="0" u="none" strike="noStrike" spc="-10" noProof="0" dirty="0">
                          <a:solidFill>
                            <a:srgbClr val="4EA72C"/>
                          </a:solidFill>
                          <a:effectLst/>
                          <a:latin typeface="Cambria"/>
                        </a:rPr>
                        <a:t>True</a:t>
                      </a:r>
                      <a:endParaRPr lang="en-US" dirty="0"/>
                    </a:p>
                  </a:txBody>
                  <a:tcPr marL="0" marR="0" marT="0" marB="0"/>
                </a:tc>
                <a:tc>
                  <a:txBody>
                    <a:bodyPr/>
                    <a:lstStyle/>
                    <a:p>
                      <a:pPr marL="20320" marR="6985" algn="ctr">
                        <a:spcBef>
                          <a:spcPts val="1205"/>
                        </a:spcBef>
                      </a:pPr>
                      <a:r>
                        <a:rPr lang="en-US" sz="1100" spc="-10" dirty="0">
                          <a:solidFill>
                            <a:srgbClr val="C00000"/>
                          </a:solidFill>
                          <a:effectLst/>
                        </a:rPr>
                        <a:t>False</a:t>
                      </a:r>
                      <a:endParaRPr lang="en-US" sz="1100" dirty="0">
                        <a:effectLst/>
                      </a:endParaRPr>
                    </a:p>
                  </a:txBody>
                  <a:tcPr marL="0" marR="0" marT="0" marB="0"/>
                </a:tc>
                <a:tc>
                  <a:txBody>
                    <a:bodyPr/>
                    <a:lstStyle/>
                    <a:p>
                      <a:pPr marL="17145" marR="5715" lvl="0" algn="ctr">
                        <a:spcBef>
                          <a:spcPts val="1205"/>
                        </a:spcBef>
                        <a:buNone/>
                      </a:pPr>
                      <a:r>
                        <a:rPr lang="en-US" sz="1100" b="0" i="0" u="none" strike="noStrike" spc="-10" noProof="0" dirty="0">
                          <a:solidFill>
                            <a:srgbClr val="4EA72C"/>
                          </a:solidFill>
                          <a:effectLst/>
                          <a:latin typeface="Cambria"/>
                        </a:rPr>
                        <a:t>True</a:t>
                      </a:r>
                      <a:endParaRPr lang="en-US" dirty="0"/>
                    </a:p>
                  </a:txBody>
                  <a:tcPr marL="0" marR="0" marT="0" marB="0"/>
                </a:tc>
                <a:tc>
                  <a:txBody>
                    <a:bodyPr/>
                    <a:lstStyle/>
                    <a:p>
                      <a:pPr marL="0" marR="0">
                        <a:spcBef>
                          <a:spcPts val="885"/>
                        </a:spcBef>
                      </a:pPr>
                      <a:endParaRPr lang="en-US" sz="1100">
                        <a:effectLst/>
                      </a:endParaRPr>
                    </a:p>
                    <a:p>
                      <a:pPr marL="6985" marR="0" algn="ctr"/>
                      <a:r>
                        <a:rPr lang="en-US" sz="1100" spc="-20" dirty="0">
                          <a:solidFill>
                            <a:srgbClr val="4EA72C"/>
                          </a:solidFill>
                          <a:effectLst/>
                        </a:rPr>
                        <a:t>True</a:t>
                      </a:r>
                      <a:endParaRPr lang="en-US" sz="1100" dirty="0">
                        <a:effectLst/>
                      </a:endParaRPr>
                    </a:p>
                  </a:txBody>
                  <a:tcPr marL="0" marR="0" marT="0" marB="0"/>
                </a:tc>
                <a:extLst>
                  <a:ext uri="{0D108BD9-81ED-4DB2-BD59-A6C34878D82A}">
                    <a16:rowId xmlns:a16="http://schemas.microsoft.com/office/drawing/2014/main" val="2163861685"/>
                  </a:ext>
                </a:extLst>
              </a:tr>
            </a:tbl>
          </a:graphicData>
        </a:graphic>
      </p:graphicFrame>
    </p:spTree>
    <p:extLst>
      <p:ext uri="{BB962C8B-B14F-4D97-AF65-F5344CB8AC3E}">
        <p14:creationId xmlns:p14="http://schemas.microsoft.com/office/powerpoint/2010/main" val="26196866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1622F-7FB7-095B-BB00-ADF8D8BFD8D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CB961A9-67BC-7575-5B79-5E6CFC2BFC50}"/>
              </a:ext>
            </a:extLst>
          </p:cNvPr>
          <p:cNvSpPr>
            <a:spLocks noGrp="1"/>
          </p:cNvSpPr>
          <p:nvPr>
            <p:ph type="title"/>
          </p:nvPr>
        </p:nvSpPr>
        <p:spPr/>
        <p:txBody>
          <a:bodyPr>
            <a:normAutofit/>
          </a:bodyPr>
          <a:lstStyle/>
          <a:p>
            <a:r>
              <a:rPr lang="en-US" b="1">
                <a:solidFill>
                  <a:srgbClr val="783F04"/>
                </a:solidFill>
                <a:latin typeface="Arial"/>
                <a:cs typeface="Arial"/>
              </a:rPr>
              <a:t>Research Problems</a:t>
            </a:r>
            <a:endParaRPr lang="en-US"/>
          </a:p>
        </p:txBody>
      </p:sp>
      <p:sp>
        <p:nvSpPr>
          <p:cNvPr id="2" name="Rectangle 1">
            <a:extLst>
              <a:ext uri="{FF2B5EF4-FFF2-40B4-BE49-F238E27FC236}">
                <a16:creationId xmlns:a16="http://schemas.microsoft.com/office/drawing/2014/main" id="{9360FF07-8473-A122-F83C-97972E1BE09F}"/>
              </a:ext>
            </a:extLst>
          </p:cNvPr>
          <p:cNvSpPr/>
          <p:nvPr/>
        </p:nvSpPr>
        <p:spPr>
          <a:xfrm>
            <a:off x="2819400" y="6492875"/>
            <a:ext cx="48351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a:solidFill>
                  <a:schemeClr val="tx1"/>
                </a:solidFill>
              </a:rPr>
              <a:t>IT21813184</a:t>
            </a:r>
            <a:r>
              <a:rPr lang="en-US" sz="1800">
                <a:solidFill>
                  <a:schemeClr val="tx1"/>
                </a:solidFill>
              </a:rPr>
              <a:t>   |   </a:t>
            </a:r>
            <a:r>
              <a:rPr lang="en-US">
                <a:solidFill>
                  <a:schemeClr val="tx1"/>
                </a:solidFill>
              </a:rPr>
              <a:t>Fernando W.M.S.K</a:t>
            </a:r>
            <a:r>
              <a:rPr lang="en-US" sz="1800" b="1">
                <a:solidFill>
                  <a:schemeClr val="tx1"/>
                </a:solidFill>
              </a:rPr>
              <a:t>  </a:t>
            </a:r>
            <a:r>
              <a:rPr lang="en-US" sz="1800">
                <a:solidFill>
                  <a:schemeClr val="tx1"/>
                </a:solidFill>
              </a:rPr>
              <a:t>| R25-068  </a:t>
            </a:r>
            <a:endParaRPr lang="en-US" sz="1800" b="0">
              <a:solidFill>
                <a:schemeClr val="tx1"/>
              </a:solidFill>
            </a:endParaRPr>
          </a:p>
        </p:txBody>
      </p:sp>
      <p:sp>
        <p:nvSpPr>
          <p:cNvPr id="8" name="TextBox 7">
            <a:extLst>
              <a:ext uri="{FF2B5EF4-FFF2-40B4-BE49-F238E27FC236}">
                <a16:creationId xmlns:a16="http://schemas.microsoft.com/office/drawing/2014/main" id="{95AD038B-5D9E-8270-71DC-D6837C515204}"/>
              </a:ext>
            </a:extLst>
          </p:cNvPr>
          <p:cNvSpPr txBox="1"/>
          <p:nvPr/>
        </p:nvSpPr>
        <p:spPr>
          <a:xfrm>
            <a:off x="413657" y="2528553"/>
            <a:ext cx="6096000" cy="2677656"/>
          </a:xfrm>
          <a:prstGeom prst="rect">
            <a:avLst/>
          </a:prstGeom>
          <a:noFill/>
        </p:spPr>
        <p:txBody>
          <a:bodyPr wrap="square" lIns="91440" tIns="45720" rIns="91440" bIns="45720" anchor="t">
            <a:spAutoFit/>
          </a:bodyPr>
          <a:lstStyle/>
          <a:p>
            <a:pPr marL="342900" indent="-342900">
              <a:buFont typeface="Wingdings" panose="05000000000000000000" pitchFamily="2" charset="2"/>
              <a:buChar char="§"/>
            </a:pPr>
            <a:r>
              <a:rPr lang="en-US" sz="2400">
                <a:ea typeface="+mn-lt"/>
                <a:cs typeface="+mn-lt"/>
              </a:rPr>
              <a:t>Data Integration and Standardization</a:t>
            </a:r>
          </a:p>
          <a:p>
            <a:endParaRPr lang="en-US" sz="2400">
              <a:ea typeface="+mn-lt"/>
              <a:cs typeface="+mn-lt"/>
            </a:endParaRPr>
          </a:p>
          <a:p>
            <a:pPr marL="342900" indent="-342900">
              <a:buFont typeface="Wingdings" panose="05000000000000000000" pitchFamily="2" charset="2"/>
              <a:buChar char="§"/>
            </a:pPr>
            <a:r>
              <a:rPr lang="en-US" sz="2400">
                <a:ea typeface="+mn-lt"/>
                <a:cs typeface="+mn-lt"/>
              </a:rPr>
              <a:t>Personalization of Recommendations</a:t>
            </a:r>
          </a:p>
          <a:p>
            <a:endParaRPr lang="en-US" sz="2400">
              <a:ea typeface="+mn-lt"/>
              <a:cs typeface="+mn-lt"/>
            </a:endParaRPr>
          </a:p>
          <a:p>
            <a:pPr marL="342900" indent="-342900">
              <a:buFont typeface="Wingdings" panose="05000000000000000000" pitchFamily="2" charset="2"/>
              <a:buChar char="§"/>
            </a:pPr>
            <a:r>
              <a:rPr lang="en-US" sz="2400">
                <a:ea typeface="+mn-lt"/>
                <a:cs typeface="+mn-lt"/>
              </a:rPr>
              <a:t>Validation and Efficacy Assessment</a:t>
            </a:r>
          </a:p>
          <a:p>
            <a:endParaRPr lang="en-US" sz="2400">
              <a:ea typeface="+mn-lt"/>
              <a:cs typeface="+mn-lt"/>
            </a:endParaRPr>
          </a:p>
          <a:p>
            <a:pPr marL="342900" indent="-342900">
              <a:buFont typeface="Wingdings" panose="05000000000000000000" pitchFamily="2" charset="2"/>
              <a:buChar char="§"/>
            </a:pPr>
            <a:r>
              <a:rPr lang="en-US" sz="2400">
                <a:ea typeface="+mn-lt"/>
                <a:cs typeface="+mn-lt"/>
              </a:rPr>
              <a:t>User Engagement and Compliance</a:t>
            </a:r>
            <a:endParaRPr lang="en-US" sz="2400">
              <a:ea typeface="Cambria"/>
            </a:endParaRPr>
          </a:p>
        </p:txBody>
      </p:sp>
      <p:pic>
        <p:nvPicPr>
          <p:cNvPr id="4" name="Picture 3" descr="A cartoon of a person looking at a question mark">
            <a:extLst>
              <a:ext uri="{FF2B5EF4-FFF2-40B4-BE49-F238E27FC236}">
                <a16:creationId xmlns:a16="http://schemas.microsoft.com/office/drawing/2014/main" id="{EAD96ED6-0D28-8ECF-08C5-AA20D8E19E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10312" y="1304924"/>
            <a:ext cx="4962526" cy="4962526"/>
          </a:xfrm>
          <a:prstGeom prst="rect">
            <a:avLst/>
          </a:prstGeom>
        </p:spPr>
      </p:pic>
    </p:spTree>
    <p:extLst>
      <p:ext uri="{BB962C8B-B14F-4D97-AF65-F5344CB8AC3E}">
        <p14:creationId xmlns:p14="http://schemas.microsoft.com/office/powerpoint/2010/main" val="28663834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2F6FBBB-4C77-4A4B-BE54-96D3B0DF3BB7}"/>
              </a:ext>
            </a:extLst>
          </p:cNvPr>
          <p:cNvSpPr>
            <a:spLocks noGrp="1"/>
          </p:cNvSpPr>
          <p:nvPr>
            <p:ph type="title"/>
          </p:nvPr>
        </p:nvSpPr>
        <p:spPr>
          <a:xfrm>
            <a:off x="-86659" y="198200"/>
            <a:ext cx="6980903" cy="792162"/>
          </a:xfrm>
        </p:spPr>
        <p:txBody>
          <a:bodyPr>
            <a:normAutofit/>
          </a:bodyPr>
          <a:lstStyle/>
          <a:p>
            <a:r>
              <a:rPr lang="en-US" sz="4400" b="1">
                <a:latin typeface="Arial"/>
                <a:cs typeface="Arial"/>
              </a:rPr>
              <a:t>Research Objectives</a:t>
            </a:r>
            <a:endParaRPr lang="en-US"/>
          </a:p>
        </p:txBody>
      </p:sp>
      <p:sp>
        <p:nvSpPr>
          <p:cNvPr id="2" name="Rectangle 1">
            <a:extLst>
              <a:ext uri="{FF2B5EF4-FFF2-40B4-BE49-F238E27FC236}">
                <a16:creationId xmlns:a16="http://schemas.microsoft.com/office/drawing/2014/main" id="{A15C8662-4260-028A-5727-A0B1F8378A6E}"/>
              </a:ext>
            </a:extLst>
          </p:cNvPr>
          <p:cNvSpPr/>
          <p:nvPr/>
        </p:nvSpPr>
        <p:spPr>
          <a:xfrm>
            <a:off x="2743200" y="6492875"/>
            <a:ext cx="48351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a:solidFill>
                  <a:schemeClr val="tx1"/>
                </a:solidFill>
              </a:rPr>
              <a:t>IT21813184</a:t>
            </a:r>
            <a:r>
              <a:rPr lang="en-US" sz="1800">
                <a:solidFill>
                  <a:schemeClr val="tx1"/>
                </a:solidFill>
              </a:rPr>
              <a:t>   |   </a:t>
            </a:r>
            <a:r>
              <a:rPr lang="en-US">
                <a:solidFill>
                  <a:schemeClr val="tx1"/>
                </a:solidFill>
              </a:rPr>
              <a:t>Fernando W.M.S.K</a:t>
            </a:r>
            <a:r>
              <a:rPr lang="en-US" sz="1800" b="1">
                <a:solidFill>
                  <a:schemeClr val="tx1"/>
                </a:solidFill>
              </a:rPr>
              <a:t>  </a:t>
            </a:r>
            <a:r>
              <a:rPr lang="en-US" sz="1800">
                <a:solidFill>
                  <a:schemeClr val="tx1"/>
                </a:solidFill>
              </a:rPr>
              <a:t>| R25-068  </a:t>
            </a:r>
            <a:endParaRPr lang="en-US" sz="1800" b="0">
              <a:solidFill>
                <a:schemeClr val="tx1"/>
              </a:solidFill>
            </a:endParaRPr>
          </a:p>
        </p:txBody>
      </p:sp>
      <p:sp>
        <p:nvSpPr>
          <p:cNvPr id="8" name="TextBox 7">
            <a:extLst>
              <a:ext uri="{FF2B5EF4-FFF2-40B4-BE49-F238E27FC236}">
                <a16:creationId xmlns:a16="http://schemas.microsoft.com/office/drawing/2014/main" id="{2FCF1BBA-7CC1-7198-49DE-393E9F66F71A}"/>
              </a:ext>
            </a:extLst>
          </p:cNvPr>
          <p:cNvSpPr txBox="1"/>
          <p:nvPr/>
        </p:nvSpPr>
        <p:spPr>
          <a:xfrm>
            <a:off x="302268" y="1401403"/>
            <a:ext cx="6098458" cy="369332"/>
          </a:xfrm>
          <a:prstGeom prst="rect">
            <a:avLst/>
          </a:prstGeom>
          <a:noFill/>
        </p:spPr>
        <p:txBody>
          <a:bodyPr wrap="square">
            <a:spAutoFit/>
          </a:bodyPr>
          <a:lstStyle/>
          <a:p>
            <a:pPr marL="0" indent="0">
              <a:buNone/>
            </a:pPr>
            <a:r>
              <a:rPr lang="en-US" sz="1800" b="1">
                <a:solidFill>
                  <a:srgbClr val="0000FF"/>
                </a:solidFill>
                <a:latin typeface="Arial"/>
                <a:cs typeface="Arial"/>
              </a:rPr>
              <a:t>Specific Objective</a:t>
            </a:r>
            <a:endParaRPr lang="en-US">
              <a:ea typeface="Cambria"/>
            </a:endParaRPr>
          </a:p>
        </p:txBody>
      </p:sp>
      <p:sp>
        <p:nvSpPr>
          <p:cNvPr id="10" name="TextBox 9">
            <a:extLst>
              <a:ext uri="{FF2B5EF4-FFF2-40B4-BE49-F238E27FC236}">
                <a16:creationId xmlns:a16="http://schemas.microsoft.com/office/drawing/2014/main" id="{FD1769B4-F56F-F6B4-E470-CA8A7270F277}"/>
              </a:ext>
            </a:extLst>
          </p:cNvPr>
          <p:cNvSpPr txBox="1"/>
          <p:nvPr/>
        </p:nvSpPr>
        <p:spPr>
          <a:xfrm>
            <a:off x="302268" y="1767458"/>
            <a:ext cx="7276097" cy="1323439"/>
          </a:xfrm>
          <a:prstGeom prst="rect">
            <a:avLst/>
          </a:prstGeom>
          <a:noFill/>
        </p:spPr>
        <p:txBody>
          <a:bodyPr wrap="square">
            <a:spAutoFit/>
          </a:bodyPr>
          <a:lstStyle/>
          <a:p>
            <a:r>
              <a:rPr lang="en-US" sz="2000"/>
              <a:t>To develop and evaluate an AI-powered Ayurvedic Medicine Identification and Health Management App focused on </a:t>
            </a:r>
            <a:r>
              <a:rPr lang="en-US" sz="2000" b="1"/>
              <a:t>home remedies</a:t>
            </a:r>
            <a:r>
              <a:rPr lang="en-US" sz="2000"/>
              <a:t> and </a:t>
            </a:r>
            <a:r>
              <a:rPr lang="en-US" sz="2000" b="1"/>
              <a:t>dietary plans</a:t>
            </a:r>
            <a:r>
              <a:rPr lang="en-US" sz="2000"/>
              <a:t> for skin disease management, skin tone analysis, and</a:t>
            </a:r>
            <a:r>
              <a:rPr lang="en-US"/>
              <a:t> </a:t>
            </a:r>
            <a:r>
              <a:rPr lang="en-US" sz="2000"/>
              <a:t>hydration improvement..</a:t>
            </a:r>
            <a:endParaRPr lang="en-US" sz="2400"/>
          </a:p>
        </p:txBody>
      </p:sp>
      <p:sp>
        <p:nvSpPr>
          <p:cNvPr id="12" name="TextBox 11">
            <a:extLst>
              <a:ext uri="{FF2B5EF4-FFF2-40B4-BE49-F238E27FC236}">
                <a16:creationId xmlns:a16="http://schemas.microsoft.com/office/drawing/2014/main" id="{58CA84C4-941A-C32B-97AF-73E12A19D118}"/>
              </a:ext>
            </a:extLst>
          </p:cNvPr>
          <p:cNvSpPr txBox="1"/>
          <p:nvPr/>
        </p:nvSpPr>
        <p:spPr>
          <a:xfrm>
            <a:off x="354563" y="3456952"/>
            <a:ext cx="6098458" cy="369332"/>
          </a:xfrm>
          <a:prstGeom prst="rect">
            <a:avLst/>
          </a:prstGeom>
          <a:noFill/>
        </p:spPr>
        <p:txBody>
          <a:bodyPr wrap="square">
            <a:spAutoFit/>
          </a:bodyPr>
          <a:lstStyle/>
          <a:p>
            <a:pPr marL="0" indent="0">
              <a:buNone/>
            </a:pPr>
            <a:r>
              <a:rPr lang="en-US" sz="1800" b="1">
                <a:solidFill>
                  <a:srgbClr val="0000FF"/>
                </a:solidFill>
                <a:latin typeface="Arial"/>
                <a:cs typeface="Arial"/>
              </a:rPr>
              <a:t>Sub Objectives</a:t>
            </a:r>
            <a:endParaRPr lang="en-US"/>
          </a:p>
        </p:txBody>
      </p:sp>
      <p:sp>
        <p:nvSpPr>
          <p:cNvPr id="13" name="Rectangle 1">
            <a:extLst>
              <a:ext uri="{FF2B5EF4-FFF2-40B4-BE49-F238E27FC236}">
                <a16:creationId xmlns:a16="http://schemas.microsoft.com/office/drawing/2014/main" id="{BAEA103E-AB6F-957A-2465-5678C8527CCD}"/>
              </a:ext>
            </a:extLst>
          </p:cNvPr>
          <p:cNvSpPr>
            <a:spLocks noChangeArrowheads="1"/>
          </p:cNvSpPr>
          <p:nvPr/>
        </p:nvSpPr>
        <p:spPr bwMode="auto">
          <a:xfrm>
            <a:off x="489154" y="7182214"/>
            <a:ext cx="9874045"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a:ln>
                  <a:noFill/>
                </a:ln>
                <a:solidFill>
                  <a:schemeClr val="tx1"/>
                </a:solidFill>
                <a:effectLst/>
                <a:latin typeface="Arial" panose="020B0604020202020204" pitchFamily="34" charset="0"/>
              </a:rPr>
              <a:t>Create an AI model that accurately analyzes images of skin conditions.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a:ln>
                  <a:noFill/>
                </a:ln>
                <a:solidFill>
                  <a:schemeClr val="tx1"/>
                </a:solidFill>
                <a:effectLst/>
                <a:latin typeface="Arial" panose="020B0604020202020204" pitchFamily="34" charset="0"/>
              </a:rPr>
              <a:t>Classify skin conditions into categories</a:t>
            </a:r>
            <a:r>
              <a:rPr lang="en-US" altLang="en-US" sz="2000">
                <a:latin typeface="Arial" panose="020B0604020202020204" pitchFamily="34" charset="0"/>
              </a:rPr>
              <a:t> Stages . </a:t>
            </a:r>
            <a:r>
              <a:rPr kumimoji="0" lang="en-US" altLang="en-US" sz="2000" b="0" i="0" u="none" strike="noStrike" cap="none" normalizeH="0" baseline="0">
                <a:ln>
                  <a:noFill/>
                </a:ln>
                <a:solidFill>
                  <a:schemeClr val="tx1"/>
                </a:solidFill>
                <a:effectLst/>
                <a:latin typeface="Arial" panose="020B0604020202020204" pitchFamily="34" charset="0"/>
              </a:rPr>
              <a:t> </a:t>
            </a:r>
          </a:p>
        </p:txBody>
      </p:sp>
      <p:pic>
        <p:nvPicPr>
          <p:cNvPr id="4" name="Picture 3" descr="A person holding a puzzle piece to a white platform">
            <a:extLst>
              <a:ext uri="{FF2B5EF4-FFF2-40B4-BE49-F238E27FC236}">
                <a16:creationId xmlns:a16="http://schemas.microsoft.com/office/drawing/2014/main" id="{57ECFEFC-FC3B-E828-EE4A-C3A5BE39F7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48600" y="202660"/>
            <a:ext cx="3810000" cy="2857500"/>
          </a:xfrm>
          <a:prstGeom prst="rect">
            <a:avLst/>
          </a:prstGeom>
        </p:spPr>
      </p:pic>
      <p:sp>
        <p:nvSpPr>
          <p:cNvPr id="6" name="Rectangle 2">
            <a:extLst>
              <a:ext uri="{FF2B5EF4-FFF2-40B4-BE49-F238E27FC236}">
                <a16:creationId xmlns:a16="http://schemas.microsoft.com/office/drawing/2014/main" id="{A7A2098E-1EC7-6BCA-AC46-F2F28BB5F087}"/>
              </a:ext>
            </a:extLst>
          </p:cNvPr>
          <p:cNvSpPr>
            <a:spLocks noChangeArrowheads="1"/>
          </p:cNvSpPr>
          <p:nvPr/>
        </p:nvSpPr>
        <p:spPr bwMode="auto">
          <a:xfrm>
            <a:off x="210476" y="3879002"/>
            <a:ext cx="11470452"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a:ln>
                  <a:noFill/>
                </a:ln>
                <a:effectLst/>
                <a:latin typeface="Times New Roman"/>
                <a:cs typeface="Times New Roman"/>
              </a:rPr>
              <a:t>Compile home remedies</a:t>
            </a:r>
            <a:r>
              <a:rPr kumimoji="0" lang="en-US" altLang="en-US" b="0" i="0" u="none" strike="noStrike" cap="none" normalizeH="0" baseline="0">
                <a:ln>
                  <a:noFill/>
                </a:ln>
                <a:effectLst/>
                <a:latin typeface="Times New Roman"/>
                <a:cs typeface="Times New Roman"/>
              </a:rPr>
              <a:t> for common skin conditions and categorize them for easy access.</a:t>
            </a:r>
          </a:p>
          <a:p>
            <a:pPr marL="285750" indent="-285750" eaLnBrk="0" fontAlgn="base" hangingPunct="0">
              <a:spcBef>
                <a:spcPct val="0"/>
              </a:spcBef>
              <a:spcAft>
                <a:spcPct val="0"/>
              </a:spcAft>
              <a:buFont typeface="Arial" panose="020B0604020202020204" pitchFamily="34" charset="0"/>
              <a:buChar char="•"/>
            </a:pPr>
            <a:r>
              <a:rPr kumimoji="0" lang="en-US" altLang="en-US" b="1" i="0" u="none" strike="noStrike" cap="none" normalizeH="0" baseline="0">
                <a:ln>
                  <a:noFill/>
                </a:ln>
                <a:effectLst/>
                <a:latin typeface="Times New Roman"/>
                <a:cs typeface="Times New Roman"/>
              </a:rPr>
              <a:t>Develop an AI-powered recommendation system</a:t>
            </a:r>
            <a:r>
              <a:rPr kumimoji="0" lang="en-US" altLang="en-US" b="0" i="0" u="none" strike="noStrike" cap="none" normalizeH="0" baseline="0">
                <a:ln>
                  <a:noFill/>
                </a:ln>
                <a:effectLst/>
                <a:latin typeface="Times New Roman"/>
                <a:cs typeface="Times New Roman"/>
              </a:rPr>
              <a:t> for suggesting personalized home remedies based on the user’s</a:t>
            </a:r>
            <a:endParaRPr lang="en-US" altLang="en-US">
              <a:latin typeface="Times New Roman"/>
              <a:cs typeface="Times New Roman"/>
            </a:endParaRPr>
          </a:p>
          <a:p>
            <a:pPr>
              <a:spcBef>
                <a:spcPct val="0"/>
              </a:spcBef>
              <a:spcAft>
                <a:spcPct val="0"/>
              </a:spcAft>
            </a:pPr>
            <a:r>
              <a:rPr lang="en-US" altLang="en-US">
                <a:latin typeface="Times New Roman"/>
                <a:cs typeface="Times New Roman"/>
              </a:rPr>
              <a:t>      </a:t>
            </a:r>
            <a:r>
              <a:rPr kumimoji="0" lang="en-US" altLang="en-US" b="0" i="0" u="none" strike="noStrike" cap="none" normalizeH="0" baseline="0">
                <a:ln>
                  <a:noFill/>
                </a:ln>
                <a:effectLst/>
                <a:latin typeface="Times New Roman"/>
                <a:cs typeface="Times New Roman"/>
              </a:rPr>
              <a:t>skin condition.</a:t>
            </a:r>
            <a:endParaRPr lang="en-US"/>
          </a:p>
          <a:p>
            <a:pPr marL="285750" indent="-285750" eaLnBrk="0" fontAlgn="base" hangingPunct="0">
              <a:spcBef>
                <a:spcPct val="0"/>
              </a:spcBef>
              <a:spcAft>
                <a:spcPct val="0"/>
              </a:spcAft>
              <a:buFont typeface="Arial" panose="020B0604020202020204" pitchFamily="34" charset="0"/>
              <a:buChar char="•"/>
            </a:pPr>
            <a:r>
              <a:rPr lang="en-US" b="1">
                <a:latin typeface="Times New Roman"/>
                <a:cs typeface="Times New Roman"/>
              </a:rPr>
              <a:t>Research and create dietary plans</a:t>
            </a:r>
            <a:r>
              <a:rPr lang="en-US">
                <a:latin typeface="Times New Roman"/>
                <a:cs typeface="Times New Roman"/>
              </a:rPr>
              <a:t> focusing on skin health by including foods that promote hydration, reduce acne,</a:t>
            </a:r>
          </a:p>
          <a:p>
            <a:pPr>
              <a:spcBef>
                <a:spcPct val="0"/>
              </a:spcBef>
              <a:spcAft>
                <a:spcPct val="0"/>
              </a:spcAft>
            </a:pPr>
            <a:r>
              <a:rPr lang="en-US">
                <a:latin typeface="Times New Roman"/>
                <a:cs typeface="Times New Roman"/>
              </a:rPr>
              <a:t>      and improve skin tone.</a:t>
            </a:r>
          </a:p>
          <a:p>
            <a:pPr marL="285750" indent="-285750" eaLnBrk="0" fontAlgn="base" hangingPunct="0">
              <a:spcBef>
                <a:spcPct val="0"/>
              </a:spcBef>
              <a:spcAft>
                <a:spcPct val="0"/>
              </a:spcAft>
              <a:buFont typeface="Arial" panose="020B0604020202020204" pitchFamily="34" charset="0"/>
              <a:buChar char="•"/>
            </a:pPr>
            <a:r>
              <a:rPr lang="en-US" b="1">
                <a:latin typeface="Times New Roman"/>
                <a:cs typeface="Times New Roman"/>
              </a:rPr>
              <a:t>Design an AI system</a:t>
            </a:r>
            <a:r>
              <a:rPr lang="en-US">
                <a:latin typeface="Times New Roman"/>
                <a:cs typeface="Times New Roman"/>
              </a:rPr>
              <a:t> to analyze skin tone and hydration levels based on user-uploaded photos.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177954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0CAF7-F5FF-1B66-A687-53FCB5C9F0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402D06-DF72-55C6-FA5C-540094CF0C3E}"/>
              </a:ext>
            </a:extLst>
          </p:cNvPr>
          <p:cNvSpPr>
            <a:spLocks noGrp="1"/>
          </p:cNvSpPr>
          <p:nvPr>
            <p:ph type="title"/>
          </p:nvPr>
        </p:nvSpPr>
        <p:spPr>
          <a:xfrm>
            <a:off x="2971800" y="140778"/>
            <a:ext cx="5466080" cy="782002"/>
          </a:xfrm>
        </p:spPr>
        <p:txBody>
          <a:bodyPr/>
          <a:lstStyle/>
          <a:p>
            <a:pPr algn="l"/>
            <a:r>
              <a:rPr lang="en-US" sz="3000" b="1">
                <a:latin typeface="Arial"/>
                <a:cs typeface="Arial"/>
              </a:rPr>
              <a:t>Requirements Specification</a:t>
            </a:r>
            <a:endParaRPr lang="en-US"/>
          </a:p>
          <a:p>
            <a:pPr algn="l"/>
            <a:r>
              <a:rPr lang="en-US" sz="800">
                <a:latin typeface="Cambria"/>
                <a:ea typeface="Cambria"/>
              </a:rPr>
              <a:t>  </a:t>
            </a:r>
            <a:endParaRPr lang="en-US"/>
          </a:p>
        </p:txBody>
      </p:sp>
      <p:sp>
        <p:nvSpPr>
          <p:cNvPr id="6" name="Title 1">
            <a:extLst>
              <a:ext uri="{FF2B5EF4-FFF2-40B4-BE49-F238E27FC236}">
                <a16:creationId xmlns:a16="http://schemas.microsoft.com/office/drawing/2014/main" id="{F7103CC9-5207-6FEB-6358-4DCD1BF09BA0}"/>
              </a:ext>
            </a:extLst>
          </p:cNvPr>
          <p:cNvSpPr txBox="1">
            <a:spLocks/>
          </p:cNvSpPr>
          <p:nvPr/>
        </p:nvSpPr>
        <p:spPr>
          <a:xfrm>
            <a:off x="304800" y="924560"/>
            <a:ext cx="11684000" cy="792162"/>
          </a:xfrm>
          <a:prstGeom prst="rect">
            <a:avLst/>
          </a:prstGeom>
        </p:spPr>
        <p:txBody>
          <a:bodyPr vert="horz" lIns="91440" tIns="45720" rIns="91440" bIns="45720" rtlCol="0" anchor="ctr">
            <a:normAutofit fontScale="55000" lnSpcReduction="20000"/>
          </a:bodyPr>
          <a:lstStyle>
            <a:lvl1pPr algn="ctr" defTabSz="914400" rtl="0" eaLnBrk="1" latinLnBrk="0" hangingPunct="1">
              <a:spcBef>
                <a:spcPct val="0"/>
              </a:spcBef>
              <a:buNone/>
              <a:defRPr sz="4400" kern="1200">
                <a:solidFill>
                  <a:schemeClr val="tx1"/>
                </a:solidFill>
                <a:latin typeface="Adobe Devanagari" pitchFamily="18" charset="0"/>
                <a:ea typeface="+mj-ea"/>
                <a:cs typeface="Adobe Devanagari" pitchFamily="18" charset="0"/>
              </a:defRPr>
            </a:lvl1pPr>
          </a:lstStyle>
          <a:p>
            <a:pPr algn="l"/>
            <a:r>
              <a:rPr lang="en-US" b="1">
                <a:solidFill>
                  <a:srgbClr val="0000FF"/>
                </a:solidFill>
                <a:latin typeface="Arial"/>
                <a:cs typeface="Arial"/>
              </a:rPr>
              <a:t>Functional Requirements                          </a:t>
            </a:r>
            <a:r>
              <a:rPr lang="en-US" sz="4400" b="1">
                <a:solidFill>
                  <a:srgbClr val="0000FF"/>
                </a:solidFill>
                <a:latin typeface="Arial"/>
                <a:cs typeface="Arial"/>
              </a:rPr>
              <a:t>Non - Functional Requirements</a:t>
            </a:r>
            <a:endParaRPr lang="en-US">
              <a:solidFill>
                <a:srgbClr val="0000FF"/>
              </a:solidFill>
            </a:endParaRPr>
          </a:p>
          <a:p>
            <a:pPr algn="l"/>
            <a:endParaRPr lang="en-US">
              <a:solidFill>
                <a:srgbClr val="0000FF"/>
              </a:solidFill>
            </a:endParaRPr>
          </a:p>
          <a:p>
            <a:pPr algn="l"/>
            <a:r>
              <a:rPr lang="en-US" sz="800">
                <a:latin typeface="Cambria"/>
                <a:ea typeface="Cambria"/>
              </a:rPr>
              <a:t>  </a:t>
            </a:r>
            <a:endParaRPr lang="en-US"/>
          </a:p>
        </p:txBody>
      </p:sp>
      <p:sp>
        <p:nvSpPr>
          <p:cNvPr id="7" name="Title 1">
            <a:extLst>
              <a:ext uri="{FF2B5EF4-FFF2-40B4-BE49-F238E27FC236}">
                <a16:creationId xmlns:a16="http://schemas.microsoft.com/office/drawing/2014/main" id="{0F063AF9-4F98-AED2-9174-EF8D7512FA35}"/>
              </a:ext>
            </a:extLst>
          </p:cNvPr>
          <p:cNvSpPr txBox="1">
            <a:spLocks/>
          </p:cNvSpPr>
          <p:nvPr/>
        </p:nvSpPr>
        <p:spPr>
          <a:xfrm>
            <a:off x="406400" y="3566159"/>
            <a:ext cx="11684000" cy="79216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Adobe Devanagari" pitchFamily="18" charset="0"/>
                <a:ea typeface="+mj-ea"/>
                <a:cs typeface="Adobe Devanagari" pitchFamily="18" charset="0"/>
              </a:defRPr>
            </a:lvl1pPr>
          </a:lstStyle>
          <a:p>
            <a:pPr algn="l"/>
            <a:endParaRPr lang="en-US">
              <a:solidFill>
                <a:srgbClr val="0000FF"/>
              </a:solidFill>
            </a:endParaRPr>
          </a:p>
        </p:txBody>
      </p:sp>
      <p:sp>
        <p:nvSpPr>
          <p:cNvPr id="3" name="Rectangle 1">
            <a:extLst>
              <a:ext uri="{FF2B5EF4-FFF2-40B4-BE49-F238E27FC236}">
                <a16:creationId xmlns:a16="http://schemas.microsoft.com/office/drawing/2014/main" id="{0F88CA95-01FA-485C-6C7F-C3E5862FD214}"/>
              </a:ext>
            </a:extLst>
          </p:cNvPr>
          <p:cNvSpPr>
            <a:spLocks noChangeArrowheads="1"/>
          </p:cNvSpPr>
          <p:nvPr/>
        </p:nvSpPr>
        <p:spPr bwMode="auto">
          <a:xfrm>
            <a:off x="-1015999" y="1584044"/>
            <a:ext cx="6349987" cy="43493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600200" marR="544195" lvl="3" indent="-228600">
              <a:lnSpc>
                <a:spcPct val="145000"/>
              </a:lnSpc>
              <a:buFont typeface="Symbol" panose="05050102010706020507" pitchFamily="18" charset="2"/>
              <a:buChar char=""/>
              <a:tabLst>
                <a:tab pos="1101725" algn="l"/>
              </a:tabLst>
            </a:pPr>
            <a:r>
              <a:rPr lang="en-US" sz="1800" spc="-1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Skin</a:t>
            </a:r>
            <a:r>
              <a:rPr lang="en-US" sz="1800" spc="-35">
                <a:solidFill>
                  <a:srgbClr val="242424"/>
                </a:solidFill>
                <a:effectLst/>
                <a:latin typeface="Times New Roman" panose="02020603050405020304" pitchFamily="18" charset="0"/>
                <a:ea typeface="Symbol" panose="05050102010706020507" pitchFamily="18" charset="2"/>
                <a:cs typeface="Symbol" panose="05050102010706020507" pitchFamily="18" charset="2"/>
              </a:rPr>
              <a:t> </a:t>
            </a:r>
            <a:r>
              <a:rPr lang="en-US" sz="1800" spc="-1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Disease</a:t>
            </a:r>
            <a:r>
              <a:rPr lang="en-US" sz="1800" spc="-15">
                <a:solidFill>
                  <a:srgbClr val="242424"/>
                </a:solidFill>
                <a:effectLst/>
                <a:latin typeface="Times New Roman" panose="02020603050405020304" pitchFamily="18" charset="0"/>
                <a:ea typeface="Symbol" panose="05050102010706020507" pitchFamily="18" charset="2"/>
                <a:cs typeface="Symbol" panose="05050102010706020507" pitchFamily="18" charset="2"/>
              </a:rPr>
              <a:t> </a:t>
            </a:r>
            <a:r>
              <a:rPr lang="en-US" sz="1800" spc="-1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Identification:</a:t>
            </a:r>
            <a:r>
              <a:rPr lang="en-US" sz="1800" spc="-35">
                <a:solidFill>
                  <a:srgbClr val="242424"/>
                </a:solidFill>
                <a:effectLst/>
                <a:latin typeface="Times New Roman" panose="02020603050405020304" pitchFamily="18" charset="0"/>
                <a:ea typeface="Symbol" panose="05050102010706020507" pitchFamily="18" charset="2"/>
                <a:cs typeface="Symbol" panose="05050102010706020507" pitchFamily="18" charset="2"/>
              </a:rPr>
              <a:t> </a:t>
            </a:r>
            <a:r>
              <a:rPr lang="en-US" sz="1800" spc="-1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Classify</a:t>
            </a:r>
            <a:r>
              <a:rPr lang="en-US" sz="1800" spc="-25">
                <a:solidFill>
                  <a:srgbClr val="242424"/>
                </a:solidFill>
                <a:effectLst/>
                <a:latin typeface="Times New Roman" panose="02020603050405020304" pitchFamily="18" charset="0"/>
                <a:ea typeface="Symbol" panose="05050102010706020507" pitchFamily="18" charset="2"/>
                <a:cs typeface="Symbol" panose="05050102010706020507" pitchFamily="18" charset="2"/>
              </a:rPr>
              <a:t> </a:t>
            </a:r>
            <a:r>
              <a:rPr lang="en-US" sz="1800" spc="-1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skin</a:t>
            </a:r>
            <a:r>
              <a:rPr lang="en-US" sz="1800" spc="-35">
                <a:solidFill>
                  <a:srgbClr val="242424"/>
                </a:solidFill>
                <a:effectLst/>
                <a:latin typeface="Times New Roman" panose="02020603050405020304" pitchFamily="18" charset="0"/>
                <a:ea typeface="Symbol" panose="05050102010706020507" pitchFamily="18" charset="2"/>
                <a:cs typeface="Symbol" panose="05050102010706020507" pitchFamily="18" charset="2"/>
              </a:rPr>
              <a:t> </a:t>
            </a:r>
            <a:r>
              <a:rPr lang="en-US" sz="1800" spc="-1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diseases</a:t>
            </a:r>
            <a:r>
              <a:rPr lang="en-US" sz="1800" spc="-35">
                <a:solidFill>
                  <a:srgbClr val="242424"/>
                </a:solidFill>
                <a:effectLst/>
                <a:latin typeface="Times New Roman" panose="02020603050405020304" pitchFamily="18" charset="0"/>
                <a:ea typeface="Symbol" panose="05050102010706020507" pitchFamily="18" charset="2"/>
                <a:cs typeface="Symbol" panose="05050102010706020507" pitchFamily="18" charset="2"/>
              </a:rPr>
              <a:t> </a:t>
            </a:r>
            <a:r>
              <a:rPr lang="en-US" sz="1800" spc="-1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into</a:t>
            </a:r>
            <a:r>
              <a:rPr lang="en-US" sz="1800" spc="-35">
                <a:solidFill>
                  <a:srgbClr val="242424"/>
                </a:solidFill>
                <a:effectLst/>
                <a:latin typeface="Times New Roman" panose="02020603050405020304" pitchFamily="18" charset="0"/>
                <a:ea typeface="Symbol" panose="05050102010706020507" pitchFamily="18" charset="2"/>
                <a:cs typeface="Symbol" panose="05050102010706020507" pitchFamily="18" charset="2"/>
              </a:rPr>
              <a:t> </a:t>
            </a:r>
            <a:r>
              <a:rPr lang="en-US" sz="1800" spc="-1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mild,</a:t>
            </a:r>
            <a:r>
              <a:rPr lang="en-US" sz="1800" spc="-35">
                <a:solidFill>
                  <a:srgbClr val="242424"/>
                </a:solidFill>
                <a:effectLst/>
                <a:latin typeface="Times New Roman" panose="02020603050405020304" pitchFamily="18" charset="0"/>
                <a:ea typeface="Symbol" panose="05050102010706020507" pitchFamily="18" charset="2"/>
                <a:cs typeface="Symbol" panose="05050102010706020507" pitchFamily="18" charset="2"/>
              </a:rPr>
              <a:t> </a:t>
            </a:r>
            <a:r>
              <a:rPr lang="en-US" sz="1800" spc="-1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moderate,</a:t>
            </a:r>
            <a:r>
              <a:rPr lang="en-US" sz="1800" spc="-25">
                <a:solidFill>
                  <a:srgbClr val="242424"/>
                </a:solidFill>
                <a:effectLst/>
                <a:latin typeface="Times New Roman" panose="02020603050405020304" pitchFamily="18" charset="0"/>
                <a:ea typeface="Symbol" panose="05050102010706020507" pitchFamily="18" charset="2"/>
                <a:cs typeface="Symbol" panose="05050102010706020507" pitchFamily="18" charset="2"/>
              </a:rPr>
              <a:t> </a:t>
            </a:r>
            <a:r>
              <a:rPr lang="en-US" sz="1800" spc="-1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and</a:t>
            </a:r>
            <a:r>
              <a:rPr lang="en-US" sz="1800" spc="-25">
                <a:solidFill>
                  <a:srgbClr val="242424"/>
                </a:solidFill>
                <a:effectLst/>
                <a:latin typeface="Times New Roman" panose="02020603050405020304" pitchFamily="18" charset="0"/>
                <a:ea typeface="Symbol" panose="05050102010706020507" pitchFamily="18" charset="2"/>
                <a:cs typeface="Symbol" panose="05050102010706020507" pitchFamily="18" charset="2"/>
              </a:rPr>
              <a:t> </a:t>
            </a:r>
            <a:r>
              <a:rPr lang="en-US" sz="1800" spc="-1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severe</a:t>
            </a:r>
            <a:r>
              <a:rPr lang="en-US" sz="1800" spc="-3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 </a:t>
            </a:r>
            <a:r>
              <a:rPr lang="en-US" sz="1800" spc="-1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stages </a:t>
            </a:r>
            <a:r>
              <a:rPr lang="en-US" sz="1800" spc="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based on image analysis.</a:t>
            </a:r>
            <a:endParaRPr lang="en-US" sz="1800" spc="0">
              <a:effectLst/>
              <a:latin typeface="Times New Roman" panose="02020603050405020304" pitchFamily="18" charset="0"/>
              <a:ea typeface="Symbol" panose="05050102010706020507" pitchFamily="18" charset="2"/>
              <a:cs typeface="Symbol" panose="05050102010706020507" pitchFamily="18" charset="2"/>
            </a:endParaRPr>
          </a:p>
          <a:p>
            <a:pPr marL="1600200" marR="0" lvl="3" indent="-228600">
              <a:spcBef>
                <a:spcPts val="75"/>
              </a:spcBef>
              <a:buFont typeface="Symbol" panose="05050102010706020507" pitchFamily="18" charset="2"/>
              <a:buChar char=""/>
              <a:tabLst>
                <a:tab pos="1101725" algn="l"/>
              </a:tabLst>
            </a:pPr>
            <a:r>
              <a:rPr lang="en-US" sz="1800" spc="-1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Skin</a:t>
            </a:r>
            <a:r>
              <a:rPr lang="en-US" sz="1800" spc="-35">
                <a:solidFill>
                  <a:srgbClr val="242424"/>
                </a:solidFill>
                <a:effectLst/>
                <a:latin typeface="Times New Roman" panose="02020603050405020304" pitchFamily="18" charset="0"/>
                <a:ea typeface="Symbol" panose="05050102010706020507" pitchFamily="18" charset="2"/>
                <a:cs typeface="Symbol" panose="05050102010706020507" pitchFamily="18" charset="2"/>
              </a:rPr>
              <a:t> </a:t>
            </a:r>
            <a:r>
              <a:rPr lang="en-US" sz="1800" spc="-1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Tone</a:t>
            </a:r>
            <a:r>
              <a:rPr lang="en-US" sz="1800" spc="-15">
                <a:solidFill>
                  <a:srgbClr val="242424"/>
                </a:solidFill>
                <a:effectLst/>
                <a:latin typeface="Times New Roman" panose="02020603050405020304" pitchFamily="18" charset="0"/>
                <a:ea typeface="Symbol" panose="05050102010706020507" pitchFamily="18" charset="2"/>
                <a:cs typeface="Symbol" panose="05050102010706020507" pitchFamily="18" charset="2"/>
              </a:rPr>
              <a:t> </a:t>
            </a:r>
            <a:r>
              <a:rPr lang="en-US" sz="1800" spc="-1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Analysis:</a:t>
            </a:r>
            <a:r>
              <a:rPr lang="en-US" sz="1800" spc="-25">
                <a:solidFill>
                  <a:srgbClr val="242424"/>
                </a:solidFill>
                <a:effectLst/>
                <a:latin typeface="Times New Roman" panose="02020603050405020304" pitchFamily="18" charset="0"/>
                <a:ea typeface="Symbol" panose="05050102010706020507" pitchFamily="18" charset="2"/>
                <a:cs typeface="Symbol" panose="05050102010706020507" pitchFamily="18" charset="2"/>
              </a:rPr>
              <a:t> </a:t>
            </a:r>
            <a:r>
              <a:rPr lang="en-US" sz="1800" spc="-1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Determine</a:t>
            </a:r>
            <a:r>
              <a:rPr lang="en-US" sz="1800" spc="-25">
                <a:solidFill>
                  <a:srgbClr val="242424"/>
                </a:solidFill>
                <a:effectLst/>
                <a:latin typeface="Times New Roman" panose="02020603050405020304" pitchFamily="18" charset="0"/>
                <a:ea typeface="Symbol" panose="05050102010706020507" pitchFamily="18" charset="2"/>
                <a:cs typeface="Symbol" panose="05050102010706020507" pitchFamily="18" charset="2"/>
              </a:rPr>
              <a:t> </a:t>
            </a:r>
            <a:r>
              <a:rPr lang="en-US" sz="1800" spc="-1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skin</a:t>
            </a:r>
            <a:r>
              <a:rPr lang="en-US" sz="1800" spc="-25">
                <a:solidFill>
                  <a:srgbClr val="242424"/>
                </a:solidFill>
                <a:effectLst/>
                <a:latin typeface="Times New Roman" panose="02020603050405020304" pitchFamily="18" charset="0"/>
                <a:ea typeface="Symbol" panose="05050102010706020507" pitchFamily="18" charset="2"/>
                <a:cs typeface="Symbol" panose="05050102010706020507" pitchFamily="18" charset="2"/>
              </a:rPr>
              <a:t> </a:t>
            </a:r>
            <a:r>
              <a:rPr lang="en-US" sz="1800" spc="-1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tone</a:t>
            </a:r>
            <a:r>
              <a:rPr lang="en-US" sz="1800" spc="-3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 </a:t>
            </a:r>
            <a:r>
              <a:rPr lang="en-US" sz="1800" spc="-1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categories</a:t>
            </a:r>
            <a:r>
              <a:rPr lang="en-US" sz="1800" spc="-25">
                <a:solidFill>
                  <a:srgbClr val="242424"/>
                </a:solidFill>
                <a:effectLst/>
                <a:latin typeface="Times New Roman" panose="02020603050405020304" pitchFamily="18" charset="0"/>
                <a:ea typeface="Symbol" panose="05050102010706020507" pitchFamily="18" charset="2"/>
                <a:cs typeface="Symbol" panose="05050102010706020507" pitchFamily="18" charset="2"/>
              </a:rPr>
              <a:t> </a:t>
            </a:r>
            <a:r>
              <a:rPr lang="en-US" sz="1800" spc="-1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(fair,</a:t>
            </a:r>
            <a:r>
              <a:rPr lang="en-US" sz="1800" spc="-15">
                <a:solidFill>
                  <a:srgbClr val="242424"/>
                </a:solidFill>
                <a:effectLst/>
                <a:latin typeface="Times New Roman" panose="02020603050405020304" pitchFamily="18" charset="0"/>
                <a:ea typeface="Symbol" panose="05050102010706020507" pitchFamily="18" charset="2"/>
                <a:cs typeface="Symbol" panose="05050102010706020507" pitchFamily="18" charset="2"/>
              </a:rPr>
              <a:t> </a:t>
            </a:r>
            <a:r>
              <a:rPr lang="en-US" sz="1800" spc="-1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medium, dark)</a:t>
            </a:r>
            <a:r>
              <a:rPr lang="en-US" sz="1800" spc="-15">
                <a:solidFill>
                  <a:srgbClr val="242424"/>
                </a:solidFill>
                <a:effectLst/>
                <a:latin typeface="Times New Roman" panose="02020603050405020304" pitchFamily="18" charset="0"/>
                <a:ea typeface="Symbol" panose="05050102010706020507" pitchFamily="18" charset="2"/>
                <a:cs typeface="Symbol" panose="05050102010706020507" pitchFamily="18" charset="2"/>
              </a:rPr>
              <a:t> </a:t>
            </a:r>
            <a:r>
              <a:rPr lang="en-US" sz="1800" spc="-1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using</a:t>
            </a:r>
            <a:r>
              <a:rPr lang="en-US" sz="1800" spc="-25">
                <a:solidFill>
                  <a:srgbClr val="242424"/>
                </a:solidFill>
                <a:effectLst/>
                <a:latin typeface="Times New Roman" panose="02020603050405020304" pitchFamily="18" charset="0"/>
                <a:ea typeface="Symbol" panose="05050102010706020507" pitchFamily="18" charset="2"/>
                <a:cs typeface="Symbol" panose="05050102010706020507" pitchFamily="18" charset="2"/>
              </a:rPr>
              <a:t> </a:t>
            </a:r>
            <a:r>
              <a:rPr lang="en-US" sz="1800" spc="-1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AI</a:t>
            </a:r>
            <a:r>
              <a:rPr lang="en-US" sz="1800" spc="-25">
                <a:solidFill>
                  <a:srgbClr val="242424"/>
                </a:solidFill>
                <a:effectLst/>
                <a:latin typeface="Times New Roman" panose="02020603050405020304" pitchFamily="18" charset="0"/>
                <a:ea typeface="Symbol" panose="05050102010706020507" pitchFamily="18" charset="2"/>
                <a:cs typeface="Symbol" panose="05050102010706020507" pitchFamily="18" charset="2"/>
              </a:rPr>
              <a:t> </a:t>
            </a:r>
            <a:r>
              <a:rPr lang="en-US" sz="1800" spc="-1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techniques.</a:t>
            </a:r>
            <a:endParaRPr lang="en-US" sz="1800" spc="0">
              <a:effectLst/>
              <a:latin typeface="Times New Roman" panose="02020603050405020304" pitchFamily="18" charset="0"/>
              <a:ea typeface="Symbol" panose="05050102010706020507" pitchFamily="18" charset="2"/>
              <a:cs typeface="Symbol" panose="05050102010706020507" pitchFamily="18" charset="2"/>
            </a:endParaRPr>
          </a:p>
          <a:p>
            <a:pPr marL="1600200" marR="0" lvl="3" indent="-228600">
              <a:spcBef>
                <a:spcPts val="690"/>
              </a:spcBef>
              <a:buFont typeface="Symbol" panose="05050102010706020507" pitchFamily="18" charset="2"/>
              <a:buChar char=""/>
              <a:tabLst>
                <a:tab pos="1101725" algn="l"/>
              </a:tabLst>
            </a:pPr>
            <a:r>
              <a:rPr lang="en-US" sz="1800" spc="-1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Hydration</a:t>
            </a:r>
            <a:r>
              <a:rPr lang="en-US" sz="1800" spc="-35">
                <a:solidFill>
                  <a:srgbClr val="242424"/>
                </a:solidFill>
                <a:effectLst/>
                <a:latin typeface="Times New Roman" panose="02020603050405020304" pitchFamily="18" charset="0"/>
                <a:ea typeface="Symbol" panose="05050102010706020507" pitchFamily="18" charset="2"/>
                <a:cs typeface="Symbol" panose="05050102010706020507" pitchFamily="18" charset="2"/>
              </a:rPr>
              <a:t> </a:t>
            </a:r>
            <a:r>
              <a:rPr lang="en-US" sz="1800" spc="-1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Assessment:</a:t>
            </a:r>
            <a:r>
              <a:rPr lang="en-US" sz="1800" spc="-35">
                <a:solidFill>
                  <a:srgbClr val="242424"/>
                </a:solidFill>
                <a:effectLst/>
                <a:latin typeface="Times New Roman" panose="02020603050405020304" pitchFamily="18" charset="0"/>
                <a:ea typeface="Symbol" panose="05050102010706020507" pitchFamily="18" charset="2"/>
                <a:cs typeface="Symbol" panose="05050102010706020507" pitchFamily="18" charset="2"/>
              </a:rPr>
              <a:t> </a:t>
            </a:r>
            <a:r>
              <a:rPr lang="en-US" sz="1800" spc="-1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Evaluate</a:t>
            </a:r>
            <a:r>
              <a:rPr lang="en-US" sz="1800" spc="-35">
                <a:solidFill>
                  <a:srgbClr val="242424"/>
                </a:solidFill>
                <a:effectLst/>
                <a:latin typeface="Times New Roman" panose="02020603050405020304" pitchFamily="18" charset="0"/>
                <a:ea typeface="Symbol" panose="05050102010706020507" pitchFamily="18" charset="2"/>
                <a:cs typeface="Symbol" panose="05050102010706020507" pitchFamily="18" charset="2"/>
              </a:rPr>
              <a:t> </a:t>
            </a:r>
            <a:r>
              <a:rPr lang="en-US" sz="1800" spc="-1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skin</a:t>
            </a:r>
            <a:r>
              <a:rPr lang="en-US" sz="1800" spc="-25">
                <a:solidFill>
                  <a:srgbClr val="242424"/>
                </a:solidFill>
                <a:effectLst/>
                <a:latin typeface="Times New Roman" panose="02020603050405020304" pitchFamily="18" charset="0"/>
                <a:ea typeface="Symbol" panose="05050102010706020507" pitchFamily="18" charset="2"/>
                <a:cs typeface="Symbol" panose="05050102010706020507" pitchFamily="18" charset="2"/>
              </a:rPr>
              <a:t> </a:t>
            </a:r>
            <a:r>
              <a:rPr lang="en-US" sz="1800" spc="-1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hydration</a:t>
            </a:r>
            <a:r>
              <a:rPr lang="en-US" sz="1800" spc="-25">
                <a:solidFill>
                  <a:srgbClr val="242424"/>
                </a:solidFill>
                <a:effectLst/>
                <a:latin typeface="Times New Roman" panose="02020603050405020304" pitchFamily="18" charset="0"/>
                <a:ea typeface="Symbol" panose="05050102010706020507" pitchFamily="18" charset="2"/>
                <a:cs typeface="Symbol" panose="05050102010706020507" pitchFamily="18" charset="2"/>
              </a:rPr>
              <a:t> </a:t>
            </a:r>
            <a:r>
              <a:rPr lang="en-US" sz="1800" spc="-1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levels</a:t>
            </a:r>
            <a:r>
              <a:rPr lang="en-US" sz="1800" spc="-3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 </a:t>
            </a:r>
            <a:r>
              <a:rPr lang="en-US" sz="1800" spc="-1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through</a:t>
            </a:r>
            <a:r>
              <a:rPr lang="en-US" sz="1800" spc="-35">
                <a:solidFill>
                  <a:srgbClr val="242424"/>
                </a:solidFill>
                <a:effectLst/>
                <a:latin typeface="Times New Roman" panose="02020603050405020304" pitchFamily="18" charset="0"/>
                <a:ea typeface="Symbol" panose="05050102010706020507" pitchFamily="18" charset="2"/>
                <a:cs typeface="Symbol" panose="05050102010706020507" pitchFamily="18" charset="2"/>
              </a:rPr>
              <a:t> </a:t>
            </a:r>
            <a:r>
              <a:rPr lang="en-US" sz="1800" spc="-1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image-based</a:t>
            </a:r>
            <a:r>
              <a:rPr lang="en-US" sz="1800" spc="-5">
                <a:solidFill>
                  <a:srgbClr val="242424"/>
                </a:solidFill>
                <a:effectLst/>
                <a:latin typeface="Times New Roman" panose="02020603050405020304" pitchFamily="18" charset="0"/>
                <a:ea typeface="Symbol" panose="05050102010706020507" pitchFamily="18" charset="2"/>
                <a:cs typeface="Symbol" panose="05050102010706020507" pitchFamily="18" charset="2"/>
              </a:rPr>
              <a:t> </a:t>
            </a:r>
            <a:r>
              <a:rPr lang="en-US" sz="1800" spc="-1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analysis.</a:t>
            </a:r>
            <a:endParaRPr lang="en-US" sz="1800" spc="0">
              <a:effectLst/>
              <a:latin typeface="Times New Roman" panose="02020603050405020304" pitchFamily="18" charset="0"/>
              <a:ea typeface="Symbol" panose="05050102010706020507" pitchFamily="18" charset="2"/>
              <a:cs typeface="Symbol" panose="05050102010706020507" pitchFamily="18" charset="2"/>
            </a:endParaRPr>
          </a:p>
          <a:p>
            <a:pPr marL="1600200" marR="0" lvl="3" indent="-228600">
              <a:spcBef>
                <a:spcPts val="690"/>
              </a:spcBef>
              <a:buFont typeface="Symbol" panose="05050102010706020507" pitchFamily="18" charset="2"/>
              <a:buChar char=""/>
              <a:tabLst>
                <a:tab pos="1101725" algn="l"/>
              </a:tabLst>
            </a:pPr>
            <a:r>
              <a:rPr lang="en-US" sz="1800" spc="-1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User</a:t>
            </a:r>
            <a:r>
              <a:rPr lang="en-US" sz="1800" spc="-5">
                <a:solidFill>
                  <a:srgbClr val="242424"/>
                </a:solidFill>
                <a:effectLst/>
                <a:latin typeface="Times New Roman" panose="02020603050405020304" pitchFamily="18" charset="0"/>
                <a:ea typeface="Symbol" panose="05050102010706020507" pitchFamily="18" charset="2"/>
                <a:cs typeface="Symbol" panose="05050102010706020507" pitchFamily="18" charset="2"/>
              </a:rPr>
              <a:t> </a:t>
            </a:r>
            <a:r>
              <a:rPr lang="en-US" sz="1800" spc="-1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Interface: Provide</a:t>
            </a:r>
            <a:r>
              <a:rPr lang="en-US" sz="1800" spc="-2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 </a:t>
            </a:r>
            <a:r>
              <a:rPr lang="en-US" sz="1800" spc="-1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an</a:t>
            </a:r>
            <a:r>
              <a:rPr lang="en-US" sz="1800" spc="-25">
                <a:solidFill>
                  <a:srgbClr val="242424"/>
                </a:solidFill>
                <a:effectLst/>
                <a:latin typeface="Times New Roman" panose="02020603050405020304" pitchFamily="18" charset="0"/>
                <a:ea typeface="Symbol" panose="05050102010706020507" pitchFamily="18" charset="2"/>
                <a:cs typeface="Symbol" panose="05050102010706020507" pitchFamily="18" charset="2"/>
              </a:rPr>
              <a:t> </a:t>
            </a:r>
            <a:r>
              <a:rPr lang="en-US" sz="1800" spc="-1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intuitive</a:t>
            </a:r>
            <a:r>
              <a:rPr lang="en-US" sz="1800" spc="-3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 </a:t>
            </a:r>
            <a:r>
              <a:rPr lang="en-US" sz="1800" spc="-1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interface</a:t>
            </a:r>
            <a:r>
              <a:rPr lang="en-US" sz="1800" spc="-3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 </a:t>
            </a:r>
            <a:r>
              <a:rPr lang="en-US" sz="1800" spc="-1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for</a:t>
            </a:r>
            <a:r>
              <a:rPr lang="en-US" sz="1800" spc="-3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 </a:t>
            </a:r>
            <a:r>
              <a:rPr lang="en-US" sz="1800" spc="-1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users</a:t>
            </a:r>
            <a:r>
              <a:rPr lang="en-US" sz="1800" spc="-25">
                <a:solidFill>
                  <a:srgbClr val="242424"/>
                </a:solidFill>
                <a:effectLst/>
                <a:latin typeface="Times New Roman" panose="02020603050405020304" pitchFamily="18" charset="0"/>
                <a:ea typeface="Symbol" panose="05050102010706020507" pitchFamily="18" charset="2"/>
                <a:cs typeface="Symbol" panose="05050102010706020507" pitchFamily="18" charset="2"/>
              </a:rPr>
              <a:t> </a:t>
            </a:r>
            <a:r>
              <a:rPr lang="en-US" sz="1800" spc="-1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to</a:t>
            </a:r>
            <a:r>
              <a:rPr lang="en-US" sz="1800" spc="-15">
                <a:solidFill>
                  <a:srgbClr val="242424"/>
                </a:solidFill>
                <a:effectLst/>
                <a:latin typeface="Times New Roman" panose="02020603050405020304" pitchFamily="18" charset="0"/>
                <a:ea typeface="Symbol" panose="05050102010706020507" pitchFamily="18" charset="2"/>
                <a:cs typeface="Symbol" panose="05050102010706020507" pitchFamily="18" charset="2"/>
              </a:rPr>
              <a:t> </a:t>
            </a:r>
            <a:r>
              <a:rPr lang="en-US" sz="1800" spc="-1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upload</a:t>
            </a:r>
            <a:r>
              <a:rPr lang="en-US" sz="1800" spc="-25">
                <a:solidFill>
                  <a:srgbClr val="242424"/>
                </a:solidFill>
                <a:effectLst/>
                <a:latin typeface="Times New Roman" panose="02020603050405020304" pitchFamily="18" charset="0"/>
                <a:ea typeface="Symbol" panose="05050102010706020507" pitchFamily="18" charset="2"/>
                <a:cs typeface="Symbol" panose="05050102010706020507" pitchFamily="18" charset="2"/>
              </a:rPr>
              <a:t> </a:t>
            </a:r>
            <a:r>
              <a:rPr lang="en-US" sz="1800" spc="-1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images</a:t>
            </a:r>
            <a:r>
              <a:rPr lang="en-US" sz="1800" spc="-15">
                <a:solidFill>
                  <a:srgbClr val="242424"/>
                </a:solidFill>
                <a:effectLst/>
                <a:latin typeface="Times New Roman" panose="02020603050405020304" pitchFamily="18" charset="0"/>
                <a:ea typeface="Symbol" panose="05050102010706020507" pitchFamily="18" charset="2"/>
                <a:cs typeface="Symbol" panose="05050102010706020507" pitchFamily="18" charset="2"/>
              </a:rPr>
              <a:t> </a:t>
            </a:r>
            <a:r>
              <a:rPr lang="en-US" sz="1800" spc="-1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and</a:t>
            </a:r>
            <a:r>
              <a:rPr lang="en-US" sz="1800" spc="-15">
                <a:solidFill>
                  <a:srgbClr val="242424"/>
                </a:solidFill>
                <a:effectLst/>
                <a:latin typeface="Times New Roman" panose="02020603050405020304" pitchFamily="18" charset="0"/>
                <a:ea typeface="Symbol" panose="05050102010706020507" pitchFamily="18" charset="2"/>
                <a:cs typeface="Symbol" panose="05050102010706020507" pitchFamily="18" charset="2"/>
              </a:rPr>
              <a:t> </a:t>
            </a:r>
            <a:r>
              <a:rPr lang="en-US" sz="1800" spc="-1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receive</a:t>
            </a:r>
            <a:r>
              <a:rPr lang="en-US" sz="1800" spc="-3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 </a:t>
            </a:r>
            <a:r>
              <a:rPr lang="en-US" sz="1800" spc="-1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results.</a:t>
            </a:r>
            <a:endParaRPr lang="en-US" sz="1800" spc="0">
              <a:effectLst/>
              <a:latin typeface="Times New Roman" panose="02020603050405020304" pitchFamily="18" charset="0"/>
              <a:ea typeface="Symbol" panose="05050102010706020507" pitchFamily="18" charset="2"/>
              <a:cs typeface="Symbol" panose="05050102010706020507" pitchFamily="18" charset="2"/>
            </a:endParaRPr>
          </a:p>
          <a:p>
            <a:pPr marL="1600200" marR="0" lvl="3" indent="-228600">
              <a:spcBef>
                <a:spcPts val="695"/>
              </a:spcBef>
              <a:buFont typeface="Symbol" panose="05050102010706020507" pitchFamily="18" charset="2"/>
              <a:buChar char=""/>
              <a:tabLst>
                <a:tab pos="1101725" algn="l"/>
              </a:tabLst>
            </a:pPr>
            <a:r>
              <a:rPr lang="en-US" sz="1800" spc="-1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Reporting:</a:t>
            </a:r>
            <a:r>
              <a:rPr lang="en-US" sz="1800" spc="-3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 </a:t>
            </a:r>
            <a:r>
              <a:rPr lang="en-US" sz="1800" spc="-1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Generate</a:t>
            </a:r>
            <a:r>
              <a:rPr lang="en-US" sz="1800" spc="-35">
                <a:solidFill>
                  <a:srgbClr val="242424"/>
                </a:solidFill>
                <a:effectLst/>
                <a:latin typeface="Times New Roman" panose="02020603050405020304" pitchFamily="18" charset="0"/>
                <a:ea typeface="Symbol" panose="05050102010706020507" pitchFamily="18" charset="2"/>
                <a:cs typeface="Symbol" panose="05050102010706020507" pitchFamily="18" charset="2"/>
              </a:rPr>
              <a:t> </a:t>
            </a:r>
            <a:r>
              <a:rPr lang="en-US" sz="1800" spc="-1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detailed</a:t>
            </a:r>
            <a:r>
              <a:rPr lang="en-US" sz="1800" spc="-3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 </a:t>
            </a:r>
            <a:r>
              <a:rPr lang="en-US" sz="1800" spc="-1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reports</a:t>
            </a:r>
            <a:r>
              <a:rPr lang="en-US" sz="1800" spc="-3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 </a:t>
            </a:r>
            <a:r>
              <a:rPr lang="en-US" sz="1800" spc="-1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with</a:t>
            </a:r>
            <a:r>
              <a:rPr lang="en-US" sz="1800" spc="-2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 </a:t>
            </a:r>
            <a:r>
              <a:rPr lang="en-US" sz="1800" spc="-1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severity</a:t>
            </a:r>
            <a:r>
              <a:rPr lang="en-US" sz="1800" spc="-2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 </a:t>
            </a:r>
            <a:r>
              <a:rPr lang="en-US" sz="1800" spc="-1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levels</a:t>
            </a:r>
            <a:r>
              <a:rPr lang="en-US" sz="1800" spc="-2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 </a:t>
            </a:r>
            <a:r>
              <a:rPr lang="en-US" sz="1800" spc="-1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and</a:t>
            </a:r>
            <a:r>
              <a:rPr lang="en-US" sz="1800" spc="-2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 </a:t>
            </a:r>
            <a:r>
              <a:rPr lang="en-US" sz="1800" spc="-10">
                <a:solidFill>
                  <a:srgbClr val="242424"/>
                </a:solidFill>
                <a:effectLst/>
                <a:latin typeface="Times New Roman" panose="02020603050405020304" pitchFamily="18" charset="0"/>
                <a:ea typeface="Symbol" panose="05050102010706020507" pitchFamily="18" charset="2"/>
                <a:cs typeface="Symbol" panose="05050102010706020507" pitchFamily="18" charset="2"/>
              </a:rPr>
              <a:t>recommendations</a:t>
            </a:r>
            <a:endParaRPr lang="en-US" sz="1800" spc="0">
              <a:effectLst/>
              <a:latin typeface="Times New Roman" panose="02020603050405020304" pitchFamily="18" charset="0"/>
              <a:ea typeface="Symbol" panose="05050102010706020507" pitchFamily="18" charset="2"/>
              <a:cs typeface="Symbol" panose="05050102010706020507" pitchFamily="18" charset="2"/>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 name="Rectangle 2">
            <a:extLst>
              <a:ext uri="{FF2B5EF4-FFF2-40B4-BE49-F238E27FC236}">
                <a16:creationId xmlns:a16="http://schemas.microsoft.com/office/drawing/2014/main" id="{524BAEAE-408E-5EDA-A2EC-A26E69EF829A}"/>
              </a:ext>
            </a:extLst>
          </p:cNvPr>
          <p:cNvSpPr>
            <a:spLocks noChangeArrowheads="1"/>
          </p:cNvSpPr>
          <p:nvPr/>
        </p:nvSpPr>
        <p:spPr bwMode="auto">
          <a:xfrm>
            <a:off x="4675240" y="1716722"/>
            <a:ext cx="6983360" cy="3877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600200" marR="0" lvl="3" indent="-228600">
              <a:buFont typeface="Symbol" panose="05050102010706020507" pitchFamily="18" charset="2"/>
              <a:buChar char=""/>
              <a:tabLst>
                <a:tab pos="1101725" algn="l"/>
              </a:tabLst>
            </a:pPr>
            <a:r>
              <a:rPr lang="en-US" sz="1800" spc="0">
                <a:effectLst/>
                <a:latin typeface="Times New Roman" panose="02020603050405020304" pitchFamily="18" charset="0"/>
                <a:ea typeface="Symbol" panose="05050102010706020507" pitchFamily="18" charset="2"/>
                <a:cs typeface="Symbol" panose="05050102010706020507" pitchFamily="18" charset="2"/>
              </a:rPr>
              <a:t>Performance:</a:t>
            </a:r>
            <a:r>
              <a:rPr lang="en-US" sz="1800" spc="-20">
                <a:effectLst/>
                <a:latin typeface="Times New Roman" panose="02020603050405020304" pitchFamily="18" charset="0"/>
                <a:ea typeface="Symbol" panose="05050102010706020507" pitchFamily="18" charset="2"/>
                <a:cs typeface="Symbol" panose="05050102010706020507" pitchFamily="18" charset="2"/>
              </a:rPr>
              <a:t> </a:t>
            </a:r>
            <a:r>
              <a:rPr lang="en-US" sz="1800" spc="0">
                <a:effectLst/>
                <a:latin typeface="Times New Roman" panose="02020603050405020304" pitchFamily="18" charset="0"/>
                <a:ea typeface="Symbol" panose="05050102010706020507" pitchFamily="18" charset="2"/>
                <a:cs typeface="Symbol" panose="05050102010706020507" pitchFamily="18" charset="2"/>
              </a:rPr>
              <a:t>Ensure</a:t>
            </a:r>
            <a:r>
              <a:rPr lang="en-US" sz="1800" spc="-5">
                <a:effectLst/>
                <a:latin typeface="Times New Roman" panose="02020603050405020304" pitchFamily="18" charset="0"/>
                <a:ea typeface="Symbol" panose="05050102010706020507" pitchFamily="18" charset="2"/>
                <a:cs typeface="Symbol" panose="05050102010706020507" pitchFamily="18" charset="2"/>
              </a:rPr>
              <a:t> </a:t>
            </a:r>
            <a:r>
              <a:rPr lang="en-US" sz="1800" spc="0">
                <a:effectLst/>
                <a:latin typeface="Times New Roman" panose="02020603050405020304" pitchFamily="18" charset="0"/>
                <a:ea typeface="Symbol" panose="05050102010706020507" pitchFamily="18" charset="2"/>
                <a:cs typeface="Symbol" panose="05050102010706020507" pitchFamily="18" charset="2"/>
              </a:rPr>
              <a:t>real-time</a:t>
            </a:r>
            <a:r>
              <a:rPr lang="en-US" sz="1800" spc="-5">
                <a:effectLst/>
                <a:latin typeface="Times New Roman" panose="02020603050405020304" pitchFamily="18" charset="0"/>
                <a:ea typeface="Symbol" panose="05050102010706020507" pitchFamily="18" charset="2"/>
                <a:cs typeface="Symbol" panose="05050102010706020507" pitchFamily="18" charset="2"/>
              </a:rPr>
              <a:t> </a:t>
            </a:r>
            <a:r>
              <a:rPr lang="en-US" sz="1800" spc="0">
                <a:effectLst/>
                <a:latin typeface="Times New Roman" panose="02020603050405020304" pitchFamily="18" charset="0"/>
                <a:ea typeface="Symbol" panose="05050102010706020507" pitchFamily="18" charset="2"/>
                <a:cs typeface="Symbol" panose="05050102010706020507" pitchFamily="18" charset="2"/>
              </a:rPr>
              <a:t>processing</a:t>
            </a:r>
            <a:r>
              <a:rPr lang="en-US" sz="1800" spc="-5">
                <a:effectLst/>
                <a:latin typeface="Times New Roman" panose="02020603050405020304" pitchFamily="18" charset="0"/>
                <a:ea typeface="Symbol" panose="05050102010706020507" pitchFamily="18" charset="2"/>
                <a:cs typeface="Symbol" panose="05050102010706020507" pitchFamily="18" charset="2"/>
              </a:rPr>
              <a:t> </a:t>
            </a:r>
            <a:r>
              <a:rPr lang="en-US" sz="1800" spc="0">
                <a:effectLst/>
                <a:latin typeface="Times New Roman" panose="02020603050405020304" pitchFamily="18" charset="0"/>
                <a:ea typeface="Symbol" panose="05050102010706020507" pitchFamily="18" charset="2"/>
                <a:cs typeface="Symbol" panose="05050102010706020507" pitchFamily="18" charset="2"/>
              </a:rPr>
              <a:t>of</a:t>
            </a:r>
            <a:r>
              <a:rPr lang="en-US" sz="1800" spc="-10">
                <a:effectLst/>
                <a:latin typeface="Times New Roman" panose="02020603050405020304" pitchFamily="18" charset="0"/>
                <a:ea typeface="Symbol" panose="05050102010706020507" pitchFamily="18" charset="2"/>
                <a:cs typeface="Symbol" panose="05050102010706020507" pitchFamily="18" charset="2"/>
              </a:rPr>
              <a:t> </a:t>
            </a:r>
            <a:r>
              <a:rPr lang="en-US" sz="1800" spc="0">
                <a:effectLst/>
                <a:latin typeface="Times New Roman" panose="02020603050405020304" pitchFamily="18" charset="0"/>
                <a:ea typeface="Symbol" panose="05050102010706020507" pitchFamily="18" charset="2"/>
                <a:cs typeface="Symbol" panose="05050102010706020507" pitchFamily="18" charset="2"/>
              </a:rPr>
              <a:t>images</a:t>
            </a:r>
            <a:r>
              <a:rPr lang="en-US" sz="1800" spc="-5">
                <a:effectLst/>
                <a:latin typeface="Times New Roman" panose="02020603050405020304" pitchFamily="18" charset="0"/>
                <a:ea typeface="Symbol" panose="05050102010706020507" pitchFamily="18" charset="2"/>
                <a:cs typeface="Symbol" panose="05050102010706020507" pitchFamily="18" charset="2"/>
              </a:rPr>
              <a:t> </a:t>
            </a:r>
            <a:r>
              <a:rPr lang="en-US" sz="1800" spc="0">
                <a:effectLst/>
                <a:latin typeface="Times New Roman" panose="02020603050405020304" pitchFamily="18" charset="0"/>
                <a:ea typeface="Symbol" panose="05050102010706020507" pitchFamily="18" charset="2"/>
                <a:cs typeface="Symbol" panose="05050102010706020507" pitchFamily="18" charset="2"/>
              </a:rPr>
              <a:t>with</a:t>
            </a:r>
            <a:r>
              <a:rPr lang="en-US" sz="1800" spc="-5">
                <a:effectLst/>
                <a:latin typeface="Times New Roman" panose="02020603050405020304" pitchFamily="18" charset="0"/>
                <a:ea typeface="Symbol" panose="05050102010706020507" pitchFamily="18" charset="2"/>
                <a:cs typeface="Symbol" panose="05050102010706020507" pitchFamily="18" charset="2"/>
              </a:rPr>
              <a:t> </a:t>
            </a:r>
            <a:r>
              <a:rPr lang="en-US" sz="1800" spc="0">
                <a:effectLst/>
                <a:latin typeface="Times New Roman" panose="02020603050405020304" pitchFamily="18" charset="0"/>
                <a:ea typeface="Symbol" panose="05050102010706020507" pitchFamily="18" charset="2"/>
                <a:cs typeface="Symbol" panose="05050102010706020507" pitchFamily="18" charset="2"/>
              </a:rPr>
              <a:t>minimal</a:t>
            </a:r>
            <a:r>
              <a:rPr lang="en-US" sz="1800" spc="-5">
                <a:effectLst/>
                <a:latin typeface="Times New Roman" panose="02020603050405020304" pitchFamily="18" charset="0"/>
                <a:ea typeface="Symbol" panose="05050102010706020507" pitchFamily="18" charset="2"/>
                <a:cs typeface="Symbol" panose="05050102010706020507" pitchFamily="18" charset="2"/>
              </a:rPr>
              <a:t> </a:t>
            </a:r>
            <a:r>
              <a:rPr lang="en-US" sz="1800" spc="-10">
                <a:effectLst/>
                <a:latin typeface="Times New Roman" panose="02020603050405020304" pitchFamily="18" charset="0"/>
                <a:ea typeface="Symbol" panose="05050102010706020507" pitchFamily="18" charset="2"/>
                <a:cs typeface="Symbol" panose="05050102010706020507" pitchFamily="18" charset="2"/>
              </a:rPr>
              <a:t>latency.</a:t>
            </a:r>
            <a:endParaRPr lang="en-US" sz="1800" spc="0">
              <a:effectLst/>
              <a:latin typeface="Times New Roman" panose="02020603050405020304" pitchFamily="18" charset="0"/>
              <a:ea typeface="Symbol" panose="05050102010706020507" pitchFamily="18" charset="2"/>
              <a:cs typeface="Symbol" panose="05050102010706020507" pitchFamily="18" charset="2"/>
            </a:endParaRPr>
          </a:p>
          <a:p>
            <a:pPr marL="1600200" marR="0" lvl="3" indent="-228600">
              <a:spcBef>
                <a:spcPts val="885"/>
              </a:spcBef>
              <a:buFont typeface="Symbol" panose="05050102010706020507" pitchFamily="18" charset="2"/>
              <a:buChar char=""/>
              <a:tabLst>
                <a:tab pos="1101725" algn="l"/>
              </a:tabLst>
            </a:pPr>
            <a:r>
              <a:rPr lang="en-US" sz="1800" spc="0">
                <a:effectLst/>
                <a:latin typeface="Times New Roman" panose="02020603050405020304" pitchFamily="18" charset="0"/>
                <a:ea typeface="Symbol" panose="05050102010706020507" pitchFamily="18" charset="2"/>
                <a:cs typeface="Symbol" panose="05050102010706020507" pitchFamily="18" charset="2"/>
              </a:rPr>
              <a:t>Scalability:</a:t>
            </a:r>
            <a:r>
              <a:rPr lang="en-US" sz="1800" spc="-15">
                <a:effectLst/>
                <a:latin typeface="Times New Roman" panose="02020603050405020304" pitchFamily="18" charset="0"/>
                <a:ea typeface="Symbol" panose="05050102010706020507" pitchFamily="18" charset="2"/>
                <a:cs typeface="Symbol" panose="05050102010706020507" pitchFamily="18" charset="2"/>
              </a:rPr>
              <a:t> </a:t>
            </a:r>
            <a:r>
              <a:rPr lang="en-US" sz="1800" spc="0">
                <a:effectLst/>
                <a:latin typeface="Times New Roman" panose="02020603050405020304" pitchFamily="18" charset="0"/>
                <a:ea typeface="Symbol" panose="05050102010706020507" pitchFamily="18" charset="2"/>
                <a:cs typeface="Symbol" panose="05050102010706020507" pitchFamily="18" charset="2"/>
              </a:rPr>
              <a:t>Design</a:t>
            </a:r>
            <a:r>
              <a:rPr lang="en-US" sz="1800" spc="-5">
                <a:effectLst/>
                <a:latin typeface="Times New Roman" panose="02020603050405020304" pitchFamily="18" charset="0"/>
                <a:ea typeface="Symbol" panose="05050102010706020507" pitchFamily="18" charset="2"/>
                <a:cs typeface="Symbol" panose="05050102010706020507" pitchFamily="18" charset="2"/>
              </a:rPr>
              <a:t> </a:t>
            </a:r>
            <a:r>
              <a:rPr lang="en-US" sz="1800" spc="0">
                <a:effectLst/>
                <a:latin typeface="Times New Roman" panose="02020603050405020304" pitchFamily="18" charset="0"/>
                <a:ea typeface="Symbol" panose="05050102010706020507" pitchFamily="18" charset="2"/>
                <a:cs typeface="Symbol" panose="05050102010706020507" pitchFamily="18" charset="2"/>
              </a:rPr>
              <a:t>the</a:t>
            </a:r>
            <a:r>
              <a:rPr lang="en-US" sz="1800" spc="-10">
                <a:effectLst/>
                <a:latin typeface="Times New Roman" panose="02020603050405020304" pitchFamily="18" charset="0"/>
                <a:ea typeface="Symbol" panose="05050102010706020507" pitchFamily="18" charset="2"/>
                <a:cs typeface="Symbol" panose="05050102010706020507" pitchFamily="18" charset="2"/>
              </a:rPr>
              <a:t> </a:t>
            </a:r>
            <a:r>
              <a:rPr lang="en-US" sz="1800" spc="0">
                <a:effectLst/>
                <a:latin typeface="Times New Roman" panose="02020603050405020304" pitchFamily="18" charset="0"/>
                <a:ea typeface="Symbol" panose="05050102010706020507" pitchFamily="18" charset="2"/>
                <a:cs typeface="Symbol" panose="05050102010706020507" pitchFamily="18" charset="2"/>
              </a:rPr>
              <a:t>system to</a:t>
            </a:r>
            <a:r>
              <a:rPr lang="en-US" sz="1800" spc="-5">
                <a:effectLst/>
                <a:latin typeface="Times New Roman" panose="02020603050405020304" pitchFamily="18" charset="0"/>
                <a:ea typeface="Symbol" panose="05050102010706020507" pitchFamily="18" charset="2"/>
                <a:cs typeface="Symbol" panose="05050102010706020507" pitchFamily="18" charset="2"/>
              </a:rPr>
              <a:t> </a:t>
            </a:r>
            <a:r>
              <a:rPr lang="en-US" sz="1800" spc="0">
                <a:effectLst/>
                <a:latin typeface="Times New Roman" panose="02020603050405020304" pitchFamily="18" charset="0"/>
                <a:ea typeface="Symbol" panose="05050102010706020507" pitchFamily="18" charset="2"/>
                <a:cs typeface="Symbol" panose="05050102010706020507" pitchFamily="18" charset="2"/>
              </a:rPr>
              <a:t>handle</a:t>
            </a:r>
            <a:r>
              <a:rPr lang="en-US" sz="1800" spc="-5">
                <a:effectLst/>
                <a:latin typeface="Times New Roman" panose="02020603050405020304" pitchFamily="18" charset="0"/>
                <a:ea typeface="Symbol" panose="05050102010706020507" pitchFamily="18" charset="2"/>
                <a:cs typeface="Symbol" panose="05050102010706020507" pitchFamily="18" charset="2"/>
              </a:rPr>
              <a:t> </a:t>
            </a:r>
            <a:r>
              <a:rPr lang="en-US" sz="1800" spc="0">
                <a:effectLst/>
                <a:latin typeface="Times New Roman" panose="02020603050405020304" pitchFamily="18" charset="0"/>
                <a:ea typeface="Symbol" panose="05050102010706020507" pitchFamily="18" charset="2"/>
                <a:cs typeface="Symbol" panose="05050102010706020507" pitchFamily="18" charset="2"/>
              </a:rPr>
              <a:t>a</a:t>
            </a:r>
            <a:r>
              <a:rPr lang="en-US" sz="1800" spc="-15">
                <a:effectLst/>
                <a:latin typeface="Times New Roman" panose="02020603050405020304" pitchFamily="18" charset="0"/>
                <a:ea typeface="Symbol" panose="05050102010706020507" pitchFamily="18" charset="2"/>
                <a:cs typeface="Symbol" panose="05050102010706020507" pitchFamily="18" charset="2"/>
              </a:rPr>
              <a:t> </a:t>
            </a:r>
            <a:r>
              <a:rPr lang="en-US" sz="1800" spc="0">
                <a:effectLst/>
                <a:latin typeface="Times New Roman" panose="02020603050405020304" pitchFamily="18" charset="0"/>
                <a:ea typeface="Symbol" panose="05050102010706020507" pitchFamily="18" charset="2"/>
                <a:cs typeface="Symbol" panose="05050102010706020507" pitchFamily="18" charset="2"/>
              </a:rPr>
              <a:t>growing number</a:t>
            </a:r>
            <a:r>
              <a:rPr lang="en-US" sz="1800" spc="-15">
                <a:effectLst/>
                <a:latin typeface="Times New Roman" panose="02020603050405020304" pitchFamily="18" charset="0"/>
                <a:ea typeface="Symbol" panose="05050102010706020507" pitchFamily="18" charset="2"/>
                <a:cs typeface="Symbol" panose="05050102010706020507" pitchFamily="18" charset="2"/>
              </a:rPr>
              <a:t> </a:t>
            </a:r>
            <a:r>
              <a:rPr lang="en-US" sz="1800" spc="0">
                <a:effectLst/>
                <a:latin typeface="Times New Roman" panose="02020603050405020304" pitchFamily="18" charset="0"/>
                <a:ea typeface="Symbol" panose="05050102010706020507" pitchFamily="18" charset="2"/>
                <a:cs typeface="Symbol" panose="05050102010706020507" pitchFamily="18" charset="2"/>
              </a:rPr>
              <a:t>of</a:t>
            </a:r>
            <a:r>
              <a:rPr lang="en-US" sz="1800" spc="-5">
                <a:effectLst/>
                <a:latin typeface="Times New Roman" panose="02020603050405020304" pitchFamily="18" charset="0"/>
                <a:ea typeface="Symbol" panose="05050102010706020507" pitchFamily="18" charset="2"/>
                <a:cs typeface="Symbol" panose="05050102010706020507" pitchFamily="18" charset="2"/>
              </a:rPr>
              <a:t> </a:t>
            </a:r>
            <a:r>
              <a:rPr lang="en-US" sz="1800" spc="0">
                <a:effectLst/>
                <a:latin typeface="Times New Roman" panose="02020603050405020304" pitchFamily="18" charset="0"/>
                <a:ea typeface="Symbol" panose="05050102010706020507" pitchFamily="18" charset="2"/>
                <a:cs typeface="Symbol" panose="05050102010706020507" pitchFamily="18" charset="2"/>
              </a:rPr>
              <a:t>users and </a:t>
            </a:r>
            <a:r>
              <a:rPr lang="en-US" sz="1800" spc="-10">
                <a:effectLst/>
                <a:latin typeface="Times New Roman" panose="02020603050405020304" pitchFamily="18" charset="0"/>
                <a:ea typeface="Symbol" panose="05050102010706020507" pitchFamily="18" charset="2"/>
                <a:cs typeface="Symbol" panose="05050102010706020507" pitchFamily="18" charset="2"/>
              </a:rPr>
              <a:t>data.</a:t>
            </a:r>
            <a:endParaRPr lang="en-US" sz="1800" spc="0">
              <a:effectLst/>
              <a:latin typeface="Times New Roman" panose="02020603050405020304" pitchFamily="18" charset="0"/>
              <a:ea typeface="Symbol" panose="05050102010706020507" pitchFamily="18" charset="2"/>
              <a:cs typeface="Symbol" panose="05050102010706020507" pitchFamily="18" charset="2"/>
            </a:endParaRPr>
          </a:p>
          <a:p>
            <a:pPr marL="1600200" marR="0" lvl="3" indent="-228600">
              <a:spcBef>
                <a:spcPts val="880"/>
              </a:spcBef>
              <a:buFont typeface="Symbol" panose="05050102010706020507" pitchFamily="18" charset="2"/>
              <a:buChar char=""/>
              <a:tabLst>
                <a:tab pos="1101725" algn="l"/>
              </a:tabLst>
            </a:pPr>
            <a:r>
              <a:rPr lang="en-US" sz="1800" spc="0">
                <a:effectLst/>
                <a:latin typeface="Times New Roman" panose="02020603050405020304" pitchFamily="18" charset="0"/>
                <a:ea typeface="Symbol" panose="05050102010706020507" pitchFamily="18" charset="2"/>
                <a:cs typeface="Symbol" panose="05050102010706020507" pitchFamily="18" charset="2"/>
              </a:rPr>
              <a:t>Security:</a:t>
            </a:r>
            <a:r>
              <a:rPr lang="en-US" sz="1800" spc="-20">
                <a:effectLst/>
                <a:latin typeface="Times New Roman" panose="02020603050405020304" pitchFamily="18" charset="0"/>
                <a:ea typeface="Symbol" panose="05050102010706020507" pitchFamily="18" charset="2"/>
                <a:cs typeface="Symbol" panose="05050102010706020507" pitchFamily="18" charset="2"/>
              </a:rPr>
              <a:t> </a:t>
            </a:r>
            <a:r>
              <a:rPr lang="en-US" sz="1800" spc="0">
                <a:effectLst/>
                <a:latin typeface="Times New Roman" panose="02020603050405020304" pitchFamily="18" charset="0"/>
                <a:ea typeface="Symbol" panose="05050102010706020507" pitchFamily="18" charset="2"/>
                <a:cs typeface="Symbol" panose="05050102010706020507" pitchFamily="18" charset="2"/>
              </a:rPr>
              <a:t>Implement</a:t>
            </a:r>
            <a:r>
              <a:rPr lang="en-US" sz="1800" spc="-5">
                <a:effectLst/>
                <a:latin typeface="Times New Roman" panose="02020603050405020304" pitchFamily="18" charset="0"/>
                <a:ea typeface="Symbol" panose="05050102010706020507" pitchFamily="18" charset="2"/>
                <a:cs typeface="Symbol" panose="05050102010706020507" pitchFamily="18" charset="2"/>
              </a:rPr>
              <a:t> </a:t>
            </a:r>
            <a:r>
              <a:rPr lang="en-US" sz="1800" spc="0">
                <a:effectLst/>
                <a:latin typeface="Times New Roman" panose="02020603050405020304" pitchFamily="18" charset="0"/>
                <a:ea typeface="Symbol" panose="05050102010706020507" pitchFamily="18" charset="2"/>
                <a:cs typeface="Symbol" panose="05050102010706020507" pitchFamily="18" charset="2"/>
              </a:rPr>
              <a:t>robust</a:t>
            </a:r>
            <a:r>
              <a:rPr lang="en-US" sz="1800" spc="-5">
                <a:effectLst/>
                <a:latin typeface="Times New Roman" panose="02020603050405020304" pitchFamily="18" charset="0"/>
                <a:ea typeface="Symbol" panose="05050102010706020507" pitchFamily="18" charset="2"/>
                <a:cs typeface="Symbol" panose="05050102010706020507" pitchFamily="18" charset="2"/>
              </a:rPr>
              <a:t> </a:t>
            </a:r>
            <a:r>
              <a:rPr lang="en-US" sz="1800" spc="0">
                <a:effectLst/>
                <a:latin typeface="Times New Roman" panose="02020603050405020304" pitchFamily="18" charset="0"/>
                <a:ea typeface="Symbol" panose="05050102010706020507" pitchFamily="18" charset="2"/>
                <a:cs typeface="Symbol" panose="05050102010706020507" pitchFamily="18" charset="2"/>
              </a:rPr>
              <a:t>data</a:t>
            </a:r>
            <a:r>
              <a:rPr lang="en-US" sz="1800" spc="-15">
                <a:effectLst/>
                <a:latin typeface="Times New Roman" panose="02020603050405020304" pitchFamily="18" charset="0"/>
                <a:ea typeface="Symbol" panose="05050102010706020507" pitchFamily="18" charset="2"/>
                <a:cs typeface="Symbol" panose="05050102010706020507" pitchFamily="18" charset="2"/>
              </a:rPr>
              <a:t> </a:t>
            </a:r>
            <a:r>
              <a:rPr lang="en-US" sz="1800" spc="0">
                <a:effectLst/>
                <a:latin typeface="Times New Roman" panose="02020603050405020304" pitchFamily="18" charset="0"/>
                <a:ea typeface="Symbol" panose="05050102010706020507" pitchFamily="18" charset="2"/>
                <a:cs typeface="Symbol" panose="05050102010706020507" pitchFamily="18" charset="2"/>
              </a:rPr>
              <a:t>protection</a:t>
            </a:r>
            <a:r>
              <a:rPr lang="en-US" sz="1800" spc="-5">
                <a:effectLst/>
                <a:latin typeface="Times New Roman" panose="02020603050405020304" pitchFamily="18" charset="0"/>
                <a:ea typeface="Symbol" panose="05050102010706020507" pitchFamily="18" charset="2"/>
                <a:cs typeface="Symbol" panose="05050102010706020507" pitchFamily="18" charset="2"/>
              </a:rPr>
              <a:t> </a:t>
            </a:r>
            <a:r>
              <a:rPr lang="en-US" sz="1800" spc="0">
                <a:effectLst/>
                <a:latin typeface="Times New Roman" panose="02020603050405020304" pitchFamily="18" charset="0"/>
                <a:ea typeface="Symbol" panose="05050102010706020507" pitchFamily="18" charset="2"/>
                <a:cs typeface="Symbol" panose="05050102010706020507" pitchFamily="18" charset="2"/>
              </a:rPr>
              <a:t>measures</a:t>
            </a:r>
            <a:r>
              <a:rPr lang="en-US" sz="1800" spc="-5">
                <a:effectLst/>
                <a:latin typeface="Times New Roman" panose="02020603050405020304" pitchFamily="18" charset="0"/>
                <a:ea typeface="Symbol" panose="05050102010706020507" pitchFamily="18" charset="2"/>
                <a:cs typeface="Symbol" panose="05050102010706020507" pitchFamily="18" charset="2"/>
              </a:rPr>
              <a:t> </a:t>
            </a:r>
            <a:r>
              <a:rPr lang="en-US" sz="1800" spc="0">
                <a:effectLst/>
                <a:latin typeface="Times New Roman" panose="02020603050405020304" pitchFamily="18" charset="0"/>
                <a:ea typeface="Symbol" panose="05050102010706020507" pitchFamily="18" charset="2"/>
                <a:cs typeface="Symbol" panose="05050102010706020507" pitchFamily="18" charset="2"/>
              </a:rPr>
              <a:t>to</a:t>
            </a:r>
            <a:r>
              <a:rPr lang="en-US" sz="1800" spc="-10">
                <a:effectLst/>
                <a:latin typeface="Times New Roman" panose="02020603050405020304" pitchFamily="18" charset="0"/>
                <a:ea typeface="Symbol" panose="05050102010706020507" pitchFamily="18" charset="2"/>
                <a:cs typeface="Symbol" panose="05050102010706020507" pitchFamily="18" charset="2"/>
              </a:rPr>
              <a:t> </a:t>
            </a:r>
            <a:r>
              <a:rPr lang="en-US" sz="1800" spc="0">
                <a:effectLst/>
                <a:latin typeface="Times New Roman" panose="02020603050405020304" pitchFamily="18" charset="0"/>
                <a:ea typeface="Symbol" panose="05050102010706020507" pitchFamily="18" charset="2"/>
                <a:cs typeface="Symbol" panose="05050102010706020507" pitchFamily="18" charset="2"/>
              </a:rPr>
              <a:t>safeguard</a:t>
            </a:r>
            <a:r>
              <a:rPr lang="en-US" sz="1800" spc="-5">
                <a:effectLst/>
                <a:latin typeface="Times New Roman" panose="02020603050405020304" pitchFamily="18" charset="0"/>
                <a:ea typeface="Symbol" panose="05050102010706020507" pitchFamily="18" charset="2"/>
                <a:cs typeface="Symbol" panose="05050102010706020507" pitchFamily="18" charset="2"/>
              </a:rPr>
              <a:t> </a:t>
            </a:r>
            <a:r>
              <a:rPr lang="en-US" sz="1800" spc="0">
                <a:effectLst/>
                <a:latin typeface="Times New Roman" panose="02020603050405020304" pitchFamily="18" charset="0"/>
                <a:ea typeface="Symbol" panose="05050102010706020507" pitchFamily="18" charset="2"/>
                <a:cs typeface="Symbol" panose="05050102010706020507" pitchFamily="18" charset="2"/>
              </a:rPr>
              <a:t>user</a:t>
            </a:r>
            <a:r>
              <a:rPr lang="en-US" sz="1800" spc="-5">
                <a:effectLst/>
                <a:latin typeface="Times New Roman" panose="02020603050405020304" pitchFamily="18" charset="0"/>
                <a:ea typeface="Symbol" panose="05050102010706020507" pitchFamily="18" charset="2"/>
                <a:cs typeface="Symbol" panose="05050102010706020507" pitchFamily="18" charset="2"/>
              </a:rPr>
              <a:t> </a:t>
            </a:r>
            <a:r>
              <a:rPr lang="en-US" sz="1800" spc="-10">
                <a:effectLst/>
                <a:latin typeface="Times New Roman" panose="02020603050405020304" pitchFamily="18" charset="0"/>
                <a:ea typeface="Symbol" panose="05050102010706020507" pitchFamily="18" charset="2"/>
                <a:cs typeface="Symbol" panose="05050102010706020507" pitchFamily="18" charset="2"/>
              </a:rPr>
              <a:t>privacy.</a:t>
            </a:r>
            <a:endParaRPr lang="en-US" sz="1800" spc="0">
              <a:effectLst/>
              <a:latin typeface="Times New Roman" panose="02020603050405020304" pitchFamily="18" charset="0"/>
              <a:ea typeface="Symbol" panose="05050102010706020507" pitchFamily="18" charset="2"/>
              <a:cs typeface="Symbol" panose="05050102010706020507" pitchFamily="18" charset="2"/>
            </a:endParaRPr>
          </a:p>
          <a:p>
            <a:pPr marL="1600200" marR="292735" lvl="3" indent="-228600">
              <a:spcBef>
                <a:spcPts val="895"/>
              </a:spcBef>
              <a:buFont typeface="Symbol" panose="05050102010706020507" pitchFamily="18" charset="2"/>
              <a:buChar char=""/>
              <a:tabLst>
                <a:tab pos="1101725" algn="l"/>
              </a:tabLst>
            </a:pPr>
            <a:r>
              <a:rPr lang="en-US" sz="1800" spc="0">
                <a:effectLst/>
                <a:latin typeface="Times New Roman" panose="02020603050405020304" pitchFamily="18" charset="0"/>
                <a:ea typeface="Symbol" panose="05050102010706020507" pitchFamily="18" charset="2"/>
                <a:cs typeface="Symbol" panose="05050102010706020507" pitchFamily="18" charset="2"/>
              </a:rPr>
              <a:t>Usability:</a:t>
            </a:r>
            <a:r>
              <a:rPr lang="en-US" sz="1800" spc="-15">
                <a:effectLst/>
                <a:latin typeface="Times New Roman" panose="02020603050405020304" pitchFamily="18" charset="0"/>
                <a:ea typeface="Symbol" panose="05050102010706020507" pitchFamily="18" charset="2"/>
                <a:cs typeface="Symbol" panose="05050102010706020507" pitchFamily="18" charset="2"/>
              </a:rPr>
              <a:t> </a:t>
            </a:r>
            <a:r>
              <a:rPr lang="en-US" sz="1800" spc="0">
                <a:effectLst/>
                <a:latin typeface="Times New Roman" panose="02020603050405020304" pitchFamily="18" charset="0"/>
                <a:ea typeface="Symbol" panose="05050102010706020507" pitchFamily="18" charset="2"/>
                <a:cs typeface="Symbol" panose="05050102010706020507" pitchFamily="18" charset="2"/>
              </a:rPr>
              <a:t>Ensure</a:t>
            </a:r>
            <a:r>
              <a:rPr lang="en-US" sz="1800" spc="-25">
                <a:effectLst/>
                <a:latin typeface="Times New Roman" panose="02020603050405020304" pitchFamily="18" charset="0"/>
                <a:ea typeface="Symbol" panose="05050102010706020507" pitchFamily="18" charset="2"/>
                <a:cs typeface="Symbol" panose="05050102010706020507" pitchFamily="18" charset="2"/>
              </a:rPr>
              <a:t> </a:t>
            </a:r>
            <a:r>
              <a:rPr lang="en-US" sz="1800" spc="0">
                <a:effectLst/>
                <a:latin typeface="Times New Roman" panose="02020603050405020304" pitchFamily="18" charset="0"/>
                <a:ea typeface="Symbol" panose="05050102010706020507" pitchFamily="18" charset="2"/>
                <a:cs typeface="Symbol" panose="05050102010706020507" pitchFamily="18" charset="2"/>
              </a:rPr>
              <a:t>the</a:t>
            </a:r>
            <a:r>
              <a:rPr lang="en-US" sz="1800" spc="-20">
                <a:effectLst/>
                <a:latin typeface="Times New Roman" panose="02020603050405020304" pitchFamily="18" charset="0"/>
                <a:ea typeface="Symbol" panose="05050102010706020507" pitchFamily="18" charset="2"/>
                <a:cs typeface="Symbol" panose="05050102010706020507" pitchFamily="18" charset="2"/>
              </a:rPr>
              <a:t> </a:t>
            </a:r>
            <a:r>
              <a:rPr lang="en-US" sz="1800" spc="0">
                <a:effectLst/>
                <a:latin typeface="Times New Roman" panose="02020603050405020304" pitchFamily="18" charset="0"/>
                <a:ea typeface="Symbol" panose="05050102010706020507" pitchFamily="18" charset="2"/>
                <a:cs typeface="Symbol" panose="05050102010706020507" pitchFamily="18" charset="2"/>
              </a:rPr>
              <a:t>application</a:t>
            </a:r>
            <a:r>
              <a:rPr lang="en-US" sz="1800" spc="-20">
                <a:effectLst/>
                <a:latin typeface="Times New Roman" panose="02020603050405020304" pitchFamily="18" charset="0"/>
                <a:ea typeface="Symbol" panose="05050102010706020507" pitchFamily="18" charset="2"/>
                <a:cs typeface="Symbol" panose="05050102010706020507" pitchFamily="18" charset="2"/>
              </a:rPr>
              <a:t> </a:t>
            </a:r>
            <a:r>
              <a:rPr lang="en-US" sz="1800" spc="0">
                <a:effectLst/>
                <a:latin typeface="Times New Roman" panose="02020603050405020304" pitchFamily="18" charset="0"/>
                <a:ea typeface="Symbol" panose="05050102010706020507" pitchFamily="18" charset="2"/>
                <a:cs typeface="Symbol" panose="05050102010706020507" pitchFamily="18" charset="2"/>
              </a:rPr>
              <a:t>is</a:t>
            </a:r>
            <a:r>
              <a:rPr lang="en-US" sz="1800" spc="-20">
                <a:effectLst/>
                <a:latin typeface="Times New Roman" panose="02020603050405020304" pitchFamily="18" charset="0"/>
                <a:ea typeface="Symbol" panose="05050102010706020507" pitchFamily="18" charset="2"/>
                <a:cs typeface="Symbol" panose="05050102010706020507" pitchFamily="18" charset="2"/>
              </a:rPr>
              <a:t> </a:t>
            </a:r>
            <a:r>
              <a:rPr lang="en-US" sz="1800" spc="0">
                <a:effectLst/>
                <a:latin typeface="Times New Roman" panose="02020603050405020304" pitchFamily="18" charset="0"/>
                <a:ea typeface="Symbol" panose="05050102010706020507" pitchFamily="18" charset="2"/>
                <a:cs typeface="Symbol" panose="05050102010706020507" pitchFamily="18" charset="2"/>
              </a:rPr>
              <a:t>user-friendly</a:t>
            </a:r>
            <a:r>
              <a:rPr lang="en-US" sz="1800" spc="-10">
                <a:effectLst/>
                <a:latin typeface="Times New Roman" panose="02020603050405020304" pitchFamily="18" charset="0"/>
                <a:ea typeface="Symbol" panose="05050102010706020507" pitchFamily="18" charset="2"/>
                <a:cs typeface="Symbol" panose="05050102010706020507" pitchFamily="18" charset="2"/>
              </a:rPr>
              <a:t> </a:t>
            </a:r>
            <a:r>
              <a:rPr lang="en-US" sz="1800" spc="0">
                <a:effectLst/>
                <a:latin typeface="Times New Roman" panose="02020603050405020304" pitchFamily="18" charset="0"/>
                <a:ea typeface="Symbol" panose="05050102010706020507" pitchFamily="18" charset="2"/>
                <a:cs typeface="Symbol" panose="05050102010706020507" pitchFamily="18" charset="2"/>
              </a:rPr>
              <a:t>and</a:t>
            </a:r>
            <a:r>
              <a:rPr lang="en-US" sz="1800" spc="-20">
                <a:effectLst/>
                <a:latin typeface="Times New Roman" panose="02020603050405020304" pitchFamily="18" charset="0"/>
                <a:ea typeface="Symbol" panose="05050102010706020507" pitchFamily="18" charset="2"/>
                <a:cs typeface="Symbol" panose="05050102010706020507" pitchFamily="18" charset="2"/>
              </a:rPr>
              <a:t> </a:t>
            </a:r>
            <a:r>
              <a:rPr lang="en-US" sz="1800" spc="0">
                <a:effectLst/>
                <a:latin typeface="Times New Roman" panose="02020603050405020304" pitchFamily="18" charset="0"/>
                <a:ea typeface="Symbol" panose="05050102010706020507" pitchFamily="18" charset="2"/>
                <a:cs typeface="Symbol" panose="05050102010706020507" pitchFamily="18" charset="2"/>
              </a:rPr>
              <a:t>accessible</a:t>
            </a:r>
            <a:r>
              <a:rPr lang="en-US" sz="1800" spc="-20">
                <a:effectLst/>
                <a:latin typeface="Times New Roman" panose="02020603050405020304" pitchFamily="18" charset="0"/>
                <a:ea typeface="Symbol" panose="05050102010706020507" pitchFamily="18" charset="2"/>
                <a:cs typeface="Symbol" panose="05050102010706020507" pitchFamily="18" charset="2"/>
              </a:rPr>
              <a:t> </a:t>
            </a:r>
            <a:r>
              <a:rPr lang="en-US" sz="1800" spc="0">
                <a:effectLst/>
                <a:latin typeface="Times New Roman" panose="02020603050405020304" pitchFamily="18" charset="0"/>
                <a:ea typeface="Symbol" panose="05050102010706020507" pitchFamily="18" charset="2"/>
                <a:cs typeface="Symbol" panose="05050102010706020507" pitchFamily="18" charset="2"/>
              </a:rPr>
              <a:t>to</a:t>
            </a:r>
            <a:r>
              <a:rPr lang="en-US" sz="1800" spc="-20">
                <a:effectLst/>
                <a:latin typeface="Times New Roman" panose="02020603050405020304" pitchFamily="18" charset="0"/>
                <a:ea typeface="Symbol" panose="05050102010706020507" pitchFamily="18" charset="2"/>
                <a:cs typeface="Symbol" panose="05050102010706020507" pitchFamily="18" charset="2"/>
              </a:rPr>
              <a:t> </a:t>
            </a:r>
            <a:r>
              <a:rPr lang="en-US" sz="1800" spc="0">
                <a:effectLst/>
                <a:latin typeface="Times New Roman" panose="02020603050405020304" pitchFamily="18" charset="0"/>
                <a:ea typeface="Symbol" panose="05050102010706020507" pitchFamily="18" charset="2"/>
                <a:cs typeface="Symbol" panose="05050102010706020507" pitchFamily="18" charset="2"/>
              </a:rPr>
              <a:t>individuals</a:t>
            </a:r>
            <a:r>
              <a:rPr lang="en-US" sz="1800" spc="-20">
                <a:effectLst/>
                <a:latin typeface="Times New Roman" panose="02020603050405020304" pitchFamily="18" charset="0"/>
                <a:ea typeface="Symbol" panose="05050102010706020507" pitchFamily="18" charset="2"/>
                <a:cs typeface="Symbol" panose="05050102010706020507" pitchFamily="18" charset="2"/>
              </a:rPr>
              <a:t> </a:t>
            </a:r>
            <a:r>
              <a:rPr lang="en-US" sz="1800" spc="0">
                <a:effectLst/>
                <a:latin typeface="Times New Roman" panose="02020603050405020304" pitchFamily="18" charset="0"/>
                <a:ea typeface="Symbol" panose="05050102010706020507" pitchFamily="18" charset="2"/>
                <a:cs typeface="Symbol" panose="05050102010706020507" pitchFamily="18" charset="2"/>
              </a:rPr>
              <a:t>with</a:t>
            </a:r>
            <a:r>
              <a:rPr lang="en-US" sz="1800" spc="-20">
                <a:effectLst/>
                <a:latin typeface="Times New Roman" panose="02020603050405020304" pitchFamily="18" charset="0"/>
                <a:ea typeface="Symbol" panose="05050102010706020507" pitchFamily="18" charset="2"/>
                <a:cs typeface="Symbol" panose="05050102010706020507" pitchFamily="18" charset="2"/>
              </a:rPr>
              <a:t> </a:t>
            </a:r>
            <a:r>
              <a:rPr lang="en-US" sz="1800" spc="0">
                <a:effectLst/>
                <a:latin typeface="Times New Roman" panose="02020603050405020304" pitchFamily="18" charset="0"/>
                <a:ea typeface="Symbol" panose="05050102010706020507" pitchFamily="18" charset="2"/>
                <a:cs typeface="Symbol" panose="05050102010706020507" pitchFamily="18" charset="2"/>
              </a:rPr>
              <a:t>varying technical skills.</a:t>
            </a:r>
          </a:p>
          <a:p>
            <a:pPr marL="1600200" marR="0" lvl="3" indent="-228600">
              <a:spcBef>
                <a:spcPts val="885"/>
              </a:spcBef>
              <a:buFont typeface="Symbol" panose="05050102010706020507" pitchFamily="18" charset="2"/>
              <a:buChar char=""/>
              <a:tabLst>
                <a:tab pos="1101725" algn="l"/>
              </a:tabLst>
            </a:pPr>
            <a:r>
              <a:rPr lang="en-US" sz="1800" spc="0">
                <a:effectLst/>
                <a:latin typeface="Times New Roman" panose="02020603050405020304" pitchFamily="18" charset="0"/>
                <a:ea typeface="Symbol" panose="05050102010706020507" pitchFamily="18" charset="2"/>
                <a:cs typeface="Symbol" panose="05050102010706020507" pitchFamily="18" charset="2"/>
              </a:rPr>
              <a:t>Compliance:</a:t>
            </a:r>
            <a:r>
              <a:rPr lang="en-US" sz="1800" spc="-20">
                <a:effectLst/>
                <a:latin typeface="Times New Roman" panose="02020603050405020304" pitchFamily="18" charset="0"/>
                <a:ea typeface="Symbol" panose="05050102010706020507" pitchFamily="18" charset="2"/>
                <a:cs typeface="Symbol" panose="05050102010706020507" pitchFamily="18" charset="2"/>
              </a:rPr>
              <a:t> </a:t>
            </a:r>
            <a:r>
              <a:rPr lang="en-US" sz="1800" spc="0">
                <a:effectLst/>
                <a:latin typeface="Times New Roman" panose="02020603050405020304" pitchFamily="18" charset="0"/>
                <a:ea typeface="Symbol" panose="05050102010706020507" pitchFamily="18" charset="2"/>
                <a:cs typeface="Symbol" panose="05050102010706020507" pitchFamily="18" charset="2"/>
              </a:rPr>
              <a:t>Adhere</a:t>
            </a:r>
            <a:r>
              <a:rPr lang="en-US" sz="1800" spc="-15">
                <a:effectLst/>
                <a:latin typeface="Times New Roman" panose="02020603050405020304" pitchFamily="18" charset="0"/>
                <a:ea typeface="Symbol" panose="05050102010706020507" pitchFamily="18" charset="2"/>
                <a:cs typeface="Symbol" panose="05050102010706020507" pitchFamily="18" charset="2"/>
              </a:rPr>
              <a:t> </a:t>
            </a:r>
            <a:r>
              <a:rPr lang="en-US" sz="1800" spc="0">
                <a:effectLst/>
                <a:latin typeface="Times New Roman" panose="02020603050405020304" pitchFamily="18" charset="0"/>
                <a:ea typeface="Symbol" panose="05050102010706020507" pitchFamily="18" charset="2"/>
                <a:cs typeface="Symbol" panose="05050102010706020507" pitchFamily="18" charset="2"/>
              </a:rPr>
              <a:t>to</a:t>
            </a:r>
            <a:r>
              <a:rPr lang="en-US" sz="1800" spc="-5">
                <a:effectLst/>
                <a:latin typeface="Times New Roman" panose="02020603050405020304" pitchFamily="18" charset="0"/>
                <a:ea typeface="Symbol" panose="05050102010706020507" pitchFamily="18" charset="2"/>
                <a:cs typeface="Symbol" panose="05050102010706020507" pitchFamily="18" charset="2"/>
              </a:rPr>
              <a:t> </a:t>
            </a:r>
            <a:r>
              <a:rPr lang="en-US" sz="1800" spc="0">
                <a:effectLst/>
                <a:latin typeface="Times New Roman" panose="02020603050405020304" pitchFamily="18" charset="0"/>
                <a:ea typeface="Symbol" panose="05050102010706020507" pitchFamily="18" charset="2"/>
                <a:cs typeface="Symbol" panose="05050102010706020507" pitchFamily="18" charset="2"/>
              </a:rPr>
              <a:t>healthcare</a:t>
            </a:r>
            <a:r>
              <a:rPr lang="en-US" sz="1800" spc="-10">
                <a:effectLst/>
                <a:latin typeface="Times New Roman" panose="02020603050405020304" pitchFamily="18" charset="0"/>
                <a:ea typeface="Symbol" panose="05050102010706020507" pitchFamily="18" charset="2"/>
                <a:cs typeface="Symbol" panose="05050102010706020507" pitchFamily="18" charset="2"/>
              </a:rPr>
              <a:t> </a:t>
            </a:r>
            <a:r>
              <a:rPr lang="en-US" sz="1800" spc="0">
                <a:effectLst/>
                <a:latin typeface="Times New Roman" panose="02020603050405020304" pitchFamily="18" charset="0"/>
                <a:ea typeface="Symbol" panose="05050102010706020507" pitchFamily="18" charset="2"/>
                <a:cs typeface="Symbol" panose="05050102010706020507" pitchFamily="18" charset="2"/>
              </a:rPr>
              <a:t>regulations</a:t>
            </a:r>
            <a:r>
              <a:rPr lang="en-US" sz="1800" spc="-5">
                <a:effectLst/>
                <a:latin typeface="Times New Roman" panose="02020603050405020304" pitchFamily="18" charset="0"/>
                <a:ea typeface="Symbol" panose="05050102010706020507" pitchFamily="18" charset="2"/>
                <a:cs typeface="Symbol" panose="05050102010706020507" pitchFamily="18" charset="2"/>
              </a:rPr>
              <a:t> </a:t>
            </a:r>
            <a:r>
              <a:rPr lang="en-US" sz="1800" spc="0">
                <a:effectLst/>
                <a:latin typeface="Times New Roman" panose="02020603050405020304" pitchFamily="18" charset="0"/>
                <a:ea typeface="Symbol" panose="05050102010706020507" pitchFamily="18" charset="2"/>
                <a:cs typeface="Symbol" panose="05050102010706020507" pitchFamily="18" charset="2"/>
              </a:rPr>
              <a:t>and standards,</a:t>
            </a:r>
            <a:r>
              <a:rPr lang="en-US" sz="1800" spc="-5">
                <a:effectLst/>
                <a:latin typeface="Times New Roman" panose="02020603050405020304" pitchFamily="18" charset="0"/>
                <a:ea typeface="Symbol" panose="05050102010706020507" pitchFamily="18" charset="2"/>
                <a:cs typeface="Symbol" panose="05050102010706020507" pitchFamily="18" charset="2"/>
              </a:rPr>
              <a:t> </a:t>
            </a:r>
            <a:r>
              <a:rPr lang="en-US" sz="1800" spc="0">
                <a:effectLst/>
                <a:latin typeface="Times New Roman" panose="02020603050405020304" pitchFamily="18" charset="0"/>
                <a:ea typeface="Symbol" panose="05050102010706020507" pitchFamily="18" charset="2"/>
                <a:cs typeface="Symbol" panose="05050102010706020507" pitchFamily="18" charset="2"/>
              </a:rPr>
              <a:t>such</a:t>
            </a:r>
            <a:r>
              <a:rPr lang="en-US" sz="1800" spc="-5">
                <a:effectLst/>
                <a:latin typeface="Times New Roman" panose="02020603050405020304" pitchFamily="18" charset="0"/>
                <a:ea typeface="Symbol" panose="05050102010706020507" pitchFamily="18" charset="2"/>
                <a:cs typeface="Symbol" panose="05050102010706020507" pitchFamily="18" charset="2"/>
              </a:rPr>
              <a:t> </a:t>
            </a:r>
            <a:r>
              <a:rPr lang="en-US" sz="1800" spc="0">
                <a:effectLst/>
                <a:latin typeface="Times New Roman" panose="02020603050405020304" pitchFamily="18" charset="0"/>
                <a:ea typeface="Symbol" panose="05050102010706020507" pitchFamily="18" charset="2"/>
                <a:cs typeface="Symbol" panose="05050102010706020507" pitchFamily="18" charset="2"/>
              </a:rPr>
              <a:t>as</a:t>
            </a:r>
            <a:r>
              <a:rPr lang="en-US" sz="1800" spc="5">
                <a:effectLst/>
                <a:latin typeface="Times New Roman" panose="02020603050405020304" pitchFamily="18" charset="0"/>
                <a:ea typeface="Symbol" panose="05050102010706020507" pitchFamily="18" charset="2"/>
                <a:cs typeface="Symbol" panose="05050102010706020507" pitchFamily="18" charset="2"/>
              </a:rPr>
              <a:t> </a:t>
            </a:r>
            <a:r>
              <a:rPr lang="en-US" sz="1800" spc="0">
                <a:effectLst/>
                <a:latin typeface="Times New Roman" panose="02020603050405020304" pitchFamily="18" charset="0"/>
                <a:ea typeface="Symbol" panose="05050102010706020507" pitchFamily="18" charset="2"/>
                <a:cs typeface="Symbol" panose="05050102010706020507" pitchFamily="18" charset="2"/>
              </a:rPr>
              <a:t>HIPAA</a:t>
            </a:r>
            <a:r>
              <a:rPr lang="en-US" sz="1800" spc="-5">
                <a:effectLst/>
                <a:latin typeface="Times New Roman" panose="02020603050405020304" pitchFamily="18" charset="0"/>
                <a:ea typeface="Symbol" panose="05050102010706020507" pitchFamily="18" charset="2"/>
                <a:cs typeface="Symbol" panose="05050102010706020507" pitchFamily="18" charset="2"/>
              </a:rPr>
              <a:t> </a:t>
            </a:r>
            <a:r>
              <a:rPr lang="en-US" sz="1800" spc="0">
                <a:effectLst/>
                <a:latin typeface="Times New Roman" panose="02020603050405020304" pitchFamily="18" charset="0"/>
                <a:ea typeface="Symbol" panose="05050102010706020507" pitchFamily="18" charset="2"/>
                <a:cs typeface="Symbol" panose="05050102010706020507" pitchFamily="18" charset="2"/>
              </a:rPr>
              <a:t>or</a:t>
            </a:r>
            <a:r>
              <a:rPr lang="en-US" sz="1800" spc="-15">
                <a:effectLst/>
                <a:latin typeface="Times New Roman" panose="02020603050405020304" pitchFamily="18" charset="0"/>
                <a:ea typeface="Symbol" panose="05050102010706020507" pitchFamily="18" charset="2"/>
                <a:cs typeface="Symbol" panose="05050102010706020507" pitchFamily="18" charset="2"/>
              </a:rPr>
              <a:t> </a:t>
            </a:r>
            <a:r>
              <a:rPr lang="en-US" sz="1800" spc="-10">
                <a:effectLst/>
                <a:latin typeface="Times New Roman" panose="02020603050405020304" pitchFamily="18" charset="0"/>
                <a:ea typeface="Symbol" panose="05050102010706020507" pitchFamily="18" charset="2"/>
                <a:cs typeface="Symbol" panose="05050102010706020507" pitchFamily="18" charset="2"/>
              </a:rPr>
              <a:t>GDPR.</a:t>
            </a:r>
            <a:endParaRPr lang="en-US" sz="1800" spc="0">
              <a:effectLst/>
              <a:latin typeface="Times New Roman" panose="02020603050405020304" pitchFamily="18" charset="0"/>
              <a:ea typeface="Symbol" panose="05050102010706020507" pitchFamily="18" charset="2"/>
              <a:cs typeface="Symbol" panose="05050102010706020507" pitchFamily="18" charset="2"/>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cxnSp>
        <p:nvCxnSpPr>
          <p:cNvPr id="11" name="Straight Connector 10">
            <a:extLst>
              <a:ext uri="{FF2B5EF4-FFF2-40B4-BE49-F238E27FC236}">
                <a16:creationId xmlns:a16="http://schemas.microsoft.com/office/drawing/2014/main" id="{2486C650-73E0-44D4-DA16-BC18B46E1754}"/>
              </a:ext>
            </a:extLst>
          </p:cNvPr>
          <p:cNvCxnSpPr/>
          <p:nvPr/>
        </p:nvCxnSpPr>
        <p:spPr>
          <a:xfrm>
            <a:off x="5486400" y="1143000"/>
            <a:ext cx="0" cy="4953000"/>
          </a:xfrm>
          <a:prstGeom prst="line">
            <a:avLst/>
          </a:prstGeom>
        </p:spPr>
        <p:style>
          <a:lnRef idx="3">
            <a:schemeClr val="accent2"/>
          </a:lnRef>
          <a:fillRef idx="0">
            <a:schemeClr val="accent2"/>
          </a:fillRef>
          <a:effectRef idx="2">
            <a:schemeClr val="accent2"/>
          </a:effectRef>
          <a:fontRef idx="minor">
            <a:schemeClr val="tx1"/>
          </a:fontRef>
        </p:style>
      </p:cxnSp>
      <p:sp>
        <p:nvSpPr>
          <p:cNvPr id="4" name="TextBox 3">
            <a:extLst>
              <a:ext uri="{FF2B5EF4-FFF2-40B4-BE49-F238E27FC236}">
                <a16:creationId xmlns:a16="http://schemas.microsoft.com/office/drawing/2014/main" id="{40020594-1696-34AB-39C8-534F0A459AAA}"/>
              </a:ext>
            </a:extLst>
          </p:cNvPr>
          <p:cNvSpPr txBox="1"/>
          <p:nvPr/>
        </p:nvSpPr>
        <p:spPr>
          <a:xfrm>
            <a:off x="3505200" y="6528807"/>
            <a:ext cx="6096000" cy="369332"/>
          </a:xfrm>
          <a:prstGeom prst="rect">
            <a:avLst/>
          </a:prstGeom>
          <a:noFill/>
        </p:spPr>
        <p:txBody>
          <a:bodyPr wrap="square">
            <a:spAutoFit/>
          </a:bodyPr>
          <a:lstStyle/>
          <a:p>
            <a:r>
              <a:rPr lang="en-US" sz="1800" b="1">
                <a:solidFill>
                  <a:schemeClr val="tx1"/>
                </a:solidFill>
              </a:rPr>
              <a:t>IT21813184</a:t>
            </a:r>
            <a:r>
              <a:rPr lang="en-US" sz="1800">
                <a:solidFill>
                  <a:schemeClr val="tx1"/>
                </a:solidFill>
              </a:rPr>
              <a:t>   |   </a:t>
            </a:r>
            <a:r>
              <a:rPr lang="en-US">
                <a:solidFill>
                  <a:schemeClr val="tx1"/>
                </a:solidFill>
              </a:rPr>
              <a:t>Fernando W.M.S.K</a:t>
            </a:r>
            <a:r>
              <a:rPr lang="en-US" sz="1800" b="1">
                <a:solidFill>
                  <a:schemeClr val="tx1"/>
                </a:solidFill>
              </a:rPr>
              <a:t>  </a:t>
            </a:r>
            <a:r>
              <a:rPr lang="en-US" sz="1800">
                <a:solidFill>
                  <a:schemeClr val="tx1"/>
                </a:solidFill>
              </a:rPr>
              <a:t>| R25-068  </a:t>
            </a:r>
            <a:endParaRPr lang="en-US" sz="1800" b="0">
              <a:solidFill>
                <a:schemeClr val="tx1"/>
              </a:solidFill>
            </a:endParaRPr>
          </a:p>
        </p:txBody>
      </p:sp>
    </p:spTree>
    <p:extLst>
      <p:ext uri="{BB962C8B-B14F-4D97-AF65-F5344CB8AC3E}">
        <p14:creationId xmlns:p14="http://schemas.microsoft.com/office/powerpoint/2010/main" val="38079150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3F3F6-4CE8-00E6-5D6F-7DEBBE85D65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6761EDF-A128-6A8B-7B2E-05873BDAF4BB}"/>
              </a:ext>
            </a:extLst>
          </p:cNvPr>
          <p:cNvSpPr/>
          <p:nvPr/>
        </p:nvSpPr>
        <p:spPr>
          <a:xfrm>
            <a:off x="2743200" y="6492875"/>
            <a:ext cx="48351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800" b="1">
                <a:solidFill>
                  <a:schemeClr val="tx1"/>
                </a:solidFill>
              </a:rPr>
              <a:t>IT21813184</a:t>
            </a:r>
            <a:r>
              <a:rPr lang="en-US" sz="1800">
                <a:solidFill>
                  <a:schemeClr val="tx1"/>
                </a:solidFill>
              </a:rPr>
              <a:t>   |   </a:t>
            </a:r>
            <a:r>
              <a:rPr lang="en-US">
                <a:solidFill>
                  <a:schemeClr val="tx1"/>
                </a:solidFill>
              </a:rPr>
              <a:t>Fernando W.M.S.K</a:t>
            </a:r>
            <a:r>
              <a:rPr lang="en-US" sz="1800" b="1">
                <a:solidFill>
                  <a:schemeClr val="tx1"/>
                </a:solidFill>
              </a:rPr>
              <a:t>  </a:t>
            </a:r>
            <a:r>
              <a:rPr lang="en-US" sz="1800">
                <a:solidFill>
                  <a:schemeClr val="tx1"/>
                </a:solidFill>
              </a:rPr>
              <a:t>| R25-068  </a:t>
            </a:r>
            <a:endParaRPr lang="en-US" sz="1800" b="0">
              <a:solidFill>
                <a:schemeClr val="tx1"/>
              </a:solidFill>
            </a:endParaRPr>
          </a:p>
        </p:txBody>
      </p:sp>
      <p:pic>
        <p:nvPicPr>
          <p:cNvPr id="4" name="Picture 3" descr="A diagram of skin diseases&#10;&#10;AI-generated content may be incorrect.">
            <a:extLst>
              <a:ext uri="{FF2B5EF4-FFF2-40B4-BE49-F238E27FC236}">
                <a16:creationId xmlns:a16="http://schemas.microsoft.com/office/drawing/2014/main" id="{EAEEA757-58CB-5648-D111-C0EC246319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8125" y="113902"/>
            <a:ext cx="11715750" cy="6144023"/>
          </a:xfrm>
          <a:prstGeom prst="rect">
            <a:avLst/>
          </a:prstGeom>
        </p:spPr>
      </p:pic>
    </p:spTree>
    <p:extLst>
      <p:ext uri="{BB962C8B-B14F-4D97-AF65-F5344CB8AC3E}">
        <p14:creationId xmlns:p14="http://schemas.microsoft.com/office/powerpoint/2010/main" val="39256749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B27C5-0D9B-8E48-3782-324E636ECAF8}"/>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C6C2A1C7-268C-A431-2827-43B5BD3617F9}"/>
              </a:ext>
            </a:extLst>
          </p:cNvPr>
          <p:cNvSpPr>
            <a:spLocks noGrp="1"/>
          </p:cNvSpPr>
          <p:nvPr/>
        </p:nvSpPr>
        <p:spPr>
          <a:xfrm>
            <a:off x="381000" y="328612"/>
            <a:ext cx="5553075" cy="838202"/>
          </a:xfrm>
          <a:prstGeom prst="rect">
            <a:avLst/>
          </a:prstGeom>
        </p:spPr>
        <p:txBody>
          <a:bodyPr vert="horz" lIns="91440" tIns="45720" rIns="91440" bIns="45720" rtlCol="0" anchor="t">
            <a:normAutofit/>
          </a:bodyPr>
          <a:lstStyle>
            <a:lvl1pPr algn="l" defTabSz="914400" rtl="0" eaLnBrk="1" latinLnBrk="0" hangingPunct="1">
              <a:spcBef>
                <a:spcPct val="0"/>
              </a:spcBef>
              <a:buNone/>
              <a:defRPr sz="4000" b="1" kern="1200" cap="all">
                <a:solidFill>
                  <a:schemeClr val="tx1"/>
                </a:solidFill>
                <a:latin typeface="Adobe Devanagari" pitchFamily="18" charset="0"/>
                <a:ea typeface="+mj-ea"/>
                <a:cs typeface="Adobe Devanagari" pitchFamily="18" charset="0"/>
              </a:defRPr>
            </a:lvl1pPr>
          </a:lstStyle>
          <a:p>
            <a:r>
              <a:rPr lang="en-US">
                <a:solidFill>
                  <a:srgbClr val="783F04"/>
                </a:solidFill>
                <a:latin typeface="Arial"/>
                <a:cs typeface="Arial"/>
              </a:rPr>
              <a:t>Methodology</a:t>
            </a:r>
            <a:endParaRPr lang="en-US"/>
          </a:p>
        </p:txBody>
      </p:sp>
      <p:sp>
        <p:nvSpPr>
          <p:cNvPr id="5" name="Title 1">
            <a:extLst>
              <a:ext uri="{FF2B5EF4-FFF2-40B4-BE49-F238E27FC236}">
                <a16:creationId xmlns:a16="http://schemas.microsoft.com/office/drawing/2014/main" id="{A34863BE-F09C-F5CC-2A16-3FFAB0EBA9D3}"/>
              </a:ext>
            </a:extLst>
          </p:cNvPr>
          <p:cNvSpPr txBox="1">
            <a:spLocks/>
          </p:cNvSpPr>
          <p:nvPr/>
        </p:nvSpPr>
        <p:spPr>
          <a:xfrm>
            <a:off x="378619" y="1040606"/>
            <a:ext cx="5553075" cy="838202"/>
          </a:xfrm>
          <a:prstGeom prst="rect">
            <a:avLst/>
          </a:prstGeom>
        </p:spPr>
        <p:txBody>
          <a:bodyPr vert="horz" lIns="91440" tIns="45720" rIns="91440" bIns="45720" rtlCol="0" anchor="t">
            <a:normAutofit/>
          </a:bodyPr>
          <a:lstStyle>
            <a:defPPr>
              <a:defRPr lang="en-US"/>
            </a:defPPr>
            <a:lvl1pPr marL="0" algn="l" defTabSz="914400" rtl="0" eaLnBrk="1" latinLnBrk="0" hangingPunct="1">
              <a:spcBef>
                <a:spcPct val="0"/>
              </a:spcBef>
              <a:buNone/>
              <a:defRPr sz="4000" b="1" kern="1200" cap="all">
                <a:solidFill>
                  <a:schemeClr val="tx1"/>
                </a:solidFill>
                <a:latin typeface="Adobe Devanagari" pitchFamily="18" charset="0"/>
                <a:ea typeface="+mj-ea"/>
                <a:cs typeface="Adobe Devanagari"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atin typeface="Arial"/>
                <a:cs typeface="Arial"/>
              </a:rPr>
              <a:t>System Diagram</a:t>
            </a:r>
            <a:endParaRPr lang="en-US"/>
          </a:p>
        </p:txBody>
      </p:sp>
      <p:sp>
        <p:nvSpPr>
          <p:cNvPr id="9" name="TextBox 8">
            <a:extLst>
              <a:ext uri="{FF2B5EF4-FFF2-40B4-BE49-F238E27FC236}">
                <a16:creationId xmlns:a16="http://schemas.microsoft.com/office/drawing/2014/main" id="{571C2BFE-29CA-72AF-5258-D640DB229836}"/>
              </a:ext>
            </a:extLst>
          </p:cNvPr>
          <p:cNvSpPr txBox="1"/>
          <p:nvPr/>
        </p:nvSpPr>
        <p:spPr>
          <a:xfrm>
            <a:off x="3505200" y="6488668"/>
            <a:ext cx="6096000" cy="369332"/>
          </a:xfrm>
          <a:prstGeom prst="rect">
            <a:avLst/>
          </a:prstGeom>
          <a:noFill/>
        </p:spPr>
        <p:txBody>
          <a:bodyPr wrap="square">
            <a:spAutoFit/>
          </a:bodyPr>
          <a:lstStyle/>
          <a:p>
            <a:r>
              <a:rPr lang="en-US" sz="1800" b="1">
                <a:solidFill>
                  <a:schemeClr val="tx1"/>
                </a:solidFill>
              </a:rPr>
              <a:t>IT21813184</a:t>
            </a:r>
            <a:r>
              <a:rPr lang="en-US" sz="1800">
                <a:solidFill>
                  <a:schemeClr val="tx1"/>
                </a:solidFill>
              </a:rPr>
              <a:t>   |   </a:t>
            </a:r>
            <a:r>
              <a:rPr lang="en-US">
                <a:solidFill>
                  <a:schemeClr val="tx1"/>
                </a:solidFill>
              </a:rPr>
              <a:t>Fernando W.M.S.K</a:t>
            </a:r>
            <a:r>
              <a:rPr lang="en-US" sz="1800" b="1">
                <a:solidFill>
                  <a:schemeClr val="tx1"/>
                </a:solidFill>
              </a:rPr>
              <a:t>  </a:t>
            </a:r>
            <a:r>
              <a:rPr lang="en-US" sz="1800">
                <a:solidFill>
                  <a:schemeClr val="tx1"/>
                </a:solidFill>
              </a:rPr>
              <a:t>| R25-068  </a:t>
            </a:r>
            <a:endParaRPr lang="en-US" sz="1800" b="0">
              <a:solidFill>
                <a:schemeClr val="tx1"/>
              </a:solidFill>
            </a:endParaRPr>
          </a:p>
        </p:txBody>
      </p:sp>
      <p:pic>
        <p:nvPicPr>
          <p:cNvPr id="3" name="Picture 2" descr="A diagram of a computer&#10;&#10;AI-generated content may be incorrect.">
            <a:extLst>
              <a:ext uri="{FF2B5EF4-FFF2-40B4-BE49-F238E27FC236}">
                <a16:creationId xmlns:a16="http://schemas.microsoft.com/office/drawing/2014/main" id="{C5A583CE-6565-A2CC-9F4E-ABD5469A1288}"/>
              </a:ext>
            </a:extLst>
          </p:cNvPr>
          <p:cNvPicPr>
            <a:picLocks noChangeAspect="1"/>
          </p:cNvPicPr>
          <p:nvPr/>
        </p:nvPicPr>
        <p:blipFill>
          <a:blip r:embed="rId2">
            <a:extLst>
              <a:ext uri="{28A0092B-C50C-407E-A947-70E740481C1C}">
                <a14:useLocalDpi xmlns:a14="http://schemas.microsoft.com/office/drawing/2010/main" val="0"/>
              </a:ext>
            </a:extLst>
          </a:blip>
          <a:srcRect l="24298" t="17351" r="24154" b="16722"/>
          <a:stretch/>
        </p:blipFill>
        <p:spPr>
          <a:xfrm>
            <a:off x="660551" y="1661160"/>
            <a:ext cx="11152830" cy="4827508"/>
          </a:xfrm>
          <a:prstGeom prst="rect">
            <a:avLst/>
          </a:prstGeom>
        </p:spPr>
      </p:pic>
    </p:spTree>
    <p:extLst>
      <p:ext uri="{BB962C8B-B14F-4D97-AF65-F5344CB8AC3E}">
        <p14:creationId xmlns:p14="http://schemas.microsoft.com/office/powerpoint/2010/main" val="10960272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31A1D-6794-01B0-4917-5B90E1D868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45FE7D-5D39-91FC-BF97-3F3D7BCCE025}"/>
              </a:ext>
            </a:extLst>
          </p:cNvPr>
          <p:cNvSpPr>
            <a:spLocks noGrp="1"/>
          </p:cNvSpPr>
          <p:nvPr>
            <p:ph type="title"/>
          </p:nvPr>
        </p:nvSpPr>
        <p:spPr/>
        <p:txBody>
          <a:bodyPr/>
          <a:lstStyle/>
          <a:p>
            <a:pPr algn="l"/>
            <a:r>
              <a:rPr lang="en-US" sz="3000" b="1">
                <a:latin typeface="Arial"/>
                <a:cs typeface="Arial"/>
              </a:rPr>
              <a:t>Technologies to be used</a:t>
            </a:r>
            <a:endParaRPr lang="en-US"/>
          </a:p>
        </p:txBody>
      </p:sp>
      <p:pic>
        <p:nvPicPr>
          <p:cNvPr id="5" name="Content Placeholder 4">
            <a:extLst>
              <a:ext uri="{FF2B5EF4-FFF2-40B4-BE49-F238E27FC236}">
                <a16:creationId xmlns:a16="http://schemas.microsoft.com/office/drawing/2014/main" id="{7F278C80-1C62-F432-CBBA-7DC746758555}"/>
              </a:ext>
            </a:extLst>
          </p:cNvPr>
          <p:cNvPicPr>
            <a:picLocks noGrp="1" noChangeAspect="1"/>
          </p:cNvPicPr>
          <p:nvPr>
            <p:ph idx="1"/>
          </p:nvPr>
        </p:nvPicPr>
        <p:blipFill>
          <a:blip r:embed="rId2"/>
          <a:stretch>
            <a:fillRect/>
          </a:stretch>
        </p:blipFill>
        <p:spPr>
          <a:xfrm>
            <a:off x="299888" y="1102486"/>
            <a:ext cx="2770415" cy="1529444"/>
          </a:xfrm>
        </p:spPr>
      </p:pic>
      <p:pic>
        <p:nvPicPr>
          <p:cNvPr id="6" name="Picture 5" descr="A blue and white logo&#10;&#10;AI-generated content may be incorrect.">
            <a:extLst>
              <a:ext uri="{FF2B5EF4-FFF2-40B4-BE49-F238E27FC236}">
                <a16:creationId xmlns:a16="http://schemas.microsoft.com/office/drawing/2014/main" id="{D6A259FE-8F06-FE53-4D09-7CE6F62EECE8}"/>
              </a:ext>
            </a:extLst>
          </p:cNvPr>
          <p:cNvPicPr>
            <a:picLocks noChangeAspect="1"/>
          </p:cNvPicPr>
          <p:nvPr/>
        </p:nvPicPr>
        <p:blipFill>
          <a:blip r:embed="rId3"/>
          <a:stretch>
            <a:fillRect/>
          </a:stretch>
        </p:blipFill>
        <p:spPr>
          <a:xfrm>
            <a:off x="306160" y="4338458"/>
            <a:ext cx="2762250" cy="1726747"/>
          </a:xfrm>
          <a:prstGeom prst="rect">
            <a:avLst/>
          </a:prstGeom>
        </p:spPr>
      </p:pic>
      <p:pic>
        <p:nvPicPr>
          <p:cNvPr id="7" name="Picture 6" descr="A red and black logo&#10;&#10;AI-generated content may be incorrect.">
            <a:extLst>
              <a:ext uri="{FF2B5EF4-FFF2-40B4-BE49-F238E27FC236}">
                <a16:creationId xmlns:a16="http://schemas.microsoft.com/office/drawing/2014/main" id="{F9BD9D73-FEB8-9A09-CFEE-E19B9EC616E7}"/>
              </a:ext>
            </a:extLst>
          </p:cNvPr>
          <p:cNvPicPr>
            <a:picLocks noChangeAspect="1"/>
          </p:cNvPicPr>
          <p:nvPr/>
        </p:nvPicPr>
        <p:blipFill>
          <a:blip r:embed="rId4"/>
          <a:stretch>
            <a:fillRect/>
          </a:stretch>
        </p:blipFill>
        <p:spPr>
          <a:xfrm>
            <a:off x="3211285" y="2641146"/>
            <a:ext cx="3907972" cy="1412422"/>
          </a:xfrm>
          <a:prstGeom prst="rect">
            <a:avLst/>
          </a:prstGeom>
        </p:spPr>
      </p:pic>
      <p:pic>
        <p:nvPicPr>
          <p:cNvPr id="8" name="Picture 7">
            <a:extLst>
              <a:ext uri="{FF2B5EF4-FFF2-40B4-BE49-F238E27FC236}">
                <a16:creationId xmlns:a16="http://schemas.microsoft.com/office/drawing/2014/main" id="{0EC3B14A-373E-9A87-44A3-602337ECCE5D}"/>
              </a:ext>
            </a:extLst>
          </p:cNvPr>
          <p:cNvPicPr>
            <a:picLocks noChangeAspect="1"/>
          </p:cNvPicPr>
          <p:nvPr/>
        </p:nvPicPr>
        <p:blipFill>
          <a:blip r:embed="rId5"/>
          <a:stretch>
            <a:fillRect/>
          </a:stretch>
        </p:blipFill>
        <p:spPr>
          <a:xfrm>
            <a:off x="5987596" y="913337"/>
            <a:ext cx="2641147" cy="1646465"/>
          </a:xfrm>
          <a:prstGeom prst="rect">
            <a:avLst/>
          </a:prstGeom>
        </p:spPr>
      </p:pic>
      <p:pic>
        <p:nvPicPr>
          <p:cNvPr id="9" name="Picture 8" descr="A logo with a letter f&#10;&#10;AI-generated content may be incorrect.">
            <a:extLst>
              <a:ext uri="{FF2B5EF4-FFF2-40B4-BE49-F238E27FC236}">
                <a16:creationId xmlns:a16="http://schemas.microsoft.com/office/drawing/2014/main" id="{8679D85C-4423-FA62-25A0-806B95E830AB}"/>
              </a:ext>
            </a:extLst>
          </p:cNvPr>
          <p:cNvPicPr>
            <a:picLocks noChangeAspect="1"/>
          </p:cNvPicPr>
          <p:nvPr/>
        </p:nvPicPr>
        <p:blipFill>
          <a:blip r:embed="rId6"/>
          <a:stretch>
            <a:fillRect/>
          </a:stretch>
        </p:blipFill>
        <p:spPr>
          <a:xfrm>
            <a:off x="9544957" y="2919794"/>
            <a:ext cx="2532290" cy="2038350"/>
          </a:xfrm>
          <a:prstGeom prst="rect">
            <a:avLst/>
          </a:prstGeom>
        </p:spPr>
      </p:pic>
      <p:pic>
        <p:nvPicPr>
          <p:cNvPr id="10" name="Picture 9" descr="A yellow folded paper with white text&#10;&#10;AI-generated content may be incorrect.">
            <a:extLst>
              <a:ext uri="{FF2B5EF4-FFF2-40B4-BE49-F238E27FC236}">
                <a16:creationId xmlns:a16="http://schemas.microsoft.com/office/drawing/2014/main" id="{63E18224-EC9C-5794-5EDC-EA5B08D17AFE}"/>
              </a:ext>
            </a:extLst>
          </p:cNvPr>
          <p:cNvPicPr>
            <a:picLocks noChangeAspect="1"/>
          </p:cNvPicPr>
          <p:nvPr/>
        </p:nvPicPr>
        <p:blipFill>
          <a:blip r:embed="rId7"/>
          <a:stretch>
            <a:fillRect/>
          </a:stretch>
        </p:blipFill>
        <p:spPr>
          <a:xfrm>
            <a:off x="4502604" y="4443412"/>
            <a:ext cx="1325336" cy="1737633"/>
          </a:xfrm>
          <a:prstGeom prst="rect">
            <a:avLst/>
          </a:prstGeom>
        </p:spPr>
      </p:pic>
      <p:pic>
        <p:nvPicPr>
          <p:cNvPr id="11" name="Picture 10" descr="A logo with a cat head&#10;&#10;AI-generated content may be incorrect.">
            <a:extLst>
              <a:ext uri="{FF2B5EF4-FFF2-40B4-BE49-F238E27FC236}">
                <a16:creationId xmlns:a16="http://schemas.microsoft.com/office/drawing/2014/main" id="{A29857A6-0D43-B2F4-73E4-00205CC72D82}"/>
              </a:ext>
            </a:extLst>
          </p:cNvPr>
          <p:cNvPicPr>
            <a:picLocks noChangeAspect="1"/>
          </p:cNvPicPr>
          <p:nvPr/>
        </p:nvPicPr>
        <p:blipFill>
          <a:blip r:embed="rId8"/>
          <a:stretch>
            <a:fillRect/>
          </a:stretch>
        </p:blipFill>
        <p:spPr>
          <a:xfrm>
            <a:off x="6154057" y="4958144"/>
            <a:ext cx="3390900" cy="1657350"/>
          </a:xfrm>
          <a:prstGeom prst="rect">
            <a:avLst/>
          </a:prstGeom>
        </p:spPr>
      </p:pic>
      <p:sp>
        <p:nvSpPr>
          <p:cNvPr id="4" name="TextBox 3">
            <a:extLst>
              <a:ext uri="{FF2B5EF4-FFF2-40B4-BE49-F238E27FC236}">
                <a16:creationId xmlns:a16="http://schemas.microsoft.com/office/drawing/2014/main" id="{5F8A6F9C-4753-E46D-60DE-552F8AA9C64E}"/>
              </a:ext>
            </a:extLst>
          </p:cNvPr>
          <p:cNvSpPr txBox="1"/>
          <p:nvPr/>
        </p:nvSpPr>
        <p:spPr>
          <a:xfrm>
            <a:off x="3810000" y="6499554"/>
            <a:ext cx="6096000" cy="369332"/>
          </a:xfrm>
          <a:prstGeom prst="rect">
            <a:avLst/>
          </a:prstGeom>
          <a:noFill/>
        </p:spPr>
        <p:txBody>
          <a:bodyPr wrap="square">
            <a:spAutoFit/>
          </a:bodyPr>
          <a:lstStyle/>
          <a:p>
            <a:r>
              <a:rPr lang="en-US" sz="1800" b="1">
                <a:solidFill>
                  <a:schemeClr val="tx1"/>
                </a:solidFill>
              </a:rPr>
              <a:t>IT21813184</a:t>
            </a:r>
            <a:r>
              <a:rPr lang="en-US" sz="1800">
                <a:solidFill>
                  <a:schemeClr val="tx1"/>
                </a:solidFill>
              </a:rPr>
              <a:t>   |   </a:t>
            </a:r>
            <a:r>
              <a:rPr lang="en-US">
                <a:solidFill>
                  <a:schemeClr val="tx1"/>
                </a:solidFill>
              </a:rPr>
              <a:t>Fernando W.M.S.K</a:t>
            </a:r>
            <a:r>
              <a:rPr lang="en-US" sz="1800" b="1">
                <a:solidFill>
                  <a:schemeClr val="tx1"/>
                </a:solidFill>
              </a:rPr>
              <a:t>  </a:t>
            </a:r>
            <a:r>
              <a:rPr lang="en-US" sz="1800">
                <a:solidFill>
                  <a:schemeClr val="tx1"/>
                </a:solidFill>
              </a:rPr>
              <a:t>| R25-068  </a:t>
            </a:r>
            <a:endParaRPr lang="en-US" sz="1800" b="0">
              <a:solidFill>
                <a:schemeClr val="tx1"/>
              </a:solidFill>
            </a:endParaRPr>
          </a:p>
        </p:txBody>
      </p:sp>
    </p:spTree>
    <p:extLst>
      <p:ext uri="{BB962C8B-B14F-4D97-AF65-F5344CB8AC3E}">
        <p14:creationId xmlns:p14="http://schemas.microsoft.com/office/powerpoint/2010/main" val="18490942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611FA4C-65D0-E6BF-85B1-7A461C6AA378}"/>
              </a:ext>
            </a:extLst>
          </p:cNvPr>
          <p:cNvSpPr txBox="1"/>
          <p:nvPr/>
        </p:nvSpPr>
        <p:spPr>
          <a:xfrm>
            <a:off x="3810000" y="6499554"/>
            <a:ext cx="6096000" cy="369332"/>
          </a:xfrm>
          <a:prstGeom prst="rect">
            <a:avLst/>
          </a:prstGeom>
          <a:noFill/>
        </p:spPr>
        <p:txBody>
          <a:bodyPr wrap="square">
            <a:spAutoFit/>
          </a:bodyPr>
          <a:lstStyle/>
          <a:p>
            <a:r>
              <a:rPr lang="en-US" sz="1800" b="1">
                <a:solidFill>
                  <a:schemeClr val="tx1"/>
                </a:solidFill>
              </a:rPr>
              <a:t>IT21813184</a:t>
            </a:r>
            <a:r>
              <a:rPr lang="en-US" sz="1800">
                <a:solidFill>
                  <a:schemeClr val="tx1"/>
                </a:solidFill>
              </a:rPr>
              <a:t>   |   </a:t>
            </a:r>
            <a:r>
              <a:rPr lang="en-US">
                <a:solidFill>
                  <a:schemeClr val="tx1"/>
                </a:solidFill>
              </a:rPr>
              <a:t>Fernando W.M.S.K</a:t>
            </a:r>
            <a:r>
              <a:rPr lang="en-US" sz="1800" b="1">
                <a:solidFill>
                  <a:schemeClr val="tx1"/>
                </a:solidFill>
              </a:rPr>
              <a:t>  </a:t>
            </a:r>
            <a:r>
              <a:rPr lang="en-US" sz="1800">
                <a:solidFill>
                  <a:schemeClr val="tx1"/>
                </a:solidFill>
              </a:rPr>
              <a:t>| R25-068  </a:t>
            </a:r>
            <a:endParaRPr lang="en-US" sz="1800" b="0">
              <a:solidFill>
                <a:schemeClr val="tx1"/>
              </a:solidFill>
            </a:endParaRPr>
          </a:p>
        </p:txBody>
      </p:sp>
      <p:pic>
        <p:nvPicPr>
          <p:cNvPr id="8" name="Picture 7" descr="A screenshot of a graph">
            <a:extLst>
              <a:ext uri="{FF2B5EF4-FFF2-40B4-BE49-F238E27FC236}">
                <a16:creationId xmlns:a16="http://schemas.microsoft.com/office/drawing/2014/main" id="{2DBE9F88-B286-A7C1-D90B-6D2473F564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261760"/>
            <a:ext cx="11012437" cy="4334480"/>
          </a:xfrm>
          <a:prstGeom prst="rect">
            <a:avLst/>
          </a:prstGeom>
        </p:spPr>
      </p:pic>
      <p:sp>
        <p:nvSpPr>
          <p:cNvPr id="10" name="TextBox 9">
            <a:extLst>
              <a:ext uri="{FF2B5EF4-FFF2-40B4-BE49-F238E27FC236}">
                <a16:creationId xmlns:a16="http://schemas.microsoft.com/office/drawing/2014/main" id="{55AC3DA9-A5CF-5A9A-BA4C-9DCC8E444718}"/>
              </a:ext>
            </a:extLst>
          </p:cNvPr>
          <p:cNvSpPr txBox="1"/>
          <p:nvPr/>
        </p:nvSpPr>
        <p:spPr>
          <a:xfrm>
            <a:off x="481781" y="360904"/>
            <a:ext cx="6098458" cy="584775"/>
          </a:xfrm>
          <a:prstGeom prst="rect">
            <a:avLst/>
          </a:prstGeom>
          <a:noFill/>
        </p:spPr>
        <p:txBody>
          <a:bodyPr wrap="square">
            <a:spAutoFit/>
          </a:bodyPr>
          <a:lstStyle/>
          <a:p>
            <a:r>
              <a:rPr lang="en-US" sz="3200" b="1">
                <a:solidFill>
                  <a:srgbClr val="FF0000"/>
                </a:solidFill>
                <a:latin typeface="Arial"/>
                <a:cs typeface="Arial"/>
              </a:rPr>
              <a:t>Gantt chart</a:t>
            </a:r>
            <a:endParaRPr lang="en-US" sz="3200"/>
          </a:p>
        </p:txBody>
      </p:sp>
    </p:spTree>
    <p:extLst>
      <p:ext uri="{BB962C8B-B14F-4D97-AF65-F5344CB8AC3E}">
        <p14:creationId xmlns:p14="http://schemas.microsoft.com/office/powerpoint/2010/main" val="25010725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E3E7C-D6A4-2CD0-ADF5-FDADE3E1C4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8B1230-E829-7B4C-F4D0-382B08560BE2}"/>
              </a:ext>
            </a:extLst>
          </p:cNvPr>
          <p:cNvSpPr>
            <a:spLocks noGrp="1"/>
          </p:cNvSpPr>
          <p:nvPr>
            <p:ph type="title"/>
          </p:nvPr>
        </p:nvSpPr>
        <p:spPr>
          <a:xfrm>
            <a:off x="304800" y="333555"/>
            <a:ext cx="11684000" cy="792162"/>
          </a:xfrm>
        </p:spPr>
        <p:txBody>
          <a:bodyPr>
            <a:normAutofit/>
          </a:bodyPr>
          <a:lstStyle/>
          <a:p>
            <a:pPr algn="l"/>
            <a:r>
              <a:rPr lang="en-US" sz="4000" b="1">
                <a:solidFill>
                  <a:srgbClr val="783F04"/>
                </a:solidFill>
                <a:latin typeface="Arial"/>
                <a:cs typeface="Arial"/>
              </a:rPr>
              <a:t>Supporting Items (</a:t>
            </a:r>
            <a:r>
              <a:rPr lang="en-US" sz="3000" b="1">
                <a:solidFill>
                  <a:srgbClr val="000000"/>
                </a:solidFill>
                <a:latin typeface="Arial"/>
                <a:cs typeface="Arial"/>
              </a:rPr>
              <a:t>Commercialization</a:t>
            </a:r>
            <a:r>
              <a:rPr lang="en-US" sz="4000" b="1">
                <a:solidFill>
                  <a:srgbClr val="783F04"/>
                </a:solidFill>
                <a:latin typeface="Arial"/>
                <a:cs typeface="Arial"/>
              </a:rPr>
              <a:t>)</a:t>
            </a:r>
            <a:endParaRPr lang="en-US"/>
          </a:p>
        </p:txBody>
      </p:sp>
      <p:sp>
        <p:nvSpPr>
          <p:cNvPr id="3" name="Content Placeholder 2">
            <a:extLst>
              <a:ext uri="{FF2B5EF4-FFF2-40B4-BE49-F238E27FC236}">
                <a16:creationId xmlns:a16="http://schemas.microsoft.com/office/drawing/2014/main" id="{5C38EC58-3ECB-B043-80A8-F950DCADEAA1}"/>
              </a:ext>
            </a:extLst>
          </p:cNvPr>
          <p:cNvSpPr>
            <a:spLocks noGrp="1"/>
          </p:cNvSpPr>
          <p:nvPr>
            <p:ph idx="1"/>
          </p:nvPr>
        </p:nvSpPr>
        <p:spPr>
          <a:xfrm>
            <a:off x="439993" y="1281627"/>
            <a:ext cx="6856157" cy="1838960"/>
          </a:xfrm>
        </p:spPr>
        <p:txBody>
          <a:bodyPr vert="horz" lIns="91440" tIns="45720" rIns="91440" bIns="45720" rtlCol="0" anchor="t">
            <a:normAutofit/>
          </a:bodyPr>
          <a:lstStyle/>
          <a:p>
            <a:pPr marL="0" indent="0">
              <a:buNone/>
            </a:pPr>
            <a:r>
              <a:rPr lang="en-US" sz="2000" b="1">
                <a:solidFill>
                  <a:srgbClr val="FF0000"/>
                </a:solidFill>
                <a:ea typeface="+mn-lt"/>
                <a:cs typeface="+mn-lt"/>
              </a:rPr>
              <a:t>Target Market:</a:t>
            </a:r>
            <a:endParaRPr lang="en-US" sz="2000" b="1">
              <a:solidFill>
                <a:srgbClr val="FF0000"/>
              </a:solidFill>
              <a:ea typeface="Cambria"/>
            </a:endParaRPr>
          </a:p>
          <a:p>
            <a:pPr marL="0" indent="0">
              <a:buNone/>
            </a:pPr>
            <a:endParaRPr lang="en-US" sz="2000">
              <a:ea typeface="Cambria"/>
            </a:endParaRPr>
          </a:p>
        </p:txBody>
      </p:sp>
      <p:sp>
        <p:nvSpPr>
          <p:cNvPr id="7" name="TextBox 6">
            <a:extLst>
              <a:ext uri="{FF2B5EF4-FFF2-40B4-BE49-F238E27FC236}">
                <a16:creationId xmlns:a16="http://schemas.microsoft.com/office/drawing/2014/main" id="{AFEC6896-3A35-5C55-3632-0BE404D6B8AC}"/>
              </a:ext>
            </a:extLst>
          </p:cNvPr>
          <p:cNvSpPr txBox="1"/>
          <p:nvPr/>
        </p:nvSpPr>
        <p:spPr>
          <a:xfrm>
            <a:off x="7296150" y="3620902"/>
            <a:ext cx="52197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r>
              <a:rPr lang="en-US" sz="2000" b="1" baseline="0">
                <a:solidFill>
                  <a:srgbClr val="FF0000"/>
                </a:solidFill>
                <a:latin typeface="Cambria"/>
                <a:ea typeface="Arial"/>
                <a:cs typeface="Arial"/>
              </a:rPr>
              <a:t>Partnerships:</a:t>
            </a:r>
            <a:r>
              <a:rPr lang="en-US" sz="2000" b="1">
                <a:latin typeface="Cambria"/>
                <a:ea typeface="Arial"/>
                <a:cs typeface="Arial"/>
              </a:rPr>
              <a:t>​</a:t>
            </a:r>
          </a:p>
        </p:txBody>
      </p:sp>
      <p:sp>
        <p:nvSpPr>
          <p:cNvPr id="4" name="TextBox 3">
            <a:extLst>
              <a:ext uri="{FF2B5EF4-FFF2-40B4-BE49-F238E27FC236}">
                <a16:creationId xmlns:a16="http://schemas.microsoft.com/office/drawing/2014/main" id="{0B59F1B9-079D-B6A4-FADF-D4B9F511ED6A}"/>
              </a:ext>
            </a:extLst>
          </p:cNvPr>
          <p:cNvSpPr txBox="1"/>
          <p:nvPr/>
        </p:nvSpPr>
        <p:spPr>
          <a:xfrm>
            <a:off x="3810000" y="6499554"/>
            <a:ext cx="6096000" cy="369332"/>
          </a:xfrm>
          <a:prstGeom prst="rect">
            <a:avLst/>
          </a:prstGeom>
          <a:noFill/>
        </p:spPr>
        <p:txBody>
          <a:bodyPr wrap="square">
            <a:spAutoFit/>
          </a:bodyPr>
          <a:lstStyle/>
          <a:p>
            <a:r>
              <a:rPr lang="en-US" sz="1800" b="1">
                <a:solidFill>
                  <a:schemeClr val="tx1"/>
                </a:solidFill>
              </a:rPr>
              <a:t>IT21813184</a:t>
            </a:r>
            <a:r>
              <a:rPr lang="en-US" sz="1800">
                <a:solidFill>
                  <a:schemeClr val="tx1"/>
                </a:solidFill>
              </a:rPr>
              <a:t>   |   </a:t>
            </a:r>
            <a:r>
              <a:rPr lang="en-US">
                <a:solidFill>
                  <a:schemeClr val="tx1"/>
                </a:solidFill>
              </a:rPr>
              <a:t>Fernando W.M.S.K</a:t>
            </a:r>
            <a:r>
              <a:rPr lang="en-US" sz="1800" b="1">
                <a:solidFill>
                  <a:schemeClr val="tx1"/>
                </a:solidFill>
              </a:rPr>
              <a:t>  </a:t>
            </a:r>
            <a:r>
              <a:rPr lang="en-US" sz="1800">
                <a:solidFill>
                  <a:schemeClr val="tx1"/>
                </a:solidFill>
              </a:rPr>
              <a:t>| R25-068  </a:t>
            </a:r>
            <a:endParaRPr lang="en-US" sz="1800" b="0">
              <a:solidFill>
                <a:schemeClr val="tx1"/>
              </a:solidFill>
            </a:endParaRPr>
          </a:p>
        </p:txBody>
      </p:sp>
      <p:sp>
        <p:nvSpPr>
          <p:cNvPr id="8" name="Rectangle 1">
            <a:extLst>
              <a:ext uri="{FF2B5EF4-FFF2-40B4-BE49-F238E27FC236}">
                <a16:creationId xmlns:a16="http://schemas.microsoft.com/office/drawing/2014/main" id="{4F26A174-8682-5CB2-FD0E-E32A435DE2B9}"/>
              </a:ext>
            </a:extLst>
          </p:cNvPr>
          <p:cNvSpPr>
            <a:spLocks noChangeArrowheads="1"/>
          </p:cNvSpPr>
          <p:nvPr/>
        </p:nvSpPr>
        <p:spPr bwMode="auto">
          <a:xfrm>
            <a:off x="439993" y="1820409"/>
            <a:ext cx="5219700" cy="20005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Arial" panose="020B0604020202020204" pitchFamily="34" charset="0"/>
              <a:buChar char="•"/>
            </a:pPr>
            <a:r>
              <a:rPr lang="en-US"/>
              <a:t>Health-Conscious Individuals (Ages 18-45)</a:t>
            </a:r>
          </a:p>
          <a:p>
            <a:pPr>
              <a:buFont typeface="Arial" panose="020B0604020202020204" pitchFamily="34" charset="0"/>
              <a:buChar char="•"/>
            </a:pPr>
            <a:r>
              <a:rPr lang="en-US"/>
              <a:t>People with Skin Conditions (Acne, Eczema, etc.)</a:t>
            </a:r>
          </a:p>
          <a:p>
            <a:pPr>
              <a:buFont typeface="Arial" panose="020B0604020202020204" pitchFamily="34" charset="0"/>
              <a:buChar char="•"/>
            </a:pPr>
            <a:r>
              <a:rPr lang="en-US"/>
              <a:t>Ayurvedic &amp; Holistic Health Enthusiasts</a:t>
            </a:r>
          </a:p>
          <a:p>
            <a:pPr>
              <a:buFont typeface="Arial" panose="020B0604020202020204" pitchFamily="34" charset="0"/>
              <a:buChar char="•"/>
            </a:pPr>
            <a:r>
              <a:rPr lang="en-US"/>
              <a:t>Fitness &amp; Wellness Enthusiasts</a:t>
            </a:r>
          </a:p>
          <a:p>
            <a:pPr>
              <a:buFont typeface="Arial" panose="020B0604020202020204" pitchFamily="34" charset="0"/>
              <a:buChar char="•"/>
            </a:pPr>
            <a:r>
              <a:rPr lang="en-US"/>
              <a:t>Beauty &amp; Skincare Lovers</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i="0" u="none" strike="noStrike" cap="none" normalizeH="0" baseline="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3C2B8D1E-540B-FC60-3D0B-FDABB165AB84}"/>
              </a:ext>
            </a:extLst>
          </p:cNvPr>
          <p:cNvSpPr>
            <a:spLocks noChangeArrowheads="1"/>
          </p:cNvSpPr>
          <p:nvPr/>
        </p:nvSpPr>
        <p:spPr bwMode="auto">
          <a:xfrm>
            <a:off x="7004255" y="4059122"/>
            <a:ext cx="4791825"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a:ln>
                  <a:noFill/>
                </a:ln>
                <a:solidFill>
                  <a:schemeClr val="tx1"/>
                </a:solidFill>
                <a:effectLst/>
                <a:latin typeface="Arial" panose="020B0604020202020204" pitchFamily="34" charset="0"/>
              </a:rPr>
              <a:t>Ayurvedic Clinics &amp; Experts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a:ln>
                  <a:noFill/>
                </a:ln>
                <a:solidFill>
                  <a:schemeClr val="tx1"/>
                </a:solidFill>
                <a:effectLst/>
                <a:latin typeface="Arial" panose="020B0604020202020204" pitchFamily="34" charset="0"/>
              </a:rPr>
              <a:t>Dieticians &amp; Nutritionists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a:ln>
                  <a:noFill/>
                </a:ln>
                <a:solidFill>
                  <a:schemeClr val="tx1"/>
                </a:solidFill>
                <a:effectLst/>
                <a:latin typeface="Arial" panose="020B0604020202020204" pitchFamily="34" charset="0"/>
              </a:rPr>
              <a:t>Skincare Brands &amp; Wellness Apps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a:ln>
                  <a:noFill/>
                </a:ln>
                <a:solidFill>
                  <a:schemeClr val="tx1"/>
                </a:solidFill>
                <a:effectLst/>
                <a:latin typeface="Arial" panose="020B0604020202020204" pitchFamily="34" charset="0"/>
              </a:rPr>
              <a:t>Herbal &amp; Pharmaceutical Companies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a:ln>
                  <a:noFill/>
                </a:ln>
                <a:solidFill>
                  <a:schemeClr val="tx1"/>
                </a:solidFill>
                <a:effectLst/>
                <a:latin typeface="Arial" panose="020B0604020202020204" pitchFamily="34" charset="0"/>
              </a:rPr>
              <a:t>Tech Companies for AI &amp; Image Recognition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a:ln>
                  <a:noFill/>
                </a:ln>
                <a:solidFill>
                  <a:schemeClr val="tx1"/>
                </a:solidFill>
                <a:effectLst/>
                <a:latin typeface="Arial" panose="020B0604020202020204" pitchFamily="34" charset="0"/>
              </a:rPr>
              <a:t>Health Influencers &amp; Bloggers</a:t>
            </a:r>
            <a:r>
              <a:rPr kumimoji="0" lang="en-US" altLang="en-US" sz="1800" b="0" i="0" u="none" strike="noStrike" cap="none" normalizeH="0" baseline="0">
                <a:ln>
                  <a:noFill/>
                </a:ln>
                <a:solidFill>
                  <a:schemeClr val="tx1"/>
                </a:solidFill>
                <a:effectLst/>
                <a:latin typeface="Arial" panose="020B0604020202020204" pitchFamily="34" charset="0"/>
              </a:rPr>
              <a:t> </a:t>
            </a:r>
          </a:p>
        </p:txBody>
      </p:sp>
      <p:pic>
        <p:nvPicPr>
          <p:cNvPr id="11" name="Picture 10">
            <a:extLst>
              <a:ext uri="{FF2B5EF4-FFF2-40B4-BE49-F238E27FC236}">
                <a16:creationId xmlns:a16="http://schemas.microsoft.com/office/drawing/2014/main" id="{801E4086-4611-8D07-ABB5-88694C1B734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45018" y="3429000"/>
            <a:ext cx="3529964" cy="2885544"/>
          </a:xfrm>
          <a:prstGeom prst="rect">
            <a:avLst/>
          </a:prstGeom>
          <a:ln>
            <a:noFill/>
          </a:ln>
          <a:effectLst>
            <a:softEdge rad="112500"/>
          </a:effectLst>
        </p:spPr>
      </p:pic>
      <p:pic>
        <p:nvPicPr>
          <p:cNvPr id="14" name="Picture 13">
            <a:extLst>
              <a:ext uri="{FF2B5EF4-FFF2-40B4-BE49-F238E27FC236}">
                <a16:creationId xmlns:a16="http://schemas.microsoft.com/office/drawing/2014/main" id="{0DB957C1-BF45-0A28-036C-5B6E23926A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77231" y="704166"/>
            <a:ext cx="3174776" cy="211651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7916104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A020B-375C-469E-44CA-3D861769D0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99147E-614F-6A9B-76B3-1336DC3CAB89}"/>
              </a:ext>
            </a:extLst>
          </p:cNvPr>
          <p:cNvSpPr>
            <a:spLocks noGrp="1"/>
          </p:cNvSpPr>
          <p:nvPr>
            <p:ph type="title"/>
          </p:nvPr>
        </p:nvSpPr>
        <p:spPr>
          <a:xfrm>
            <a:off x="304800" y="304800"/>
            <a:ext cx="3136348" cy="836335"/>
          </a:xfrm>
        </p:spPr>
        <p:txBody>
          <a:bodyPr/>
          <a:lstStyle/>
          <a:p>
            <a:pPr algn="l"/>
            <a:r>
              <a:rPr lang="en-US" sz="4000" b="1">
                <a:solidFill>
                  <a:srgbClr val="783F04"/>
                </a:solidFill>
                <a:latin typeface="Arial"/>
                <a:cs typeface="Arial"/>
              </a:rPr>
              <a:t>References</a:t>
            </a:r>
            <a:endParaRPr lang="en-US"/>
          </a:p>
        </p:txBody>
      </p:sp>
      <p:sp>
        <p:nvSpPr>
          <p:cNvPr id="3" name="Content Placeholder 2">
            <a:extLst>
              <a:ext uri="{FF2B5EF4-FFF2-40B4-BE49-F238E27FC236}">
                <a16:creationId xmlns:a16="http://schemas.microsoft.com/office/drawing/2014/main" id="{2FF52616-FCE5-20CB-E369-AC0FEBD1AD05}"/>
              </a:ext>
            </a:extLst>
          </p:cNvPr>
          <p:cNvSpPr>
            <a:spLocks noGrp="1"/>
          </p:cNvSpPr>
          <p:nvPr>
            <p:ph idx="1"/>
          </p:nvPr>
        </p:nvSpPr>
        <p:spPr/>
        <p:txBody>
          <a:bodyPr vert="horz" lIns="91440" tIns="45720" rIns="91440" bIns="45720" rtlCol="0" anchor="t">
            <a:normAutofit/>
          </a:bodyPr>
          <a:lstStyle/>
          <a:p>
            <a:pPr>
              <a:buFont typeface="Wingdings" panose="05000000000000000000" pitchFamily="2" charset="2"/>
              <a:buChar char="§"/>
            </a:pPr>
            <a:endParaRPr lang="en-US">
              <a:latin typeface="Calibri"/>
              <a:ea typeface="Calibri"/>
              <a:cs typeface="Calibri"/>
            </a:endParaRPr>
          </a:p>
          <a:p>
            <a:pPr>
              <a:buFont typeface="Wingdings" panose="05000000000000000000" pitchFamily="2" charset="2"/>
              <a:buChar char="§"/>
            </a:pPr>
            <a:r>
              <a:rPr lang="en-US" sz="2400"/>
              <a:t>A. Smith and B. Jones, "Artificial intelligence in dermatology: Applications, limitations, and ethical considerations," </a:t>
            </a:r>
            <a:r>
              <a:rPr lang="en-US" sz="2400" i="1"/>
              <a:t>Journal of Medical Informatics</a:t>
            </a:r>
            <a:r>
              <a:rPr lang="en-US" sz="2400"/>
              <a:t>, vol. 47, no. 3, pp. 221–230, May 2022.</a:t>
            </a:r>
            <a:endParaRPr lang="en-US" sz="2400">
              <a:latin typeface="Calibri"/>
              <a:ea typeface="Calibri"/>
              <a:cs typeface="Calibri"/>
            </a:endParaRPr>
          </a:p>
          <a:p>
            <a:pPr>
              <a:buFont typeface="Wingdings" panose="05000000000000000000" pitchFamily="2" charset="2"/>
              <a:buChar char="§"/>
            </a:pPr>
            <a:endParaRPr lang="en-US" sz="2400">
              <a:latin typeface="ADLaM Display" panose="020F0502020204030204" pitchFamily="2" charset="0"/>
              <a:ea typeface="ADLaM Display" panose="020F0502020204030204" pitchFamily="2" charset="0"/>
              <a:cs typeface="ADLaM Display" panose="020F0502020204030204" pitchFamily="2" charset="0"/>
            </a:endParaRPr>
          </a:p>
          <a:p>
            <a:pPr>
              <a:buFont typeface="Wingdings" panose="05000000000000000000" pitchFamily="2" charset="2"/>
              <a:buChar char="§"/>
            </a:pPr>
            <a:r>
              <a:rPr lang="en-US" sz="2400">
                <a:latin typeface="ADLaM Display" panose="020F0502020204030204" pitchFamily="2" charset="0"/>
                <a:ea typeface="ADLaM Display" panose="020F0502020204030204" pitchFamily="2" charset="0"/>
                <a:cs typeface="ADLaM Display" panose="020F0502020204030204" pitchFamily="2" charset="0"/>
              </a:rPr>
              <a:t> </a:t>
            </a:r>
            <a:r>
              <a:rPr lang="en-US" sz="2400">
                <a:ea typeface="ADLaM Display" panose="020F0502020204030204" pitchFamily="2" charset="0"/>
                <a:cs typeface="ADLaM Display" panose="020F0502020204030204" pitchFamily="2" charset="0"/>
              </a:rPr>
              <a:t>R. Patel, "A study on the effectiveness of medicinal plants for skin treatment," </a:t>
            </a:r>
            <a:r>
              <a:rPr lang="en-US" sz="2400" i="1">
                <a:ea typeface="ADLaM Display" panose="020F0502020204030204" pitchFamily="2" charset="0"/>
                <a:cs typeface="ADLaM Display" panose="020F0502020204030204" pitchFamily="2" charset="0"/>
              </a:rPr>
              <a:t>Ayurveda       Research Journal</a:t>
            </a:r>
            <a:r>
              <a:rPr lang="en-US" sz="2400">
                <a:ea typeface="ADLaM Display" panose="020F0502020204030204" pitchFamily="2" charset="0"/>
                <a:cs typeface="ADLaM Display" panose="020F0502020204030204" pitchFamily="2" charset="0"/>
              </a:rPr>
              <a:t>, vol. 15, no. 2, pp. 85–92, Mar. 2020.</a:t>
            </a:r>
          </a:p>
          <a:p>
            <a:pPr>
              <a:buFont typeface="Wingdings" panose="05000000000000000000" pitchFamily="2" charset="2"/>
              <a:buChar char="§"/>
            </a:pPr>
            <a:endParaRPr lang="en-US" sz="2400">
              <a:ea typeface="ADLaM Display" panose="020F0502020204030204" pitchFamily="2" charset="0"/>
              <a:cs typeface="ADLaM Display" panose="020F0502020204030204" pitchFamily="2" charset="0"/>
            </a:endParaRPr>
          </a:p>
          <a:p>
            <a:pPr>
              <a:buFont typeface="Wingdings" panose="05000000000000000000" pitchFamily="2" charset="2"/>
              <a:buChar char="§"/>
            </a:pPr>
            <a:r>
              <a:rPr lang="en-US" sz="2400"/>
              <a:t>M. Chopra and A. Das, "Application of Ayurveda in modern healthcare: A review of medicinal plant-based skin treatments," </a:t>
            </a:r>
            <a:r>
              <a:rPr lang="en-US" sz="2400" i="1"/>
              <a:t>Indian Journal of Ayurveda and Integrative Medicine</a:t>
            </a:r>
            <a:r>
              <a:rPr lang="en-US" sz="2400"/>
              <a:t>, vol. 12, no. 1, pp. 15–22, Jan. 2021.</a:t>
            </a:r>
            <a:endParaRPr lang="en-US" sz="2400">
              <a:ea typeface="ADLaM Display" panose="020F0502020204030204" pitchFamily="2" charset="0"/>
              <a:cs typeface="ADLaM Display" panose="020F0502020204030204" pitchFamily="2" charset="0"/>
            </a:endParaRPr>
          </a:p>
        </p:txBody>
      </p:sp>
      <p:sp>
        <p:nvSpPr>
          <p:cNvPr id="4" name="TextBox 3">
            <a:extLst>
              <a:ext uri="{FF2B5EF4-FFF2-40B4-BE49-F238E27FC236}">
                <a16:creationId xmlns:a16="http://schemas.microsoft.com/office/drawing/2014/main" id="{2AF10A3C-1CE9-6F5C-A4CD-A81C746C6925}"/>
              </a:ext>
            </a:extLst>
          </p:cNvPr>
          <p:cNvSpPr txBox="1"/>
          <p:nvPr/>
        </p:nvSpPr>
        <p:spPr>
          <a:xfrm>
            <a:off x="3810000" y="6499554"/>
            <a:ext cx="6096000" cy="369332"/>
          </a:xfrm>
          <a:prstGeom prst="rect">
            <a:avLst/>
          </a:prstGeom>
          <a:noFill/>
        </p:spPr>
        <p:txBody>
          <a:bodyPr wrap="square">
            <a:spAutoFit/>
          </a:bodyPr>
          <a:lstStyle/>
          <a:p>
            <a:r>
              <a:rPr lang="en-US" sz="1800" b="1">
                <a:solidFill>
                  <a:schemeClr val="tx1"/>
                </a:solidFill>
              </a:rPr>
              <a:t>IT21813184</a:t>
            </a:r>
            <a:r>
              <a:rPr lang="en-US" sz="1800">
                <a:solidFill>
                  <a:schemeClr val="tx1"/>
                </a:solidFill>
              </a:rPr>
              <a:t>   |   </a:t>
            </a:r>
            <a:r>
              <a:rPr lang="en-US">
                <a:solidFill>
                  <a:schemeClr val="tx1"/>
                </a:solidFill>
              </a:rPr>
              <a:t>Fernando W.M.S.K</a:t>
            </a:r>
            <a:r>
              <a:rPr lang="en-US" sz="1800" b="1">
                <a:solidFill>
                  <a:schemeClr val="tx1"/>
                </a:solidFill>
              </a:rPr>
              <a:t>  </a:t>
            </a:r>
            <a:r>
              <a:rPr lang="en-US" sz="1800">
                <a:solidFill>
                  <a:schemeClr val="tx1"/>
                </a:solidFill>
              </a:rPr>
              <a:t>| R25-068  </a:t>
            </a:r>
            <a:endParaRPr lang="en-US" sz="1800" b="0">
              <a:solidFill>
                <a:schemeClr val="tx1"/>
              </a:solidFill>
            </a:endParaRPr>
          </a:p>
        </p:txBody>
      </p:sp>
    </p:spTree>
    <p:extLst>
      <p:ext uri="{BB962C8B-B14F-4D97-AF65-F5344CB8AC3E}">
        <p14:creationId xmlns:p14="http://schemas.microsoft.com/office/powerpoint/2010/main" val="32584416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D94BA-A399-6BA5-AF84-8246898276D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2E26C08-8042-282B-F42C-EF5E683BCA8D}"/>
              </a:ext>
            </a:extLst>
          </p:cNvPr>
          <p:cNvSpPr>
            <a:spLocks noGrp="1"/>
          </p:cNvSpPr>
          <p:nvPr>
            <p:ph type="title"/>
          </p:nvPr>
        </p:nvSpPr>
        <p:spPr/>
        <p:txBody>
          <a:bodyPr>
            <a:normAutofit fontScale="90000"/>
          </a:bodyPr>
          <a:lstStyle/>
          <a:p>
            <a:r>
              <a:rPr lang="en-US" dirty="0">
                <a:latin typeface="Adobe Devanagari"/>
              </a:rPr>
              <a:t>IT21802812 | Huznadh M.N.M </a:t>
            </a:r>
            <a:br>
              <a:rPr lang="en-US" dirty="0">
                <a:latin typeface="Adobe Devanagari"/>
              </a:rPr>
            </a:br>
            <a:r>
              <a:rPr lang="en-US" sz="3100" dirty="0">
                <a:solidFill>
                  <a:srgbClr val="206623"/>
                </a:solidFill>
                <a:latin typeface="Adobe Devanagari"/>
              </a:rPr>
              <a:t>Mental Well-being Assessment through Facial Emotion Analysis</a:t>
            </a:r>
            <a:endParaRPr lang="en-US" sz="3100" dirty="0">
              <a:solidFill>
                <a:srgbClr val="206623"/>
              </a:solidFill>
            </a:endParaRPr>
          </a:p>
          <a:p>
            <a:endParaRPr lang="en-US" dirty="0"/>
          </a:p>
        </p:txBody>
      </p:sp>
      <p:sp>
        <p:nvSpPr>
          <p:cNvPr id="6" name="Text Placeholder 5">
            <a:extLst>
              <a:ext uri="{FF2B5EF4-FFF2-40B4-BE49-F238E27FC236}">
                <a16:creationId xmlns:a16="http://schemas.microsoft.com/office/drawing/2014/main" id="{BCCE9B52-DBDE-1E9C-703F-D03462A29C24}"/>
              </a:ext>
            </a:extLst>
          </p:cNvPr>
          <p:cNvSpPr>
            <a:spLocks noGrp="1"/>
          </p:cNvSpPr>
          <p:nvPr>
            <p:ph type="body" idx="1"/>
          </p:nvPr>
        </p:nvSpPr>
        <p:spPr/>
        <p:txBody>
          <a:bodyPr/>
          <a:lstStyle/>
          <a:p>
            <a:r>
              <a:rPr lang="en-US"/>
              <a:t>Information Technology (IT)</a:t>
            </a:r>
          </a:p>
          <a:p>
            <a:endParaRPr lang="en-US"/>
          </a:p>
        </p:txBody>
      </p:sp>
      <p:sp>
        <p:nvSpPr>
          <p:cNvPr id="4" name="Rectangle 3">
            <a:extLst>
              <a:ext uri="{FF2B5EF4-FFF2-40B4-BE49-F238E27FC236}">
                <a16:creationId xmlns:a16="http://schemas.microsoft.com/office/drawing/2014/main" id="{44B419D7-E9F6-5BCD-42E0-022A279E4B3B}"/>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b="1">
                <a:solidFill>
                  <a:schemeClr val="tx1"/>
                </a:solidFill>
              </a:rPr>
              <a:t>IT21802812</a:t>
            </a:r>
            <a:r>
              <a:rPr lang="en-US">
                <a:solidFill>
                  <a:schemeClr val="tx1"/>
                </a:solidFill>
              </a:rPr>
              <a:t>|</a:t>
            </a:r>
            <a:r>
              <a:rPr lang="en-US" sz="1800">
                <a:solidFill>
                  <a:schemeClr val="tx1"/>
                </a:solidFill>
              </a:rPr>
              <a:t>   &lt;</a:t>
            </a:r>
            <a:r>
              <a:rPr lang="en-US" sz="1800" b="1">
                <a:solidFill>
                  <a:schemeClr val="tx1"/>
                </a:solidFill>
              </a:rPr>
              <a:t>&lt;</a:t>
            </a:r>
            <a:r>
              <a:rPr lang="en-US" b="1" err="1">
                <a:solidFill>
                  <a:schemeClr val="tx1"/>
                </a:solidFill>
              </a:rPr>
              <a:t>Huznadh</a:t>
            </a:r>
            <a:r>
              <a:rPr lang="en-US" b="1">
                <a:solidFill>
                  <a:schemeClr val="tx1"/>
                </a:solidFill>
              </a:rPr>
              <a:t> MNM</a:t>
            </a:r>
            <a:r>
              <a:rPr lang="en-US" sz="1800" b="1">
                <a:solidFill>
                  <a:schemeClr val="tx1"/>
                </a:solidFill>
              </a:rPr>
              <a:t>&gt;&gt;   </a:t>
            </a:r>
            <a:r>
              <a:rPr lang="en-US" sz="1800">
                <a:solidFill>
                  <a:schemeClr val="tx1"/>
                </a:solidFill>
              </a:rPr>
              <a:t>|   </a:t>
            </a:r>
            <a:r>
              <a:rPr lang="en-US" sz="1800" b="0">
                <a:solidFill>
                  <a:schemeClr val="tx1"/>
                </a:solidFill>
              </a:rPr>
              <a:t>&lt;&lt;</a:t>
            </a:r>
            <a:r>
              <a:rPr lang="en-US">
                <a:solidFill>
                  <a:schemeClr val="tx1"/>
                </a:solidFill>
              </a:rPr>
              <a:t>R25-068</a:t>
            </a:r>
            <a:r>
              <a:rPr lang="en-US" sz="1800" b="0">
                <a:solidFill>
                  <a:schemeClr val="tx1"/>
                </a:solidFill>
              </a:rPr>
              <a:t>&gt;&gt;</a:t>
            </a:r>
          </a:p>
        </p:txBody>
      </p:sp>
      <p:pic>
        <p:nvPicPr>
          <p:cNvPr id="2" name="Picture 1" descr="A person with black hair and beard&#10;&#10;AI-generated content may be incorrect.">
            <a:extLst>
              <a:ext uri="{FF2B5EF4-FFF2-40B4-BE49-F238E27FC236}">
                <a16:creationId xmlns:a16="http://schemas.microsoft.com/office/drawing/2014/main" id="{1D2F7FB6-16A1-6AD5-A6CE-8F9A3F20EE0C}"/>
              </a:ext>
            </a:extLst>
          </p:cNvPr>
          <p:cNvPicPr>
            <a:picLocks noChangeAspect="1"/>
          </p:cNvPicPr>
          <p:nvPr/>
        </p:nvPicPr>
        <p:blipFill>
          <a:blip r:embed="rId2"/>
          <a:stretch>
            <a:fillRect/>
          </a:stretch>
        </p:blipFill>
        <p:spPr>
          <a:xfrm>
            <a:off x="9944100" y="117986"/>
            <a:ext cx="2203654" cy="2351138"/>
          </a:xfrm>
          <a:prstGeom prst="rect">
            <a:avLst/>
          </a:prstGeom>
        </p:spPr>
      </p:pic>
    </p:spTree>
    <p:extLst>
      <p:ext uri="{BB962C8B-B14F-4D97-AF65-F5344CB8AC3E}">
        <p14:creationId xmlns:p14="http://schemas.microsoft.com/office/powerpoint/2010/main" val="16664532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6F1F2C8-798B-4CCE-A851-94AFAF350B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3C3B1D01-7862-09DE-267D-F8198B31FBAB}"/>
              </a:ext>
            </a:extLst>
          </p:cNvPr>
          <p:cNvSpPr>
            <a:spLocks noGrp="1"/>
          </p:cNvSpPr>
          <p:nvPr>
            <p:ph type="title"/>
          </p:nvPr>
        </p:nvSpPr>
        <p:spPr>
          <a:xfrm>
            <a:off x="970908" y="-418536"/>
            <a:ext cx="5425781" cy="2387600"/>
          </a:xfrm>
        </p:spPr>
        <p:txBody>
          <a:bodyPr vert="horz" lIns="91440" tIns="45720" rIns="91440" bIns="45720" rtlCol="0" anchor="b">
            <a:normAutofit/>
          </a:bodyPr>
          <a:lstStyle/>
          <a:p>
            <a:pPr>
              <a:lnSpc>
                <a:spcPct val="90000"/>
              </a:lnSpc>
            </a:pPr>
            <a:r>
              <a:rPr lang="en-US" sz="6000" kern="1200">
                <a:solidFill>
                  <a:srgbClr val="A6C24A"/>
                </a:solidFill>
                <a:latin typeface="+mj-lt"/>
                <a:ea typeface="+mj-ea"/>
                <a:cs typeface="+mj-cs"/>
              </a:rPr>
              <a:t>introduction</a:t>
            </a:r>
          </a:p>
        </p:txBody>
      </p:sp>
      <p:sp>
        <p:nvSpPr>
          <p:cNvPr id="3" name="Text Placeholder 2">
            <a:extLst>
              <a:ext uri="{FF2B5EF4-FFF2-40B4-BE49-F238E27FC236}">
                <a16:creationId xmlns:a16="http://schemas.microsoft.com/office/drawing/2014/main" id="{ADDCAC1B-B8AD-1F8A-2776-D691E9B204A8}"/>
              </a:ext>
            </a:extLst>
          </p:cNvPr>
          <p:cNvSpPr>
            <a:spLocks noGrp="1"/>
          </p:cNvSpPr>
          <p:nvPr>
            <p:ph type="body" idx="1"/>
          </p:nvPr>
        </p:nvSpPr>
        <p:spPr>
          <a:xfrm>
            <a:off x="970908" y="2131530"/>
            <a:ext cx="5425781" cy="3433761"/>
          </a:xfrm>
        </p:spPr>
        <p:txBody>
          <a:bodyPr vert="horz" lIns="91440" tIns="45720" rIns="91440" bIns="45720" rtlCol="0" anchor="b">
            <a:noAutofit/>
          </a:bodyPr>
          <a:lstStyle/>
          <a:p>
            <a:pPr>
              <a:lnSpc>
                <a:spcPct val="90000"/>
              </a:lnSpc>
              <a:spcBef>
                <a:spcPts val="1000"/>
              </a:spcBef>
            </a:pPr>
            <a:r>
              <a:rPr lang="en-US" sz="2400" kern="1200">
                <a:solidFill>
                  <a:schemeClr val="tx1"/>
                </a:solidFill>
                <a:latin typeface="+mn-lt"/>
                <a:ea typeface="+mn-ea"/>
                <a:cs typeface="+mn-cs"/>
              </a:rPr>
              <a:t>•</a:t>
            </a:r>
            <a:r>
              <a:rPr lang="en-US" sz="2400">
                <a:solidFill>
                  <a:schemeClr val="tx1"/>
                </a:solidFill>
                <a:ea typeface="+mn-lt"/>
                <a:cs typeface="+mn-lt"/>
              </a:rPr>
              <a:t>Mental health </a:t>
            </a:r>
            <a:r>
              <a:rPr lang="en-US" sz="2400" kern="1200">
                <a:solidFill>
                  <a:schemeClr val="tx1"/>
                </a:solidFill>
                <a:ea typeface="+mn-lt"/>
                <a:cs typeface="+mn-lt"/>
              </a:rPr>
              <a:t>is </a:t>
            </a:r>
            <a:r>
              <a:rPr lang="en-US" sz="2400">
                <a:solidFill>
                  <a:schemeClr val="tx1"/>
                </a:solidFill>
                <a:ea typeface="+mn-lt"/>
                <a:cs typeface="+mn-lt"/>
              </a:rPr>
              <a:t>crucial for overall well-being</a:t>
            </a:r>
            <a:r>
              <a:rPr lang="en-US" sz="2400" kern="1200">
                <a:solidFill>
                  <a:schemeClr val="tx1"/>
                </a:solidFill>
                <a:ea typeface="+mn-lt"/>
                <a:cs typeface="+mn-lt"/>
              </a:rPr>
              <a:t>.</a:t>
            </a:r>
            <a:endParaRPr lang="en-US" sz="2400">
              <a:solidFill>
                <a:schemeClr val="tx1"/>
              </a:solidFill>
              <a:ea typeface="+mn-lt"/>
              <a:cs typeface="+mn-lt"/>
            </a:endParaRPr>
          </a:p>
          <a:p>
            <a:pPr>
              <a:lnSpc>
                <a:spcPct val="90000"/>
              </a:lnSpc>
              <a:spcBef>
                <a:spcPts val="1000"/>
              </a:spcBef>
            </a:pPr>
            <a:r>
              <a:rPr lang="en-US" sz="2400" kern="1200">
                <a:solidFill>
                  <a:schemeClr val="tx1"/>
                </a:solidFill>
                <a:latin typeface="+mn-lt"/>
                <a:ea typeface="+mn-ea"/>
                <a:cs typeface="+mn-cs"/>
              </a:rPr>
              <a:t>•</a:t>
            </a:r>
            <a:r>
              <a:rPr lang="en-US" sz="2400">
                <a:solidFill>
                  <a:schemeClr val="tx1"/>
                </a:solidFill>
                <a:ea typeface="+mn-lt"/>
                <a:cs typeface="+mn-lt"/>
              </a:rPr>
              <a:t>AI-based facial emotion analysis </a:t>
            </a:r>
            <a:r>
              <a:rPr lang="en-US" sz="2400" kern="1200">
                <a:solidFill>
                  <a:schemeClr val="tx1"/>
                </a:solidFill>
                <a:ea typeface="+mn-lt"/>
                <a:cs typeface="+mn-lt"/>
              </a:rPr>
              <a:t>offers </a:t>
            </a:r>
            <a:r>
              <a:rPr lang="en-US" sz="2400">
                <a:solidFill>
                  <a:schemeClr val="tx1"/>
                </a:solidFill>
                <a:ea typeface="+mn-lt"/>
                <a:cs typeface="+mn-lt"/>
              </a:rPr>
              <a:t>an objective, </a:t>
            </a:r>
            <a:r>
              <a:rPr lang="en-US" sz="2400" kern="1200">
                <a:solidFill>
                  <a:schemeClr val="tx1"/>
                </a:solidFill>
                <a:ea typeface="+mn-lt"/>
                <a:cs typeface="+mn-lt"/>
              </a:rPr>
              <a:t>real-time </a:t>
            </a:r>
            <a:r>
              <a:rPr lang="en-US" sz="2400">
                <a:solidFill>
                  <a:schemeClr val="tx1"/>
                </a:solidFill>
                <a:ea typeface="+mn-lt"/>
                <a:cs typeface="+mn-lt"/>
              </a:rPr>
              <a:t>alternative</a:t>
            </a:r>
            <a:r>
              <a:rPr lang="en-US" sz="2400" kern="1200">
                <a:solidFill>
                  <a:schemeClr val="tx1"/>
                </a:solidFill>
                <a:ea typeface="+mn-lt"/>
                <a:cs typeface="+mn-lt"/>
              </a:rPr>
              <a:t>.</a:t>
            </a:r>
            <a:endParaRPr lang="en-US" sz="2400">
              <a:solidFill>
                <a:schemeClr val="tx1"/>
              </a:solidFill>
              <a:ea typeface="+mn-lt"/>
              <a:cs typeface="+mn-lt"/>
            </a:endParaRPr>
          </a:p>
          <a:p>
            <a:pPr>
              <a:lnSpc>
                <a:spcPct val="90000"/>
              </a:lnSpc>
              <a:spcBef>
                <a:spcPts val="1000"/>
              </a:spcBef>
            </a:pPr>
            <a:r>
              <a:rPr lang="en-US" sz="2400" kern="1200">
                <a:solidFill>
                  <a:schemeClr val="tx1"/>
                </a:solidFill>
                <a:latin typeface="+mn-lt"/>
                <a:ea typeface="+mn-ea"/>
                <a:cs typeface="+mn-cs"/>
              </a:rPr>
              <a:t>•</a:t>
            </a:r>
            <a:r>
              <a:rPr lang="en-US" sz="2400">
                <a:solidFill>
                  <a:schemeClr val="tx1"/>
                </a:solidFill>
                <a:ea typeface="+mn-lt"/>
                <a:cs typeface="+mn-lt"/>
              </a:rPr>
              <a:t>This research integrates AI with Ayurvedic principles </a:t>
            </a:r>
            <a:r>
              <a:rPr lang="en-US" sz="2400" kern="1200">
                <a:solidFill>
                  <a:schemeClr val="tx1"/>
                </a:solidFill>
                <a:ea typeface="+mn-lt"/>
                <a:cs typeface="+mn-lt"/>
              </a:rPr>
              <a:t>for </a:t>
            </a:r>
            <a:r>
              <a:rPr lang="en-US" sz="2400">
                <a:solidFill>
                  <a:schemeClr val="tx1"/>
                </a:solidFill>
                <a:ea typeface="+mn-lt"/>
                <a:cs typeface="+mn-lt"/>
              </a:rPr>
              <a:t>holistic well-being</a:t>
            </a:r>
            <a:endParaRPr lang="en-US" sz="2400">
              <a:solidFill>
                <a:schemeClr val="tx1"/>
              </a:solidFill>
            </a:endParaRPr>
          </a:p>
          <a:p>
            <a:pPr>
              <a:lnSpc>
                <a:spcPct val="90000"/>
              </a:lnSpc>
              <a:spcBef>
                <a:spcPts val="1000"/>
              </a:spcBef>
            </a:pPr>
            <a:endParaRPr lang="en-US" sz="2400" kern="1200">
              <a:solidFill>
                <a:schemeClr val="tx1"/>
              </a:solidFill>
              <a:latin typeface="+mn-lt"/>
              <a:ea typeface="Cambria"/>
            </a:endParaRPr>
          </a:p>
          <a:p>
            <a:pPr>
              <a:lnSpc>
                <a:spcPct val="90000"/>
              </a:lnSpc>
              <a:spcBef>
                <a:spcPts val="1000"/>
              </a:spcBef>
            </a:pPr>
            <a:endParaRPr lang="en-US" sz="1500" kern="1200">
              <a:solidFill>
                <a:schemeClr val="tx1"/>
              </a:solidFill>
              <a:latin typeface="+mn-lt"/>
              <a:ea typeface="+mn-ea"/>
              <a:cs typeface="+mn-cs"/>
            </a:endParaRPr>
          </a:p>
        </p:txBody>
      </p:sp>
      <p:sp>
        <p:nvSpPr>
          <p:cNvPr id="17" name="Freeform: Shape 16">
            <a:extLst>
              <a:ext uri="{FF2B5EF4-FFF2-40B4-BE49-F238E27FC236}">
                <a16:creationId xmlns:a16="http://schemas.microsoft.com/office/drawing/2014/main" id="{755E9CD0-04B0-4A3C-B291-AD913379C7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Oval 18">
            <a:extLst>
              <a:ext uri="{FF2B5EF4-FFF2-40B4-BE49-F238E27FC236}">
                <a16:creationId xmlns:a16="http://schemas.microsoft.com/office/drawing/2014/main" id="{1DD8BF3B-6066-418C-8D1A-75C5E396FC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Block Arc 20">
            <a:extLst>
              <a:ext uri="{FF2B5EF4-FFF2-40B4-BE49-F238E27FC236}">
                <a16:creationId xmlns:a16="http://schemas.microsoft.com/office/drawing/2014/main" id="{80BC66F9-7A74-4286-AD22-1174052CC2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912417" y="1202394"/>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Shape 22">
            <a:extLst>
              <a:ext uri="{FF2B5EF4-FFF2-40B4-BE49-F238E27FC236}">
                <a16:creationId xmlns:a16="http://schemas.microsoft.com/office/drawing/2014/main" id="{D8142CC3-2B5C-48E6-9DF0-6C8ACBAF23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a:p>
        </p:txBody>
      </p:sp>
      <p:cxnSp>
        <p:nvCxnSpPr>
          <p:cNvPr id="25" name="Straight Connector 24">
            <a:extLst>
              <a:ext uri="{FF2B5EF4-FFF2-40B4-BE49-F238E27FC236}">
                <a16:creationId xmlns:a16="http://schemas.microsoft.com/office/drawing/2014/main" id="{7B2D303B-3DD0-4319-9EAD-361847FEC7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7" name="Freeform: Shape 26">
            <a:extLst>
              <a:ext uri="{FF2B5EF4-FFF2-40B4-BE49-F238E27FC236}">
                <a16:creationId xmlns:a16="http://schemas.microsoft.com/office/drawing/2014/main" id="{46A89C79-8EF3-4AF9-B3D9-59A883F41C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9" name="Arc 28">
            <a:extLst>
              <a:ext uri="{FF2B5EF4-FFF2-40B4-BE49-F238E27FC236}">
                <a16:creationId xmlns:a16="http://schemas.microsoft.com/office/drawing/2014/main" id="{EFE5CE34-4543-42E5-B82C-1F3D12422C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6086940"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1" name="Freeform: Shape 30">
            <a:extLst>
              <a:ext uri="{FF2B5EF4-FFF2-40B4-BE49-F238E27FC236}">
                <a16:creationId xmlns:a16="http://schemas.microsoft.com/office/drawing/2014/main" id="{72AF41FE-63D7-4695-81D2-66D2510E4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AAC70B01-8C2D-78BF-F3AB-527922144556}"/>
                  </a:ext>
                </a:extLst>
              </p14:cNvPr>
              <p14:cNvContentPartPr/>
              <p14:nvPr/>
            </p14:nvContentPartPr>
            <p14:xfrm>
              <a:off x="2742256" y="6464025"/>
              <a:ext cx="5592935" cy="371649"/>
            </p14:xfrm>
          </p:contentPart>
        </mc:Choice>
        <mc:Fallback xmlns="">
          <p:pic>
            <p:nvPicPr>
              <p:cNvPr id="6" name="Ink 5">
                <a:extLst>
                  <a:ext uri="{FF2B5EF4-FFF2-40B4-BE49-F238E27FC236}">
                    <a16:creationId xmlns:a16="http://schemas.microsoft.com/office/drawing/2014/main" id="{AAC70B01-8C2D-78BF-F3AB-527922144556}"/>
                  </a:ext>
                </a:extLst>
              </p:cNvPr>
              <p:cNvPicPr/>
              <p:nvPr/>
            </p:nvPicPr>
            <p:blipFill>
              <a:blip r:embed="rId3"/>
              <a:stretch>
                <a:fillRect/>
              </a:stretch>
            </p:blipFill>
            <p:spPr>
              <a:xfrm>
                <a:off x="2679260" y="6401125"/>
                <a:ext cx="5718566" cy="49709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4A8A6078-2C26-9045-D5A9-8BD13D9D6E97}"/>
                  </a:ext>
                </a:extLst>
              </p14:cNvPr>
              <p14:cNvContentPartPr/>
              <p14:nvPr/>
            </p14:nvContentPartPr>
            <p14:xfrm>
              <a:off x="7919797" y="6608535"/>
              <a:ext cx="444016" cy="131715"/>
            </p14:xfrm>
          </p:contentPart>
        </mc:Choice>
        <mc:Fallback xmlns="">
          <p:pic>
            <p:nvPicPr>
              <p:cNvPr id="7" name="Ink 6">
                <a:extLst>
                  <a:ext uri="{FF2B5EF4-FFF2-40B4-BE49-F238E27FC236}">
                    <a16:creationId xmlns:a16="http://schemas.microsoft.com/office/drawing/2014/main" id="{4A8A6078-2C26-9045-D5A9-8BD13D9D6E97}"/>
                  </a:ext>
                </a:extLst>
              </p:cNvPr>
              <p:cNvPicPr/>
              <p:nvPr/>
            </p:nvPicPr>
            <p:blipFill>
              <a:blip r:embed="rId5"/>
              <a:stretch>
                <a:fillRect/>
              </a:stretch>
            </p:blipFill>
            <p:spPr>
              <a:xfrm>
                <a:off x="7856829" y="6545728"/>
                <a:ext cx="569593" cy="256970"/>
              </a:xfrm>
              <a:prstGeom prst="rect">
                <a:avLst/>
              </a:prstGeom>
            </p:spPr>
          </p:pic>
        </mc:Fallback>
      </mc:AlternateContent>
      <p:sp>
        <p:nvSpPr>
          <p:cNvPr id="10" name="Rectangle 9">
            <a:extLst>
              <a:ext uri="{FF2B5EF4-FFF2-40B4-BE49-F238E27FC236}">
                <a16:creationId xmlns:a16="http://schemas.microsoft.com/office/drawing/2014/main" id="{E6E1C958-149F-8BCB-2F14-13126B4C3F3E}"/>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spcAft>
                <a:spcPts val="600"/>
              </a:spcAft>
            </a:pPr>
            <a:r>
              <a:rPr lang="en-US" b="1">
                <a:solidFill>
                  <a:schemeClr val="tx1"/>
                </a:solidFill>
              </a:rPr>
              <a:t>IT21802812</a:t>
            </a:r>
            <a:r>
              <a:rPr lang="en-US">
                <a:solidFill>
                  <a:schemeClr val="tx1"/>
                </a:solidFill>
              </a:rPr>
              <a:t>|</a:t>
            </a:r>
            <a:r>
              <a:rPr lang="en-US" sz="1800">
                <a:solidFill>
                  <a:schemeClr val="tx1"/>
                </a:solidFill>
              </a:rPr>
              <a:t>   &lt;</a:t>
            </a:r>
            <a:r>
              <a:rPr lang="en-US" sz="1800" b="1">
                <a:solidFill>
                  <a:schemeClr val="tx1"/>
                </a:solidFill>
              </a:rPr>
              <a:t>&lt;</a:t>
            </a:r>
            <a:r>
              <a:rPr lang="en-US" b="1" err="1">
                <a:solidFill>
                  <a:schemeClr val="tx1"/>
                </a:solidFill>
              </a:rPr>
              <a:t>Huznadh</a:t>
            </a:r>
            <a:r>
              <a:rPr lang="en-US" b="1">
                <a:solidFill>
                  <a:schemeClr val="tx1"/>
                </a:solidFill>
              </a:rPr>
              <a:t> MNM</a:t>
            </a:r>
            <a:r>
              <a:rPr lang="en-US" sz="1800" b="1">
                <a:solidFill>
                  <a:schemeClr val="tx1"/>
                </a:solidFill>
              </a:rPr>
              <a:t>&gt;&gt;   </a:t>
            </a:r>
            <a:r>
              <a:rPr lang="en-US" sz="1800">
                <a:solidFill>
                  <a:schemeClr val="tx1"/>
                </a:solidFill>
              </a:rPr>
              <a:t>|   </a:t>
            </a:r>
            <a:r>
              <a:rPr lang="en-US" sz="1800" b="0">
                <a:solidFill>
                  <a:schemeClr val="tx1"/>
                </a:solidFill>
              </a:rPr>
              <a:t>&lt;&lt;</a:t>
            </a:r>
            <a:r>
              <a:rPr lang="en-US">
                <a:solidFill>
                  <a:schemeClr val="tx1"/>
                </a:solidFill>
              </a:rPr>
              <a:t>R25-068</a:t>
            </a:r>
            <a:r>
              <a:rPr lang="en-US" sz="1800" b="0">
                <a:solidFill>
                  <a:schemeClr val="tx1"/>
                </a:solidFill>
              </a:rPr>
              <a:t>&gt;&gt;</a:t>
            </a:r>
          </a:p>
        </p:txBody>
      </p:sp>
    </p:spTree>
    <p:extLst>
      <p:ext uri="{BB962C8B-B14F-4D97-AF65-F5344CB8AC3E}">
        <p14:creationId xmlns:p14="http://schemas.microsoft.com/office/powerpoint/2010/main" val="41148820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B966F-51C0-C0C8-07D7-933BBAD3C59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C624DB7-BE25-699C-8666-053A762B9CA5}"/>
              </a:ext>
            </a:extLst>
          </p:cNvPr>
          <p:cNvSpPr>
            <a:spLocks noGrp="1"/>
          </p:cNvSpPr>
          <p:nvPr>
            <p:ph type="title"/>
          </p:nvPr>
        </p:nvSpPr>
        <p:spPr>
          <a:xfrm>
            <a:off x="304800" y="228600"/>
            <a:ext cx="11684000" cy="868362"/>
          </a:xfrm>
        </p:spPr>
        <p:txBody>
          <a:bodyPr>
            <a:normAutofit/>
          </a:bodyPr>
          <a:lstStyle/>
          <a:p>
            <a:r>
              <a:rPr lang="en-US" sz="4900">
                <a:solidFill>
                  <a:srgbClr val="206623"/>
                </a:solidFill>
                <a:latin typeface="Calibri"/>
                <a:ea typeface="Calibri"/>
                <a:cs typeface="Calibri"/>
              </a:rPr>
              <a:t>Research Questions</a:t>
            </a:r>
            <a:endParaRPr lang="en-US">
              <a:solidFill>
                <a:srgbClr val="206623"/>
              </a:solidFill>
            </a:endParaRPr>
          </a:p>
        </p:txBody>
      </p:sp>
      <p:sp>
        <p:nvSpPr>
          <p:cNvPr id="6" name="Content Placeholder 5">
            <a:extLst>
              <a:ext uri="{FF2B5EF4-FFF2-40B4-BE49-F238E27FC236}">
                <a16:creationId xmlns:a16="http://schemas.microsoft.com/office/drawing/2014/main" id="{5D97D09F-F801-B421-FA90-774CF15A8FA3}"/>
              </a:ext>
            </a:extLst>
          </p:cNvPr>
          <p:cNvSpPr>
            <a:spLocks noGrp="1"/>
          </p:cNvSpPr>
          <p:nvPr>
            <p:ph idx="1"/>
          </p:nvPr>
        </p:nvSpPr>
        <p:spPr/>
        <p:txBody>
          <a:bodyPr vert="horz" lIns="91440" tIns="45720" rIns="91440" bIns="45720" rtlCol="0" anchor="t">
            <a:normAutofit/>
          </a:bodyPr>
          <a:lstStyle/>
          <a:p>
            <a:pPr marL="0" indent="0">
              <a:buNone/>
            </a:pPr>
            <a:r>
              <a:rPr lang="en-US">
                <a:highlight>
                  <a:srgbClr val="FFFF00"/>
                </a:highlight>
                <a:latin typeface="Arial"/>
                <a:ea typeface="Cambria"/>
                <a:cs typeface="Arial"/>
              </a:rPr>
              <a:t>•</a:t>
            </a:r>
            <a:r>
              <a:rPr lang="en-US">
                <a:highlight>
                  <a:srgbClr val="FFFF00"/>
                </a:highlight>
                <a:ea typeface="+mn-lt"/>
                <a:cs typeface="+mn-lt"/>
              </a:rPr>
              <a:t>How can AI-based facial emotion analysis assess mental well-being?</a:t>
            </a:r>
            <a:endParaRPr lang="en-US"/>
          </a:p>
          <a:p>
            <a:pPr marL="0" indent="0">
              <a:buNone/>
            </a:pPr>
            <a:r>
              <a:rPr lang="en-US">
                <a:highlight>
                  <a:srgbClr val="FFFF00"/>
                </a:highlight>
                <a:latin typeface="Arial"/>
                <a:ea typeface="Cambria"/>
                <a:cs typeface="Arial"/>
              </a:rPr>
              <a:t>•</a:t>
            </a:r>
            <a:r>
              <a:rPr lang="en-US">
                <a:highlight>
                  <a:srgbClr val="FFFF00"/>
                </a:highlight>
                <a:ea typeface="+mn-lt"/>
                <a:cs typeface="+mn-lt"/>
              </a:rPr>
              <a:t>What Ayurvedic techniques are most effective for stress management?</a:t>
            </a:r>
            <a:endParaRPr lang="en-US">
              <a:ea typeface="+mn-lt"/>
              <a:cs typeface="+mn-lt"/>
            </a:endParaRPr>
          </a:p>
          <a:p>
            <a:pPr marL="0" indent="0">
              <a:buNone/>
            </a:pPr>
            <a:r>
              <a:rPr lang="en-US">
                <a:highlight>
                  <a:srgbClr val="FFFF00"/>
                </a:highlight>
                <a:latin typeface="Arial"/>
                <a:ea typeface="+mn-lt"/>
                <a:cs typeface="Arial"/>
              </a:rPr>
              <a:t>•</a:t>
            </a:r>
            <a:r>
              <a:rPr lang="en-US">
                <a:highlight>
                  <a:srgbClr val="FFFF00"/>
                </a:highlight>
                <a:ea typeface="+mn-lt"/>
                <a:cs typeface="+mn-lt"/>
              </a:rPr>
              <a:t>How can real-time emotional tracking improve mental health?</a:t>
            </a:r>
            <a:endParaRPr lang="en-US">
              <a:ea typeface="+mn-lt"/>
              <a:cs typeface="+mn-lt"/>
            </a:endParaRPr>
          </a:p>
          <a:p>
            <a:pPr marL="0" indent="0">
              <a:buNone/>
            </a:pPr>
            <a:endParaRPr lang="en-US">
              <a:highlight>
                <a:srgbClr val="FFFF00"/>
              </a:highlight>
              <a:latin typeface="Arial"/>
              <a:ea typeface="Cambria"/>
              <a:cs typeface="Arial"/>
            </a:endParaRPr>
          </a:p>
          <a:p>
            <a:endParaRPr lang="en-US">
              <a:highlight>
                <a:srgbClr val="FFFF00"/>
              </a:highlight>
              <a:ea typeface="Cambria"/>
            </a:endParaRPr>
          </a:p>
        </p:txBody>
      </p:sp>
      <p:sp>
        <p:nvSpPr>
          <p:cNvPr id="4" name="Rectangle 3">
            <a:extLst>
              <a:ext uri="{FF2B5EF4-FFF2-40B4-BE49-F238E27FC236}">
                <a16:creationId xmlns:a16="http://schemas.microsoft.com/office/drawing/2014/main" id="{20119799-DB8C-4E6D-ABD9-5C8536755F83}"/>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b="1">
                <a:solidFill>
                  <a:schemeClr val="tx1"/>
                </a:solidFill>
              </a:rPr>
              <a:t>IT21802812</a:t>
            </a:r>
            <a:r>
              <a:rPr lang="en-US" sz="1800">
                <a:solidFill>
                  <a:schemeClr val="tx1"/>
                </a:solidFill>
              </a:rPr>
              <a:t>|   &lt;</a:t>
            </a:r>
            <a:r>
              <a:rPr lang="en-US" sz="1800" b="1">
                <a:solidFill>
                  <a:schemeClr val="tx1"/>
                </a:solidFill>
              </a:rPr>
              <a:t>&lt;</a:t>
            </a:r>
            <a:r>
              <a:rPr lang="en-US" b="1" err="1">
                <a:solidFill>
                  <a:schemeClr val="tx1"/>
                </a:solidFill>
              </a:rPr>
              <a:t>Huznadh</a:t>
            </a:r>
            <a:r>
              <a:rPr lang="en-US" b="1">
                <a:solidFill>
                  <a:schemeClr val="tx1"/>
                </a:solidFill>
              </a:rPr>
              <a:t> MNM</a:t>
            </a:r>
            <a:r>
              <a:rPr lang="en-US" sz="1800" b="1">
                <a:solidFill>
                  <a:schemeClr val="tx1"/>
                </a:solidFill>
              </a:rPr>
              <a:t>&gt;&gt;   </a:t>
            </a:r>
            <a:r>
              <a:rPr lang="en-US" sz="1800">
                <a:solidFill>
                  <a:schemeClr val="tx1"/>
                </a:solidFill>
              </a:rPr>
              <a:t>|   </a:t>
            </a:r>
            <a:r>
              <a:rPr lang="en-US" sz="1800" b="0">
                <a:solidFill>
                  <a:schemeClr val="tx1"/>
                </a:solidFill>
              </a:rPr>
              <a:t>&lt;&lt;</a:t>
            </a:r>
            <a:r>
              <a:rPr lang="en-US">
                <a:solidFill>
                  <a:schemeClr val="tx1"/>
                </a:solidFill>
              </a:rPr>
              <a:t>R25-068</a:t>
            </a:r>
            <a:r>
              <a:rPr lang="en-US" sz="1800" b="0">
                <a:solidFill>
                  <a:schemeClr val="tx1"/>
                </a:solidFill>
              </a:rPr>
              <a:t>&gt;&gt;</a:t>
            </a:r>
            <a:endParaRPr lang="en-US">
              <a:solidFill>
                <a:schemeClr val="tx1"/>
              </a:solidFill>
            </a:endParaRPr>
          </a:p>
        </p:txBody>
      </p:sp>
      <p:pic>
        <p:nvPicPr>
          <p:cNvPr id="2" name="Picture 1" descr="A group of people with speech bubbles&#10;&#10;AI-generated content may be incorrect.">
            <a:extLst>
              <a:ext uri="{FF2B5EF4-FFF2-40B4-BE49-F238E27FC236}">
                <a16:creationId xmlns:a16="http://schemas.microsoft.com/office/drawing/2014/main" id="{9ADDA057-5E76-7FA2-781E-45D67350F36C}"/>
              </a:ext>
            </a:extLst>
          </p:cNvPr>
          <p:cNvPicPr>
            <a:picLocks noChangeAspect="1"/>
          </p:cNvPicPr>
          <p:nvPr/>
        </p:nvPicPr>
        <p:blipFill>
          <a:blip r:embed="rId2"/>
          <a:stretch>
            <a:fillRect/>
          </a:stretch>
        </p:blipFill>
        <p:spPr>
          <a:xfrm>
            <a:off x="7371183" y="3922196"/>
            <a:ext cx="3883614" cy="2239816"/>
          </a:xfrm>
          <a:prstGeom prst="rect">
            <a:avLst/>
          </a:prstGeom>
        </p:spPr>
      </p:pic>
    </p:spTree>
    <p:extLst>
      <p:ext uri="{BB962C8B-B14F-4D97-AF65-F5344CB8AC3E}">
        <p14:creationId xmlns:p14="http://schemas.microsoft.com/office/powerpoint/2010/main" val="5442371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72AB6418-0A0E-0F3E-F54F-E42D6F019353}"/>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b="1">
                <a:solidFill>
                  <a:schemeClr val="tx1"/>
                </a:solidFill>
              </a:rPr>
              <a:t>IT21802812</a:t>
            </a:r>
            <a:r>
              <a:rPr lang="en-US" sz="1800">
                <a:solidFill>
                  <a:schemeClr val="tx1"/>
                </a:solidFill>
              </a:rPr>
              <a:t>|   &lt;</a:t>
            </a:r>
            <a:r>
              <a:rPr lang="en-US" sz="1800" b="1">
                <a:solidFill>
                  <a:schemeClr val="tx1"/>
                </a:solidFill>
              </a:rPr>
              <a:t>&lt;</a:t>
            </a:r>
            <a:r>
              <a:rPr lang="en-US" b="1" err="1">
                <a:solidFill>
                  <a:schemeClr val="tx1"/>
                </a:solidFill>
              </a:rPr>
              <a:t>Huznadh</a:t>
            </a:r>
            <a:r>
              <a:rPr lang="en-US" b="1">
                <a:solidFill>
                  <a:schemeClr val="tx1"/>
                </a:solidFill>
              </a:rPr>
              <a:t> MNM</a:t>
            </a:r>
            <a:r>
              <a:rPr lang="en-US" sz="1800" b="1">
                <a:solidFill>
                  <a:schemeClr val="tx1"/>
                </a:solidFill>
              </a:rPr>
              <a:t>&gt;&gt;   </a:t>
            </a:r>
            <a:r>
              <a:rPr lang="en-US" sz="1800">
                <a:solidFill>
                  <a:schemeClr val="tx1"/>
                </a:solidFill>
              </a:rPr>
              <a:t>|   </a:t>
            </a:r>
            <a:r>
              <a:rPr lang="en-US" sz="1800" b="0">
                <a:solidFill>
                  <a:schemeClr val="tx1"/>
                </a:solidFill>
              </a:rPr>
              <a:t>&lt;&lt;</a:t>
            </a:r>
            <a:r>
              <a:rPr lang="en-US">
                <a:solidFill>
                  <a:schemeClr val="tx1"/>
                </a:solidFill>
              </a:rPr>
              <a:t>R25-068</a:t>
            </a:r>
            <a:r>
              <a:rPr lang="en-US" sz="1800" b="0">
                <a:solidFill>
                  <a:schemeClr val="tx1"/>
                </a:solidFill>
              </a:rPr>
              <a:t>&gt;&gt;</a:t>
            </a:r>
            <a:endParaRPr lang="en-US">
              <a:solidFill>
                <a:schemeClr val="tx1"/>
              </a:solidFill>
            </a:endParaRPr>
          </a:p>
        </p:txBody>
      </p:sp>
      <p:sp>
        <p:nvSpPr>
          <p:cNvPr id="23" name="TextBox 22">
            <a:extLst>
              <a:ext uri="{FF2B5EF4-FFF2-40B4-BE49-F238E27FC236}">
                <a16:creationId xmlns:a16="http://schemas.microsoft.com/office/drawing/2014/main" id="{D6C79F23-3483-400A-1A37-F33AA58ECAFF}"/>
              </a:ext>
            </a:extLst>
          </p:cNvPr>
          <p:cNvSpPr txBox="1"/>
          <p:nvPr/>
        </p:nvSpPr>
        <p:spPr>
          <a:xfrm>
            <a:off x="3429000" y="381000"/>
            <a:ext cx="7619993" cy="1323439"/>
          </a:xfrm>
          <a:prstGeom prst="rect">
            <a:avLst/>
          </a:prstGeom>
          <a:noFill/>
        </p:spPr>
        <p:txBody>
          <a:bodyPr wrap="square" lIns="91440" tIns="45720" rIns="91440" bIns="45720" rtlCol="0" anchor="t">
            <a:spAutoFit/>
          </a:bodyPr>
          <a:lstStyle/>
          <a:p>
            <a:r>
              <a:rPr lang="en-US" sz="2000">
                <a:ln w="0"/>
                <a:effectLst>
                  <a:outerShdw blurRad="38100" dist="19050" dir="2700000" algn="tl" rotWithShape="0">
                    <a:schemeClr val="dk1">
                      <a:alpha val="40000"/>
                    </a:schemeClr>
                  </a:outerShdw>
                </a:effectLst>
                <a:ea typeface="+mn-lt"/>
                <a:cs typeface="+mn-lt"/>
              </a:rPr>
              <a:t>Lack of personalized well-being recommendations in AI emotion detection</a:t>
            </a:r>
            <a:endParaRPr lang="en-US"/>
          </a:p>
          <a:p>
            <a:endParaRPr lang="en-US" sz="2000">
              <a:ln w="0"/>
              <a:effectLst>
                <a:outerShdw blurRad="38100" dist="19050" dir="2700000" algn="tl" rotWithShape="0">
                  <a:prstClr val="black">
                    <a:alpha val="40000"/>
                  </a:prstClr>
                </a:outerShdw>
              </a:effectLst>
              <a:ea typeface="+mn-lt"/>
              <a:cs typeface="+mn-lt"/>
            </a:endParaRPr>
          </a:p>
          <a:p>
            <a:endParaRPr lang="en-US" sz="2000">
              <a:ln w="0"/>
              <a:effectLst>
                <a:outerShdw blurRad="38100" dist="19050" dir="2700000" algn="tl" rotWithShape="0">
                  <a:prstClr val="black">
                    <a:alpha val="40000"/>
                  </a:prstClr>
                </a:outerShdw>
              </a:effectLst>
              <a:ea typeface="Cambria"/>
            </a:endParaRPr>
          </a:p>
        </p:txBody>
      </p:sp>
      <p:sp>
        <p:nvSpPr>
          <p:cNvPr id="25" name="TextBox 24">
            <a:extLst>
              <a:ext uri="{FF2B5EF4-FFF2-40B4-BE49-F238E27FC236}">
                <a16:creationId xmlns:a16="http://schemas.microsoft.com/office/drawing/2014/main" id="{05843D72-57AD-4A58-0F68-0A81A79980CA}"/>
              </a:ext>
            </a:extLst>
          </p:cNvPr>
          <p:cNvSpPr txBox="1"/>
          <p:nvPr/>
        </p:nvSpPr>
        <p:spPr>
          <a:xfrm>
            <a:off x="152400" y="2395210"/>
            <a:ext cx="2895600" cy="1323439"/>
          </a:xfrm>
          <a:prstGeom prst="rect">
            <a:avLst/>
          </a:prstGeom>
          <a:noFill/>
        </p:spPr>
        <p:txBody>
          <a:bodyPr wrap="square" lIns="91440" tIns="45720" rIns="91440" bIns="45720" rtlCol="0" anchor="t">
            <a:spAutoFit/>
          </a:bodyPr>
          <a:lstStyle/>
          <a:p>
            <a:r>
              <a:rPr lang="en-US" sz="4000" b="1">
                <a:solidFill>
                  <a:srgbClr val="206623"/>
                </a:solidFill>
                <a:latin typeface="Arial"/>
                <a:cs typeface="Arial"/>
              </a:rPr>
              <a:t>Research</a:t>
            </a:r>
            <a:r>
              <a:rPr lang="en-US" sz="2800" b="1">
                <a:solidFill>
                  <a:srgbClr val="206623"/>
                </a:solidFill>
                <a:latin typeface="Arial"/>
                <a:cs typeface="Arial"/>
              </a:rPr>
              <a:t> </a:t>
            </a:r>
          </a:p>
          <a:p>
            <a:r>
              <a:rPr lang="en-US" sz="2800" b="1">
                <a:solidFill>
                  <a:srgbClr val="206623"/>
                </a:solidFill>
                <a:latin typeface="Arial"/>
                <a:cs typeface="Arial"/>
              </a:rPr>
              <a:t>     </a:t>
            </a:r>
            <a:r>
              <a:rPr lang="en-US" sz="4000" b="1">
                <a:solidFill>
                  <a:srgbClr val="206623"/>
                </a:solidFill>
                <a:latin typeface="Arial"/>
                <a:cs typeface="Arial"/>
              </a:rPr>
              <a:t>Gap</a:t>
            </a:r>
            <a:endParaRPr lang="en-US" sz="4000">
              <a:solidFill>
                <a:srgbClr val="206623"/>
              </a:solidFill>
            </a:endParaRPr>
          </a:p>
        </p:txBody>
      </p:sp>
      <p:cxnSp>
        <p:nvCxnSpPr>
          <p:cNvPr id="27" name="Straight Connector 26">
            <a:extLst>
              <a:ext uri="{FF2B5EF4-FFF2-40B4-BE49-F238E27FC236}">
                <a16:creationId xmlns:a16="http://schemas.microsoft.com/office/drawing/2014/main" id="{7B17F1F1-5D19-C552-2015-FDAE993D1779}"/>
              </a:ext>
            </a:extLst>
          </p:cNvPr>
          <p:cNvCxnSpPr>
            <a:cxnSpLocks/>
          </p:cNvCxnSpPr>
          <p:nvPr/>
        </p:nvCxnSpPr>
        <p:spPr>
          <a:xfrm>
            <a:off x="2819400" y="29845"/>
            <a:ext cx="0" cy="5352923"/>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EFF5B093-B559-38BC-7415-8163760324E9}"/>
              </a:ext>
            </a:extLst>
          </p:cNvPr>
          <p:cNvSpPr/>
          <p:nvPr/>
        </p:nvSpPr>
        <p:spPr>
          <a:xfrm>
            <a:off x="3156856" y="208865"/>
            <a:ext cx="8229596" cy="990600"/>
          </a:xfrm>
          <a:prstGeom prst="rect">
            <a:avLst/>
          </a:prstGeom>
          <a:no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F7D099FF-F300-593F-06B6-C00B6EB0E96F}"/>
              </a:ext>
            </a:extLst>
          </p:cNvPr>
          <p:cNvSpPr/>
          <p:nvPr/>
        </p:nvSpPr>
        <p:spPr>
          <a:xfrm>
            <a:off x="3135084" y="2772489"/>
            <a:ext cx="8229596" cy="99060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 name="Rectangle 32">
            <a:extLst>
              <a:ext uri="{FF2B5EF4-FFF2-40B4-BE49-F238E27FC236}">
                <a16:creationId xmlns:a16="http://schemas.microsoft.com/office/drawing/2014/main" id="{B9EA60A2-BE65-D86C-F469-CC39AA0ED615}"/>
              </a:ext>
            </a:extLst>
          </p:cNvPr>
          <p:cNvSpPr/>
          <p:nvPr/>
        </p:nvSpPr>
        <p:spPr>
          <a:xfrm>
            <a:off x="3145970" y="4140368"/>
            <a:ext cx="8229596" cy="99060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7" name="Rectangle 36">
            <a:extLst>
              <a:ext uri="{FF2B5EF4-FFF2-40B4-BE49-F238E27FC236}">
                <a16:creationId xmlns:a16="http://schemas.microsoft.com/office/drawing/2014/main" id="{7FC9E6C4-A86B-A75A-90E4-FF99004F9B66}"/>
              </a:ext>
            </a:extLst>
          </p:cNvPr>
          <p:cNvSpPr/>
          <p:nvPr/>
        </p:nvSpPr>
        <p:spPr>
          <a:xfrm>
            <a:off x="3145970" y="1490677"/>
            <a:ext cx="8229596" cy="99060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9" name="TextBox 38">
            <a:extLst>
              <a:ext uri="{FF2B5EF4-FFF2-40B4-BE49-F238E27FC236}">
                <a16:creationId xmlns:a16="http://schemas.microsoft.com/office/drawing/2014/main" id="{40539F03-EDBB-E58B-DEAD-605DA1B7553D}"/>
              </a:ext>
            </a:extLst>
          </p:cNvPr>
          <p:cNvSpPr txBox="1"/>
          <p:nvPr/>
        </p:nvSpPr>
        <p:spPr>
          <a:xfrm>
            <a:off x="3353753" y="1594861"/>
            <a:ext cx="7695240" cy="1015663"/>
          </a:xfrm>
          <a:prstGeom prst="rect">
            <a:avLst/>
          </a:prstGeom>
          <a:noFill/>
        </p:spPr>
        <p:txBody>
          <a:bodyPr wrap="square" lIns="91440" tIns="45720" rIns="91440" bIns="45720" anchor="t">
            <a:spAutoFit/>
          </a:bodyPr>
          <a:lstStyle/>
          <a:p>
            <a:r>
              <a:rPr lang="en-US" sz="2000">
                <a:ln w="0"/>
                <a:effectLst>
                  <a:outerShdw blurRad="38100" dist="19050" dir="2700000" algn="tl" rotWithShape="0">
                    <a:schemeClr val="dk1">
                      <a:alpha val="40000"/>
                    </a:schemeClr>
                  </a:outerShdw>
                </a:effectLst>
                <a:ea typeface="+mn-lt"/>
                <a:cs typeface="+mn-lt"/>
              </a:rPr>
              <a:t>Limited accessibility of mental health tools</a:t>
            </a:r>
            <a:endParaRPr lang="en-US"/>
          </a:p>
          <a:p>
            <a:endParaRPr lang="en-US" sz="2000">
              <a:ln w="0"/>
              <a:effectLst>
                <a:outerShdw blurRad="38100" dist="19050" dir="2700000" algn="tl" rotWithShape="0">
                  <a:prstClr val="black">
                    <a:alpha val="40000"/>
                  </a:prstClr>
                </a:outerShdw>
              </a:effectLst>
              <a:ea typeface="+mn-lt"/>
              <a:cs typeface="+mn-lt"/>
            </a:endParaRPr>
          </a:p>
          <a:p>
            <a:endParaRPr lang="en-US" sz="2000">
              <a:ln w="0"/>
              <a:effectLst>
                <a:outerShdw blurRad="38100" dist="19050" dir="2700000" algn="tl" rotWithShape="0">
                  <a:prstClr val="black">
                    <a:alpha val="40000"/>
                  </a:prstClr>
                </a:outerShdw>
              </a:effectLst>
              <a:ea typeface="Cambria"/>
            </a:endParaRPr>
          </a:p>
        </p:txBody>
      </p:sp>
      <p:sp>
        <p:nvSpPr>
          <p:cNvPr id="41" name="TextBox 40">
            <a:extLst>
              <a:ext uri="{FF2B5EF4-FFF2-40B4-BE49-F238E27FC236}">
                <a16:creationId xmlns:a16="http://schemas.microsoft.com/office/drawing/2014/main" id="{437D56A1-0FA2-0DA4-5B4C-27B161063928}"/>
              </a:ext>
            </a:extLst>
          </p:cNvPr>
          <p:cNvSpPr txBox="1"/>
          <p:nvPr/>
        </p:nvSpPr>
        <p:spPr>
          <a:xfrm>
            <a:off x="3156855" y="2853718"/>
            <a:ext cx="7892137" cy="1015663"/>
          </a:xfrm>
          <a:prstGeom prst="rect">
            <a:avLst/>
          </a:prstGeom>
          <a:noFill/>
        </p:spPr>
        <p:txBody>
          <a:bodyPr wrap="square" lIns="91440" tIns="45720" rIns="91440" bIns="45720" anchor="t">
            <a:spAutoFit/>
          </a:bodyPr>
          <a:lstStyle/>
          <a:p>
            <a:r>
              <a:rPr lang="en-US" sz="2000">
                <a:ln w="0"/>
                <a:effectLst>
                  <a:outerShdw blurRad="38100" dist="19050" dir="2700000" algn="tl" rotWithShape="0">
                    <a:schemeClr val="dk1">
                      <a:alpha val="40000"/>
                    </a:schemeClr>
                  </a:outerShdw>
                </a:effectLst>
                <a:ea typeface="+mn-lt"/>
                <a:cs typeface="+mn-lt"/>
              </a:rPr>
              <a:t>Absence of long-term emotional state monitoring</a:t>
            </a:r>
            <a:endParaRPr lang="en-US"/>
          </a:p>
          <a:p>
            <a:endParaRPr lang="en-US" sz="2000">
              <a:ln w="0"/>
              <a:effectLst>
                <a:outerShdw blurRad="38100" dist="19050" dir="2700000" algn="tl" rotWithShape="0">
                  <a:prstClr val="black">
                    <a:alpha val="40000"/>
                  </a:prstClr>
                </a:outerShdw>
              </a:effectLst>
              <a:ea typeface="+mn-lt"/>
              <a:cs typeface="+mn-lt"/>
            </a:endParaRPr>
          </a:p>
          <a:p>
            <a:endParaRPr lang="en-US" sz="2000">
              <a:ln w="0"/>
              <a:effectLst>
                <a:outerShdw blurRad="38100" dist="19050" dir="2700000" algn="tl" rotWithShape="0">
                  <a:prstClr val="black">
                    <a:alpha val="40000"/>
                  </a:prstClr>
                </a:outerShdw>
              </a:effectLst>
              <a:ea typeface="Cambria"/>
            </a:endParaRPr>
          </a:p>
        </p:txBody>
      </p:sp>
      <p:sp>
        <p:nvSpPr>
          <p:cNvPr id="43" name="TextBox 42">
            <a:extLst>
              <a:ext uri="{FF2B5EF4-FFF2-40B4-BE49-F238E27FC236}">
                <a16:creationId xmlns:a16="http://schemas.microsoft.com/office/drawing/2014/main" id="{D2726CB1-BC05-9438-F8EA-31C913E6E35C}"/>
              </a:ext>
            </a:extLst>
          </p:cNvPr>
          <p:cNvSpPr txBox="1"/>
          <p:nvPr/>
        </p:nvSpPr>
        <p:spPr>
          <a:xfrm>
            <a:off x="3189512" y="4278610"/>
            <a:ext cx="7935687" cy="1015663"/>
          </a:xfrm>
          <a:prstGeom prst="rect">
            <a:avLst/>
          </a:prstGeom>
          <a:noFill/>
        </p:spPr>
        <p:txBody>
          <a:bodyPr wrap="square" lIns="91440" tIns="45720" rIns="91440" bIns="45720" anchor="t">
            <a:spAutoFit/>
          </a:bodyPr>
          <a:lstStyle/>
          <a:p>
            <a:r>
              <a:rPr lang="en-US" sz="2000">
                <a:ln w="0"/>
                <a:effectLst>
                  <a:outerShdw blurRad="38100" dist="19050" dir="2700000" algn="tl" rotWithShape="0">
                    <a:schemeClr val="dk1">
                      <a:alpha val="40000"/>
                    </a:schemeClr>
                  </a:outerShdw>
                </a:effectLst>
                <a:ea typeface="+mn-lt"/>
                <a:cs typeface="+mn-lt"/>
              </a:rPr>
              <a:t>Ethical and privacy concerns in facial recognition technology</a:t>
            </a:r>
            <a:endParaRPr lang="en-US"/>
          </a:p>
          <a:p>
            <a:endParaRPr lang="en-US" sz="2000">
              <a:ln w="0"/>
              <a:effectLst>
                <a:outerShdw blurRad="38100" dist="19050" dir="2700000" algn="tl" rotWithShape="0">
                  <a:prstClr val="black">
                    <a:alpha val="40000"/>
                  </a:prstClr>
                </a:outerShdw>
              </a:effectLst>
              <a:ea typeface="+mn-lt"/>
              <a:cs typeface="+mn-lt"/>
            </a:endParaRPr>
          </a:p>
          <a:p>
            <a:endParaRPr lang="en-US" sz="2000">
              <a:ln w="0"/>
              <a:effectLst>
                <a:outerShdw blurRad="38100" dist="19050" dir="2700000" algn="tl" rotWithShape="0">
                  <a:prstClr val="black">
                    <a:alpha val="40000"/>
                  </a:prstClr>
                </a:outerShdw>
              </a:effectLst>
              <a:ea typeface="Cambria"/>
            </a:endParaRPr>
          </a:p>
        </p:txBody>
      </p:sp>
    </p:spTree>
    <p:extLst>
      <p:ext uri="{BB962C8B-B14F-4D97-AF65-F5344CB8AC3E}">
        <p14:creationId xmlns:p14="http://schemas.microsoft.com/office/powerpoint/2010/main" val="2633727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5F59FCA-63AF-6AF7-8F57-8BE55D9A0970}"/>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4" name="Rectangle 13">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9E37F118-5278-9104-E64E-02759F464B77}"/>
              </a:ext>
            </a:extLst>
          </p:cNvPr>
          <p:cNvSpPr>
            <a:spLocks noGrp="1"/>
          </p:cNvSpPr>
          <p:nvPr>
            <p:ph type="title"/>
          </p:nvPr>
        </p:nvSpPr>
        <p:spPr>
          <a:xfrm>
            <a:off x="1043631" y="809898"/>
            <a:ext cx="9303620" cy="1480739"/>
          </a:xfrm>
        </p:spPr>
        <p:txBody>
          <a:bodyPr anchor="ctr">
            <a:normAutofit/>
          </a:bodyPr>
          <a:lstStyle/>
          <a:p>
            <a:r>
              <a:rPr lang="en-US" sz="4800" b="1">
                <a:solidFill>
                  <a:srgbClr val="206623"/>
                </a:solidFill>
                <a:latin typeface="Calibri"/>
                <a:ea typeface="Calibri"/>
                <a:cs typeface="Calibri"/>
              </a:rPr>
              <a:t>OBJECTIVES</a:t>
            </a:r>
            <a:endParaRPr lang="en-US" sz="4800" b="1">
              <a:solidFill>
                <a:srgbClr val="206623"/>
              </a:solidFill>
            </a:endParaRPr>
          </a:p>
        </p:txBody>
      </p:sp>
      <p:sp>
        <p:nvSpPr>
          <p:cNvPr id="6" name="Content Placeholder 5">
            <a:extLst>
              <a:ext uri="{FF2B5EF4-FFF2-40B4-BE49-F238E27FC236}">
                <a16:creationId xmlns:a16="http://schemas.microsoft.com/office/drawing/2014/main" id="{1BEBA370-741F-9777-0829-307B904D7857}"/>
              </a:ext>
            </a:extLst>
          </p:cNvPr>
          <p:cNvSpPr>
            <a:spLocks noGrp="1"/>
          </p:cNvSpPr>
          <p:nvPr>
            <p:ph idx="1"/>
          </p:nvPr>
        </p:nvSpPr>
        <p:spPr>
          <a:xfrm>
            <a:off x="1045028" y="3017522"/>
            <a:ext cx="9941319" cy="3124658"/>
          </a:xfrm>
        </p:spPr>
        <p:txBody>
          <a:bodyPr vert="horz" lIns="91440" tIns="45720" rIns="91440" bIns="45720" rtlCol="0" anchor="ctr">
            <a:normAutofit/>
          </a:bodyPr>
          <a:lstStyle/>
          <a:p>
            <a:pPr marL="0" indent="0">
              <a:lnSpc>
                <a:spcPct val="90000"/>
              </a:lnSpc>
              <a:buNone/>
            </a:pPr>
            <a:r>
              <a:rPr lang="en-US" sz="2400">
                <a:latin typeface="Arial"/>
                <a:cs typeface="Arial"/>
              </a:rPr>
              <a:t>•</a:t>
            </a:r>
            <a:r>
              <a:rPr lang="en-US" sz="2400">
                <a:latin typeface="Arial"/>
                <a:ea typeface="Calibri"/>
                <a:cs typeface="Arial"/>
              </a:rPr>
              <a:t> </a:t>
            </a:r>
            <a:r>
              <a:rPr lang="en-US" sz="2400">
                <a:solidFill>
                  <a:srgbClr val="000000"/>
                </a:solidFill>
                <a:latin typeface="Cambria"/>
                <a:ea typeface="Cambria"/>
                <a:cs typeface="Calibri"/>
              </a:rPr>
              <a:t>Build</a:t>
            </a:r>
            <a:r>
              <a:rPr lang="en-US" sz="2400">
                <a:ea typeface="+mn-lt"/>
                <a:cs typeface="+mn-lt"/>
              </a:rPr>
              <a:t> an AI model to accurately detect and classify facial emotions.</a:t>
            </a:r>
          </a:p>
          <a:p>
            <a:pPr marL="0" indent="0">
              <a:lnSpc>
                <a:spcPct val="90000"/>
              </a:lnSpc>
              <a:buNone/>
            </a:pPr>
            <a:r>
              <a:rPr lang="en-US" sz="2400">
                <a:latin typeface="Arial"/>
                <a:cs typeface="Arial"/>
              </a:rPr>
              <a:t>•</a:t>
            </a:r>
            <a:r>
              <a:rPr lang="en-US" sz="2400">
                <a:latin typeface="Arial"/>
                <a:ea typeface="Calibri"/>
                <a:cs typeface="Arial"/>
              </a:rPr>
              <a:t> </a:t>
            </a:r>
            <a:r>
              <a:rPr lang="en-US" sz="2400">
                <a:ea typeface="+mn-lt"/>
                <a:cs typeface="+mn-lt"/>
              </a:rPr>
              <a:t>Establish a stress assessment system based on emotional fluctuations      over time.</a:t>
            </a:r>
          </a:p>
          <a:p>
            <a:pPr marL="0" indent="0">
              <a:lnSpc>
                <a:spcPct val="90000"/>
              </a:lnSpc>
              <a:buNone/>
            </a:pPr>
            <a:r>
              <a:rPr lang="en-US" sz="2400">
                <a:latin typeface="Arial"/>
                <a:cs typeface="Arial"/>
              </a:rPr>
              <a:t>•</a:t>
            </a:r>
            <a:r>
              <a:rPr lang="en-US" sz="2400">
                <a:latin typeface="Arial"/>
                <a:ea typeface="Calibri"/>
                <a:cs typeface="Arial"/>
              </a:rPr>
              <a:t> </a:t>
            </a:r>
            <a:r>
              <a:rPr lang="en-US" sz="2400">
                <a:ea typeface="+mn-lt"/>
                <a:cs typeface="+mn-lt"/>
              </a:rPr>
              <a:t>Integrate Ayurvedic-based well-being recommendations tailored to emotional states.</a:t>
            </a:r>
          </a:p>
          <a:p>
            <a:pPr marL="0" indent="0">
              <a:lnSpc>
                <a:spcPct val="90000"/>
              </a:lnSpc>
              <a:buNone/>
            </a:pPr>
            <a:r>
              <a:rPr lang="en-US" sz="2400">
                <a:latin typeface="Arial"/>
                <a:cs typeface="Arial"/>
              </a:rPr>
              <a:t>•</a:t>
            </a:r>
            <a:r>
              <a:rPr lang="en-US" sz="2400">
                <a:latin typeface="Arial"/>
                <a:ea typeface="Calibri"/>
                <a:cs typeface="Arial"/>
              </a:rPr>
              <a:t> </a:t>
            </a:r>
            <a:r>
              <a:rPr lang="en-US" sz="2400">
                <a:ea typeface="+mn-lt"/>
                <a:cs typeface="+mn-lt"/>
              </a:rPr>
              <a:t>Ensure accessibility, usability, and data privacy in the system design.</a:t>
            </a:r>
          </a:p>
          <a:p>
            <a:pPr marL="0" indent="0">
              <a:lnSpc>
                <a:spcPct val="90000"/>
              </a:lnSpc>
              <a:buNone/>
            </a:pPr>
            <a:endParaRPr lang="en-US" sz="2400">
              <a:latin typeface="Arial"/>
              <a:ea typeface="Calibri"/>
              <a:cs typeface="Arial"/>
            </a:endParaRPr>
          </a:p>
          <a:p>
            <a:pPr>
              <a:lnSpc>
                <a:spcPct val="90000"/>
              </a:lnSpc>
            </a:pPr>
            <a:endParaRPr lang="en-US" sz="2400">
              <a:highlight>
                <a:srgbClr val="FFFF00"/>
              </a:highlight>
              <a:latin typeface="Cambria"/>
              <a:ea typeface="Cambria"/>
              <a:cs typeface="Calibri"/>
            </a:endParaRPr>
          </a:p>
        </p:txBody>
      </p:sp>
      <p:cxnSp>
        <p:nvCxnSpPr>
          <p:cNvPr id="20" name="Straight Connector 19">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6D722BF6-43BC-D97C-A228-9051A0917B01}"/>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spcAft>
                <a:spcPts val="600"/>
              </a:spcAft>
            </a:pPr>
            <a:r>
              <a:rPr lang="en-US" b="1">
                <a:solidFill>
                  <a:schemeClr val="tx1"/>
                </a:solidFill>
              </a:rPr>
              <a:t>IT21802812</a:t>
            </a:r>
            <a:r>
              <a:rPr lang="en-US" sz="1800">
                <a:solidFill>
                  <a:schemeClr val="tx1"/>
                </a:solidFill>
              </a:rPr>
              <a:t>|   &lt;</a:t>
            </a:r>
            <a:r>
              <a:rPr lang="en-US" sz="1800" b="1">
                <a:solidFill>
                  <a:schemeClr val="tx1"/>
                </a:solidFill>
              </a:rPr>
              <a:t>&lt;</a:t>
            </a:r>
            <a:r>
              <a:rPr lang="en-US" b="1" err="1">
                <a:solidFill>
                  <a:schemeClr val="tx1"/>
                </a:solidFill>
              </a:rPr>
              <a:t>Huznadh</a:t>
            </a:r>
            <a:r>
              <a:rPr lang="en-US" b="1">
                <a:solidFill>
                  <a:schemeClr val="tx1"/>
                </a:solidFill>
              </a:rPr>
              <a:t> MNM</a:t>
            </a:r>
            <a:r>
              <a:rPr lang="en-US" sz="1800" b="1">
                <a:solidFill>
                  <a:schemeClr val="tx1"/>
                </a:solidFill>
              </a:rPr>
              <a:t>&gt;&gt;   </a:t>
            </a:r>
            <a:r>
              <a:rPr lang="en-US" sz="1800">
                <a:solidFill>
                  <a:schemeClr val="tx1"/>
                </a:solidFill>
              </a:rPr>
              <a:t>|   </a:t>
            </a:r>
            <a:r>
              <a:rPr lang="en-US" sz="1800" b="0">
                <a:solidFill>
                  <a:schemeClr val="tx1"/>
                </a:solidFill>
              </a:rPr>
              <a:t>&lt;&lt;</a:t>
            </a:r>
            <a:r>
              <a:rPr lang="en-US">
                <a:solidFill>
                  <a:schemeClr val="tx1"/>
                </a:solidFill>
              </a:rPr>
              <a:t>R25-068</a:t>
            </a:r>
            <a:r>
              <a:rPr lang="en-US" sz="1800" b="0">
                <a:solidFill>
                  <a:schemeClr val="tx1"/>
                </a:solidFill>
              </a:rPr>
              <a:t>&gt;&gt;</a:t>
            </a:r>
            <a:endParaRPr lang="en-US">
              <a:solidFill>
                <a:schemeClr val="tx1"/>
              </a:solidFill>
            </a:endParaRPr>
          </a:p>
        </p:txBody>
      </p:sp>
    </p:spTree>
    <p:extLst>
      <p:ext uri="{BB962C8B-B14F-4D97-AF65-F5344CB8AC3E}">
        <p14:creationId xmlns:p14="http://schemas.microsoft.com/office/powerpoint/2010/main" val="25816964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93048-B96C-AD36-2016-7193955AB1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AA9FE8-413F-0D75-31CE-A8BE9D40402B}"/>
              </a:ext>
            </a:extLst>
          </p:cNvPr>
          <p:cNvSpPr>
            <a:spLocks noGrp="1"/>
          </p:cNvSpPr>
          <p:nvPr>
            <p:ph type="title"/>
          </p:nvPr>
        </p:nvSpPr>
        <p:spPr>
          <a:xfrm>
            <a:off x="3979334" y="408708"/>
            <a:ext cx="4236413" cy="877167"/>
          </a:xfrm>
        </p:spPr>
        <p:txBody>
          <a:bodyPr/>
          <a:lstStyle/>
          <a:p>
            <a:pPr algn="ctr"/>
            <a:r>
              <a:rPr lang="en-US" sz="4400">
                <a:solidFill>
                  <a:srgbClr val="206623"/>
                </a:solidFill>
                <a:latin typeface="Calibri"/>
                <a:ea typeface="Calibri"/>
                <a:cs typeface="Calibri"/>
              </a:rPr>
              <a:t>Methodology</a:t>
            </a:r>
            <a:endParaRPr lang="en-US">
              <a:solidFill>
                <a:srgbClr val="206623"/>
              </a:solidFill>
            </a:endParaRPr>
          </a:p>
        </p:txBody>
      </p:sp>
      <p:sp>
        <p:nvSpPr>
          <p:cNvPr id="3" name="Text Placeholder 2">
            <a:extLst>
              <a:ext uri="{FF2B5EF4-FFF2-40B4-BE49-F238E27FC236}">
                <a16:creationId xmlns:a16="http://schemas.microsoft.com/office/drawing/2014/main" id="{24CC7C88-9379-6122-77D7-360B1D013596}"/>
              </a:ext>
            </a:extLst>
          </p:cNvPr>
          <p:cNvSpPr>
            <a:spLocks noGrp="1"/>
          </p:cNvSpPr>
          <p:nvPr>
            <p:ph type="body" idx="1"/>
          </p:nvPr>
        </p:nvSpPr>
        <p:spPr>
          <a:xfrm>
            <a:off x="430260" y="1286934"/>
            <a:ext cx="10849842" cy="4650636"/>
          </a:xfrm>
        </p:spPr>
        <p:txBody>
          <a:bodyPr vert="horz" lIns="91440" tIns="45720" rIns="91440" bIns="45720" rtlCol="0" anchor="b">
            <a:noAutofit/>
          </a:bodyPr>
          <a:lstStyle/>
          <a:p>
            <a:pPr marL="347345" indent="-347345">
              <a:buFont typeface="Arial"/>
              <a:buChar char="•"/>
            </a:pPr>
            <a:r>
              <a:rPr lang="en-GB" sz="2400" b="1">
                <a:solidFill>
                  <a:schemeClr val="tx1"/>
                </a:solidFill>
                <a:ea typeface="+mn-lt"/>
                <a:cs typeface="+mn-lt"/>
              </a:rPr>
              <a:t>Image Acquisition</a:t>
            </a:r>
            <a:r>
              <a:rPr lang="en-GB" sz="2400">
                <a:solidFill>
                  <a:schemeClr val="tx1"/>
                </a:solidFill>
                <a:ea typeface="+mn-lt"/>
                <a:cs typeface="+mn-lt"/>
              </a:rPr>
              <a:t> – Captures and preprocesses user facial images for clarity and accuracy.</a:t>
            </a:r>
            <a:endParaRPr lang="en-US" sz="2400">
              <a:solidFill>
                <a:schemeClr val="tx1"/>
              </a:solidFill>
              <a:ea typeface="Cambria"/>
            </a:endParaRPr>
          </a:p>
          <a:p>
            <a:pPr marL="347345" indent="-347345">
              <a:buFont typeface="Arial"/>
              <a:buChar char="•"/>
            </a:pPr>
            <a:r>
              <a:rPr lang="en-GB" sz="2400" b="1">
                <a:solidFill>
                  <a:schemeClr val="tx1"/>
                </a:solidFill>
                <a:ea typeface="+mn-lt"/>
                <a:cs typeface="+mn-lt"/>
              </a:rPr>
              <a:t>Emotion Detection &amp; Classification</a:t>
            </a:r>
            <a:r>
              <a:rPr lang="en-GB" sz="2400">
                <a:solidFill>
                  <a:schemeClr val="tx1"/>
                </a:solidFill>
                <a:ea typeface="+mn-lt"/>
                <a:cs typeface="+mn-lt"/>
              </a:rPr>
              <a:t> – Uses AI models (CNN) to classify emotions (Happy</a:t>
            </a:r>
            <a:r>
              <a:rPr lang="en-GB" sz="2400" kern="1200">
                <a:solidFill>
                  <a:schemeClr val="tx1"/>
                </a:solidFill>
                <a:ea typeface="+mn-lt"/>
                <a:cs typeface="+mn-lt"/>
              </a:rPr>
              <a:t>, </a:t>
            </a:r>
            <a:r>
              <a:rPr lang="en-GB" sz="2400">
                <a:solidFill>
                  <a:schemeClr val="tx1"/>
                </a:solidFill>
                <a:ea typeface="+mn-lt"/>
                <a:cs typeface="+mn-lt"/>
              </a:rPr>
              <a:t>Sad</a:t>
            </a:r>
            <a:r>
              <a:rPr lang="en-GB" sz="2400" kern="1200">
                <a:solidFill>
                  <a:schemeClr val="tx1"/>
                </a:solidFill>
                <a:ea typeface="+mn-lt"/>
                <a:cs typeface="+mn-lt"/>
              </a:rPr>
              <a:t>, </a:t>
            </a:r>
            <a:r>
              <a:rPr lang="en-GB" sz="2400">
                <a:solidFill>
                  <a:schemeClr val="tx1"/>
                </a:solidFill>
                <a:ea typeface="+mn-lt"/>
                <a:cs typeface="+mn-lt"/>
              </a:rPr>
              <a:t>Angry</a:t>
            </a:r>
            <a:r>
              <a:rPr lang="en-GB" sz="2400" kern="1200">
                <a:solidFill>
                  <a:schemeClr val="tx1"/>
                </a:solidFill>
                <a:ea typeface="+mn-lt"/>
                <a:cs typeface="+mn-lt"/>
              </a:rPr>
              <a:t>, </a:t>
            </a:r>
            <a:r>
              <a:rPr lang="en-GB" sz="2400">
                <a:solidFill>
                  <a:schemeClr val="tx1"/>
                </a:solidFill>
                <a:ea typeface="+mn-lt"/>
                <a:cs typeface="+mn-lt"/>
              </a:rPr>
              <a:t>Stressed</a:t>
            </a:r>
            <a:r>
              <a:rPr lang="en-GB" sz="2400" kern="1200">
                <a:solidFill>
                  <a:schemeClr val="tx1"/>
                </a:solidFill>
                <a:ea typeface="+mn-lt"/>
                <a:cs typeface="+mn-lt"/>
              </a:rPr>
              <a:t>, </a:t>
            </a:r>
            <a:r>
              <a:rPr lang="en-GB" sz="2400">
                <a:solidFill>
                  <a:schemeClr val="tx1"/>
                </a:solidFill>
                <a:ea typeface="+mn-lt"/>
                <a:cs typeface="+mn-lt"/>
              </a:rPr>
              <a:t>Calm).</a:t>
            </a:r>
            <a:endParaRPr lang="en-GB" sz="2400" kern="1200">
              <a:solidFill>
                <a:schemeClr val="tx1"/>
              </a:solidFill>
              <a:latin typeface="Calibri"/>
              <a:ea typeface="Calibri"/>
              <a:cs typeface="Calibri"/>
            </a:endParaRPr>
          </a:p>
          <a:p>
            <a:pPr marL="347345" indent="-347345">
              <a:buFont typeface="Arial"/>
              <a:buChar char="•"/>
            </a:pPr>
            <a:r>
              <a:rPr lang="en-GB" sz="2400" b="1">
                <a:solidFill>
                  <a:schemeClr val="tx1"/>
                </a:solidFill>
                <a:ea typeface="+mn-lt"/>
                <a:cs typeface="+mn-lt"/>
              </a:rPr>
              <a:t>Stress Analysis</a:t>
            </a:r>
            <a:r>
              <a:rPr lang="en-GB" sz="2400">
                <a:solidFill>
                  <a:schemeClr val="tx1"/>
                </a:solidFill>
                <a:ea typeface="+mn-lt"/>
                <a:cs typeface="+mn-lt"/>
              </a:rPr>
              <a:t> – Tracks emotional trends over time and assesses stress </a:t>
            </a:r>
            <a:r>
              <a:rPr lang="en-GB" sz="2400" kern="1200">
                <a:solidFill>
                  <a:schemeClr val="tx1"/>
                </a:solidFill>
                <a:ea typeface="+mn-lt"/>
                <a:cs typeface="+mn-lt"/>
              </a:rPr>
              <a:t>levels</a:t>
            </a:r>
            <a:r>
              <a:rPr lang="en-GB" sz="2400">
                <a:solidFill>
                  <a:schemeClr val="tx1"/>
                </a:solidFill>
                <a:ea typeface="+mn-lt"/>
                <a:cs typeface="+mn-lt"/>
              </a:rPr>
              <a:t> using correlation models</a:t>
            </a:r>
            <a:r>
              <a:rPr lang="en-GB" sz="2400" kern="1200">
                <a:solidFill>
                  <a:schemeClr val="tx1"/>
                </a:solidFill>
                <a:ea typeface="+mn-lt"/>
                <a:cs typeface="+mn-lt"/>
              </a:rPr>
              <a:t>.</a:t>
            </a:r>
          </a:p>
          <a:p>
            <a:pPr marL="347345" indent="-347345">
              <a:buFont typeface="Arial"/>
              <a:buChar char="•"/>
            </a:pPr>
            <a:r>
              <a:rPr lang="en-GB" sz="2400" b="1">
                <a:solidFill>
                  <a:schemeClr val="tx1"/>
                </a:solidFill>
                <a:ea typeface="+mn-lt"/>
                <a:cs typeface="+mn-lt"/>
              </a:rPr>
              <a:t>Personalized Well-being Recommendations</a:t>
            </a:r>
            <a:r>
              <a:rPr lang="en-GB" sz="2400">
                <a:solidFill>
                  <a:schemeClr val="tx1"/>
                </a:solidFill>
                <a:ea typeface="+mn-lt"/>
                <a:cs typeface="+mn-lt"/>
              </a:rPr>
              <a:t> – Suggests Ayurvedic-based interventions (</a:t>
            </a:r>
            <a:r>
              <a:rPr lang="en-GB" sz="2400" kern="1200">
                <a:solidFill>
                  <a:schemeClr val="tx1"/>
                </a:solidFill>
                <a:ea typeface="+mn-lt"/>
                <a:cs typeface="+mn-lt"/>
              </a:rPr>
              <a:t>yoga, breathing exercises, </a:t>
            </a:r>
            <a:r>
              <a:rPr lang="en-GB" sz="2400">
                <a:solidFill>
                  <a:schemeClr val="tx1"/>
                </a:solidFill>
                <a:ea typeface="+mn-lt"/>
                <a:cs typeface="+mn-lt"/>
              </a:rPr>
              <a:t>herbal remedies) based on emotional state</a:t>
            </a:r>
            <a:r>
              <a:rPr lang="en-GB" sz="2400" kern="1200">
                <a:solidFill>
                  <a:schemeClr val="tx1"/>
                </a:solidFill>
                <a:ea typeface="+mn-lt"/>
                <a:cs typeface="+mn-lt"/>
              </a:rPr>
              <a:t>.</a:t>
            </a:r>
          </a:p>
          <a:p>
            <a:pPr marL="347345" indent="-347345">
              <a:buFont typeface="Arial"/>
              <a:buChar char="•"/>
            </a:pPr>
            <a:r>
              <a:rPr lang="en-GB" sz="2400" b="1">
                <a:solidFill>
                  <a:schemeClr val="tx1"/>
                </a:solidFill>
                <a:ea typeface="+mn-lt"/>
                <a:cs typeface="+mn-lt"/>
              </a:rPr>
              <a:t>System Integration &amp; Testing</a:t>
            </a:r>
            <a:r>
              <a:rPr lang="en-GB" sz="2400">
                <a:solidFill>
                  <a:schemeClr val="tx1"/>
                </a:solidFill>
                <a:ea typeface="+mn-lt"/>
                <a:cs typeface="+mn-lt"/>
              </a:rPr>
              <a:t> – Conducts unit testing</a:t>
            </a:r>
            <a:r>
              <a:rPr lang="en-GB" sz="2400" kern="1200">
                <a:solidFill>
                  <a:schemeClr val="tx1"/>
                </a:solidFill>
                <a:ea typeface="+mn-lt"/>
                <a:cs typeface="+mn-lt"/>
              </a:rPr>
              <a:t>, </a:t>
            </a:r>
            <a:r>
              <a:rPr lang="en-GB" sz="2400">
                <a:solidFill>
                  <a:schemeClr val="tx1"/>
                </a:solidFill>
                <a:ea typeface="+mn-lt"/>
                <a:cs typeface="+mn-lt"/>
              </a:rPr>
              <a:t>performance optimization</a:t>
            </a:r>
            <a:endParaRPr lang="en-GB" sz="2400" kern="1200">
              <a:solidFill>
                <a:schemeClr val="tx1"/>
              </a:solidFill>
              <a:latin typeface="Calibri"/>
              <a:ea typeface="Calibri"/>
              <a:cs typeface="Calibri"/>
            </a:endParaRP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5D802EB1-B943-BE37-28C3-3B9C5F2649DC}"/>
                  </a:ext>
                </a:extLst>
              </p14:cNvPr>
              <p14:cNvContentPartPr/>
              <p14:nvPr/>
            </p14:nvContentPartPr>
            <p14:xfrm>
              <a:off x="2782150" y="6492949"/>
              <a:ext cx="2618037" cy="184551"/>
            </p14:xfrm>
          </p:contentPart>
        </mc:Choice>
        <mc:Fallback xmlns="">
          <p:pic>
            <p:nvPicPr>
              <p:cNvPr id="4" name="Ink 3">
                <a:extLst>
                  <a:ext uri="{FF2B5EF4-FFF2-40B4-BE49-F238E27FC236}">
                    <a16:creationId xmlns:a16="http://schemas.microsoft.com/office/drawing/2014/main" id="{5D802EB1-B943-BE37-28C3-3B9C5F2649DC}"/>
                  </a:ext>
                </a:extLst>
              </p:cNvPr>
              <p:cNvPicPr/>
              <p:nvPr/>
            </p:nvPicPr>
            <p:blipFill>
              <a:blip r:embed="rId3"/>
              <a:stretch>
                <a:fillRect/>
              </a:stretch>
            </p:blipFill>
            <p:spPr>
              <a:xfrm>
                <a:off x="2719156" y="6430115"/>
                <a:ext cx="2743665" cy="309859"/>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58F21751-692E-747D-F078-B8CD9304727C}"/>
                  </a:ext>
                </a:extLst>
              </p14:cNvPr>
              <p14:cNvContentPartPr/>
              <p14:nvPr/>
            </p14:nvContentPartPr>
            <p14:xfrm>
              <a:off x="6795522" y="6594648"/>
              <a:ext cx="1642719" cy="140352"/>
            </p14:xfrm>
          </p:contentPart>
        </mc:Choice>
        <mc:Fallback xmlns="">
          <p:pic>
            <p:nvPicPr>
              <p:cNvPr id="5" name="Ink 4">
                <a:extLst>
                  <a:ext uri="{FF2B5EF4-FFF2-40B4-BE49-F238E27FC236}">
                    <a16:creationId xmlns:a16="http://schemas.microsoft.com/office/drawing/2014/main" id="{58F21751-692E-747D-F078-B8CD9304727C}"/>
                  </a:ext>
                </a:extLst>
              </p:cNvPr>
              <p:cNvPicPr/>
              <p:nvPr/>
            </p:nvPicPr>
            <p:blipFill>
              <a:blip r:embed="rId5"/>
              <a:stretch>
                <a:fillRect/>
              </a:stretch>
            </p:blipFill>
            <p:spPr>
              <a:xfrm>
                <a:off x="6732534" y="6531831"/>
                <a:ext cx="1768334" cy="265628"/>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7134C7C6-F619-7AB5-D94F-EFEE5C11193E}"/>
                  </a:ext>
                </a:extLst>
              </p14:cNvPr>
              <p14:cNvContentPartPr/>
              <p14:nvPr/>
            </p14:nvContentPartPr>
            <p14:xfrm>
              <a:off x="2631137" y="6501486"/>
              <a:ext cx="5264464" cy="377632"/>
            </p14:xfrm>
          </p:contentPart>
        </mc:Choice>
        <mc:Fallback xmlns="">
          <p:pic>
            <p:nvPicPr>
              <p:cNvPr id="6" name="Ink 5">
                <a:extLst>
                  <a:ext uri="{FF2B5EF4-FFF2-40B4-BE49-F238E27FC236}">
                    <a16:creationId xmlns:a16="http://schemas.microsoft.com/office/drawing/2014/main" id="{7134C7C6-F619-7AB5-D94F-EFEE5C11193E}"/>
                  </a:ext>
                </a:extLst>
              </p:cNvPr>
              <p:cNvPicPr/>
              <p:nvPr/>
            </p:nvPicPr>
            <p:blipFill>
              <a:blip r:embed="rId7"/>
              <a:stretch>
                <a:fillRect/>
              </a:stretch>
            </p:blipFill>
            <p:spPr>
              <a:xfrm>
                <a:off x="2568143" y="6438547"/>
                <a:ext cx="5390091" cy="503150"/>
              </a:xfrm>
              <a:prstGeom prst="rect">
                <a:avLst/>
              </a:prstGeom>
            </p:spPr>
          </p:pic>
        </mc:Fallback>
      </mc:AlternateContent>
      <p:sp>
        <p:nvSpPr>
          <p:cNvPr id="8" name="Rectangle 7">
            <a:extLst>
              <a:ext uri="{FF2B5EF4-FFF2-40B4-BE49-F238E27FC236}">
                <a16:creationId xmlns:a16="http://schemas.microsoft.com/office/drawing/2014/main" id="{8183AC29-97A1-1156-A628-E55D0EDEE219}"/>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b="1">
                <a:solidFill>
                  <a:schemeClr val="tx1"/>
                </a:solidFill>
              </a:rPr>
              <a:t>IT21802812</a:t>
            </a:r>
            <a:r>
              <a:rPr lang="en-US">
                <a:solidFill>
                  <a:schemeClr val="tx1"/>
                </a:solidFill>
              </a:rPr>
              <a:t>|</a:t>
            </a:r>
            <a:r>
              <a:rPr lang="en-US" sz="1800">
                <a:solidFill>
                  <a:schemeClr val="tx1"/>
                </a:solidFill>
              </a:rPr>
              <a:t>   &lt;</a:t>
            </a:r>
            <a:r>
              <a:rPr lang="en-US" sz="1800" b="1">
                <a:solidFill>
                  <a:schemeClr val="tx1"/>
                </a:solidFill>
              </a:rPr>
              <a:t>&lt;</a:t>
            </a:r>
            <a:r>
              <a:rPr lang="en-US" b="1" err="1">
                <a:solidFill>
                  <a:schemeClr val="tx1"/>
                </a:solidFill>
              </a:rPr>
              <a:t>Huznadh</a:t>
            </a:r>
            <a:r>
              <a:rPr lang="en-US" b="1">
                <a:solidFill>
                  <a:schemeClr val="tx1"/>
                </a:solidFill>
              </a:rPr>
              <a:t> MNM</a:t>
            </a:r>
            <a:r>
              <a:rPr lang="en-US" sz="1800" b="1">
                <a:solidFill>
                  <a:schemeClr val="tx1"/>
                </a:solidFill>
              </a:rPr>
              <a:t>&gt;&gt;   </a:t>
            </a:r>
            <a:r>
              <a:rPr lang="en-US" sz="1800">
                <a:solidFill>
                  <a:schemeClr val="tx1"/>
                </a:solidFill>
              </a:rPr>
              <a:t>|   </a:t>
            </a:r>
            <a:r>
              <a:rPr lang="en-US" sz="1800" b="0">
                <a:solidFill>
                  <a:schemeClr val="tx1"/>
                </a:solidFill>
              </a:rPr>
              <a:t>&lt;&lt;</a:t>
            </a:r>
            <a:r>
              <a:rPr lang="en-US">
                <a:solidFill>
                  <a:schemeClr val="tx1"/>
                </a:solidFill>
              </a:rPr>
              <a:t>R25-068</a:t>
            </a:r>
            <a:r>
              <a:rPr lang="en-US" sz="1800" b="0">
                <a:solidFill>
                  <a:schemeClr val="tx1"/>
                </a:solidFill>
              </a:rPr>
              <a:t>&gt;&gt;</a:t>
            </a:r>
          </a:p>
        </p:txBody>
      </p:sp>
    </p:spTree>
    <p:extLst>
      <p:ext uri="{BB962C8B-B14F-4D97-AF65-F5344CB8AC3E}">
        <p14:creationId xmlns:p14="http://schemas.microsoft.com/office/powerpoint/2010/main" val="18432829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00523-467C-7107-F3D8-95CB4A8E88BB}"/>
              </a:ext>
            </a:extLst>
          </p:cNvPr>
          <p:cNvSpPr>
            <a:spLocks noGrp="1"/>
          </p:cNvSpPr>
          <p:nvPr>
            <p:ph type="title"/>
          </p:nvPr>
        </p:nvSpPr>
        <p:spPr/>
        <p:txBody>
          <a:bodyPr/>
          <a:lstStyle/>
          <a:p>
            <a:pPr algn="l"/>
            <a:r>
              <a:rPr lang="en-US" sz="3000" b="1">
                <a:latin typeface="Arial"/>
                <a:cs typeface="Arial"/>
              </a:rPr>
              <a:t>Technologies to be used</a:t>
            </a:r>
            <a:endParaRPr lang="en-US"/>
          </a:p>
        </p:txBody>
      </p:sp>
      <p:pic>
        <p:nvPicPr>
          <p:cNvPr id="5" name="Content Placeholder 4">
            <a:extLst>
              <a:ext uri="{FF2B5EF4-FFF2-40B4-BE49-F238E27FC236}">
                <a16:creationId xmlns:a16="http://schemas.microsoft.com/office/drawing/2014/main" id="{A0CBB6B7-F6D0-17DB-CD9A-6C04C926C5B4}"/>
              </a:ext>
            </a:extLst>
          </p:cNvPr>
          <p:cNvPicPr>
            <a:picLocks noGrp="1" noChangeAspect="1"/>
          </p:cNvPicPr>
          <p:nvPr>
            <p:ph idx="1"/>
          </p:nvPr>
        </p:nvPicPr>
        <p:blipFill>
          <a:blip r:embed="rId2"/>
          <a:stretch>
            <a:fillRect/>
          </a:stretch>
        </p:blipFill>
        <p:spPr>
          <a:xfrm>
            <a:off x="299888" y="1102486"/>
            <a:ext cx="2770415" cy="1529444"/>
          </a:xfrm>
        </p:spPr>
      </p:pic>
      <p:pic>
        <p:nvPicPr>
          <p:cNvPr id="6" name="Picture 5" descr="A blue and white logo&#10;&#10;AI-generated content may be incorrect.">
            <a:extLst>
              <a:ext uri="{FF2B5EF4-FFF2-40B4-BE49-F238E27FC236}">
                <a16:creationId xmlns:a16="http://schemas.microsoft.com/office/drawing/2014/main" id="{007C25F0-2555-5DCA-AAC4-EA3FDB46B413}"/>
              </a:ext>
            </a:extLst>
          </p:cNvPr>
          <p:cNvPicPr>
            <a:picLocks noChangeAspect="1"/>
          </p:cNvPicPr>
          <p:nvPr/>
        </p:nvPicPr>
        <p:blipFill>
          <a:blip r:embed="rId3"/>
          <a:stretch>
            <a:fillRect/>
          </a:stretch>
        </p:blipFill>
        <p:spPr>
          <a:xfrm>
            <a:off x="306160" y="4367212"/>
            <a:ext cx="2762250" cy="1726747"/>
          </a:xfrm>
          <a:prstGeom prst="rect">
            <a:avLst/>
          </a:prstGeom>
        </p:spPr>
      </p:pic>
      <p:pic>
        <p:nvPicPr>
          <p:cNvPr id="7" name="Picture 6" descr="A red and black logo&#10;&#10;AI-generated content may be incorrect.">
            <a:extLst>
              <a:ext uri="{FF2B5EF4-FFF2-40B4-BE49-F238E27FC236}">
                <a16:creationId xmlns:a16="http://schemas.microsoft.com/office/drawing/2014/main" id="{95AC9B98-AF30-7227-141B-C87B107B59D5}"/>
              </a:ext>
            </a:extLst>
          </p:cNvPr>
          <p:cNvPicPr>
            <a:picLocks noChangeAspect="1"/>
          </p:cNvPicPr>
          <p:nvPr/>
        </p:nvPicPr>
        <p:blipFill>
          <a:blip r:embed="rId4"/>
          <a:stretch>
            <a:fillRect/>
          </a:stretch>
        </p:blipFill>
        <p:spPr>
          <a:xfrm>
            <a:off x="3211285" y="2641146"/>
            <a:ext cx="3907972" cy="1412422"/>
          </a:xfrm>
          <a:prstGeom prst="rect">
            <a:avLst/>
          </a:prstGeom>
        </p:spPr>
      </p:pic>
      <p:pic>
        <p:nvPicPr>
          <p:cNvPr id="8" name="Picture 7">
            <a:extLst>
              <a:ext uri="{FF2B5EF4-FFF2-40B4-BE49-F238E27FC236}">
                <a16:creationId xmlns:a16="http://schemas.microsoft.com/office/drawing/2014/main" id="{E00F115D-F30C-78BD-5549-76A4A88B70E9}"/>
              </a:ext>
            </a:extLst>
          </p:cNvPr>
          <p:cNvPicPr>
            <a:picLocks noChangeAspect="1"/>
          </p:cNvPicPr>
          <p:nvPr/>
        </p:nvPicPr>
        <p:blipFill>
          <a:blip r:embed="rId5"/>
          <a:stretch>
            <a:fillRect/>
          </a:stretch>
        </p:blipFill>
        <p:spPr>
          <a:xfrm>
            <a:off x="6359299" y="885825"/>
            <a:ext cx="2641147" cy="1646465"/>
          </a:xfrm>
          <a:prstGeom prst="rect">
            <a:avLst/>
          </a:prstGeom>
        </p:spPr>
      </p:pic>
      <p:pic>
        <p:nvPicPr>
          <p:cNvPr id="9" name="Picture 8" descr="A logo with a letter f&#10;&#10;AI-generated content may be incorrect.">
            <a:extLst>
              <a:ext uri="{FF2B5EF4-FFF2-40B4-BE49-F238E27FC236}">
                <a16:creationId xmlns:a16="http://schemas.microsoft.com/office/drawing/2014/main" id="{98B22448-A467-9D74-F1D5-C3C1DBA0E2D3}"/>
              </a:ext>
            </a:extLst>
          </p:cNvPr>
          <p:cNvPicPr>
            <a:picLocks noChangeAspect="1"/>
          </p:cNvPicPr>
          <p:nvPr/>
        </p:nvPicPr>
        <p:blipFill>
          <a:blip r:embed="rId6"/>
          <a:stretch>
            <a:fillRect/>
          </a:stretch>
        </p:blipFill>
        <p:spPr>
          <a:xfrm>
            <a:off x="9015412" y="2159454"/>
            <a:ext cx="2532290" cy="2038350"/>
          </a:xfrm>
          <a:prstGeom prst="rect">
            <a:avLst/>
          </a:prstGeom>
        </p:spPr>
      </p:pic>
      <p:pic>
        <p:nvPicPr>
          <p:cNvPr id="10" name="Picture 9" descr="A yellow folded paper with white text&#10;&#10;AI-generated content may be incorrect.">
            <a:extLst>
              <a:ext uri="{FF2B5EF4-FFF2-40B4-BE49-F238E27FC236}">
                <a16:creationId xmlns:a16="http://schemas.microsoft.com/office/drawing/2014/main" id="{1D1411FF-63F1-F948-B3BC-C0D5D8575A9B}"/>
              </a:ext>
            </a:extLst>
          </p:cNvPr>
          <p:cNvPicPr>
            <a:picLocks noChangeAspect="1"/>
          </p:cNvPicPr>
          <p:nvPr/>
        </p:nvPicPr>
        <p:blipFill>
          <a:blip r:embed="rId7"/>
          <a:stretch>
            <a:fillRect/>
          </a:stretch>
        </p:blipFill>
        <p:spPr>
          <a:xfrm>
            <a:off x="4502604" y="4443412"/>
            <a:ext cx="1325336" cy="1737633"/>
          </a:xfrm>
          <a:prstGeom prst="rect">
            <a:avLst/>
          </a:prstGeom>
        </p:spPr>
      </p:pic>
      <p:pic>
        <p:nvPicPr>
          <p:cNvPr id="11" name="Picture 10" descr="A logo with a cat head&#10;&#10;AI-generated content may be incorrect.">
            <a:extLst>
              <a:ext uri="{FF2B5EF4-FFF2-40B4-BE49-F238E27FC236}">
                <a16:creationId xmlns:a16="http://schemas.microsoft.com/office/drawing/2014/main" id="{82A69C4D-FD48-3999-A5D1-A3BE1FB1C456}"/>
              </a:ext>
            </a:extLst>
          </p:cNvPr>
          <p:cNvPicPr>
            <a:picLocks noChangeAspect="1"/>
          </p:cNvPicPr>
          <p:nvPr/>
        </p:nvPicPr>
        <p:blipFill>
          <a:blip r:embed="rId8"/>
          <a:stretch>
            <a:fillRect/>
          </a:stretch>
        </p:blipFill>
        <p:spPr>
          <a:xfrm>
            <a:off x="7312479" y="4445454"/>
            <a:ext cx="3390900" cy="1657350"/>
          </a:xfrm>
          <a:prstGeom prst="rect">
            <a:avLst/>
          </a:prstGeom>
        </p:spPr>
      </p:pic>
      <p:sp>
        <p:nvSpPr>
          <p:cNvPr id="13" name="Rectangle 12">
            <a:extLst>
              <a:ext uri="{FF2B5EF4-FFF2-40B4-BE49-F238E27FC236}">
                <a16:creationId xmlns:a16="http://schemas.microsoft.com/office/drawing/2014/main" id="{5444D883-0050-2A4D-F627-8E7DCD4D7885}"/>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b="1">
                <a:solidFill>
                  <a:schemeClr val="tx1"/>
                </a:solidFill>
              </a:rPr>
              <a:t>IT21802812</a:t>
            </a:r>
            <a:r>
              <a:rPr lang="en-US" sz="1800">
                <a:solidFill>
                  <a:schemeClr val="tx1"/>
                </a:solidFill>
              </a:rPr>
              <a:t>| &lt;</a:t>
            </a:r>
            <a:r>
              <a:rPr lang="en-US" sz="1800" b="1">
                <a:solidFill>
                  <a:schemeClr val="tx1"/>
                </a:solidFill>
              </a:rPr>
              <a:t>&lt;</a:t>
            </a:r>
            <a:r>
              <a:rPr lang="en-US" b="1" err="1">
                <a:solidFill>
                  <a:schemeClr val="tx1"/>
                </a:solidFill>
              </a:rPr>
              <a:t>Huznadh</a:t>
            </a:r>
            <a:r>
              <a:rPr lang="en-US" b="1">
                <a:solidFill>
                  <a:schemeClr val="tx1"/>
                </a:solidFill>
              </a:rPr>
              <a:t> MNM</a:t>
            </a:r>
            <a:r>
              <a:rPr lang="en-US" sz="1800" b="1">
                <a:solidFill>
                  <a:schemeClr val="tx1"/>
                </a:solidFill>
              </a:rPr>
              <a:t>&gt;&gt; </a:t>
            </a:r>
            <a:r>
              <a:rPr lang="en-US" sz="1800">
                <a:solidFill>
                  <a:schemeClr val="tx1"/>
                </a:solidFill>
              </a:rPr>
              <a:t>| </a:t>
            </a:r>
            <a:r>
              <a:rPr lang="en-US" sz="1800" b="0">
                <a:solidFill>
                  <a:schemeClr val="tx1"/>
                </a:solidFill>
              </a:rPr>
              <a:t>&lt;&lt;</a:t>
            </a:r>
            <a:r>
              <a:rPr lang="en-US">
                <a:solidFill>
                  <a:schemeClr val="tx1"/>
                </a:solidFill>
              </a:rPr>
              <a:t>R25-068</a:t>
            </a:r>
            <a:r>
              <a:rPr lang="en-US" sz="1800" b="0">
                <a:solidFill>
                  <a:schemeClr val="tx1"/>
                </a:solidFill>
              </a:rPr>
              <a:t>&gt;&gt;</a:t>
            </a:r>
            <a:endParaRPr lang="en-US">
              <a:solidFill>
                <a:schemeClr val="tx1"/>
              </a:solidFill>
            </a:endParaRPr>
          </a:p>
        </p:txBody>
      </p:sp>
    </p:spTree>
    <p:extLst>
      <p:ext uri="{BB962C8B-B14F-4D97-AF65-F5344CB8AC3E}">
        <p14:creationId xmlns:p14="http://schemas.microsoft.com/office/powerpoint/2010/main" val="4063198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C432D-6304-EAA8-EEA6-2542C5B75F34}"/>
              </a:ext>
            </a:extLst>
          </p:cNvPr>
          <p:cNvSpPr>
            <a:spLocks noGrp="1"/>
          </p:cNvSpPr>
          <p:nvPr>
            <p:ph type="title"/>
          </p:nvPr>
        </p:nvSpPr>
        <p:spPr/>
        <p:txBody>
          <a:bodyPr>
            <a:normAutofit/>
          </a:bodyPr>
          <a:lstStyle/>
          <a:p>
            <a:pPr algn="l"/>
            <a:r>
              <a:rPr lang="en-GB" sz="3200" b="1">
                <a:solidFill>
                  <a:srgbClr val="2327DE"/>
                </a:solidFill>
                <a:latin typeface="Calibri"/>
                <a:ea typeface="Calibri"/>
                <a:cs typeface="Calibri"/>
              </a:rPr>
              <a:t>Functional Requirements</a:t>
            </a:r>
            <a:endParaRPr lang="en-US" sz="3200" b="1">
              <a:solidFill>
                <a:srgbClr val="2327DE"/>
              </a:solidFill>
            </a:endParaRPr>
          </a:p>
        </p:txBody>
      </p:sp>
      <p:sp>
        <p:nvSpPr>
          <p:cNvPr id="3" name="Content Placeholder 2">
            <a:extLst>
              <a:ext uri="{FF2B5EF4-FFF2-40B4-BE49-F238E27FC236}">
                <a16:creationId xmlns:a16="http://schemas.microsoft.com/office/drawing/2014/main" id="{FAA61F47-391E-DFDE-AD4A-F03DA5402D0B}"/>
              </a:ext>
            </a:extLst>
          </p:cNvPr>
          <p:cNvSpPr>
            <a:spLocks noGrp="1"/>
          </p:cNvSpPr>
          <p:nvPr>
            <p:ph idx="1"/>
          </p:nvPr>
        </p:nvSpPr>
        <p:spPr/>
        <p:txBody>
          <a:bodyPr vert="horz" lIns="91440" tIns="45720" rIns="91440" bIns="45720" rtlCol="0" anchor="t">
            <a:normAutofit/>
          </a:bodyPr>
          <a:lstStyle/>
          <a:p>
            <a:r>
              <a:rPr lang="en-GB" sz="2800">
                <a:ea typeface="+mn-lt"/>
                <a:cs typeface="+mn-lt"/>
              </a:rPr>
              <a:t>Users can upload or capture real-time facial images.</a:t>
            </a:r>
          </a:p>
          <a:p>
            <a:r>
              <a:rPr lang="en-GB" sz="2800">
                <a:ea typeface="+mn-lt"/>
                <a:cs typeface="+mn-lt"/>
              </a:rPr>
              <a:t>Track emotional trends over time.</a:t>
            </a:r>
          </a:p>
          <a:p>
            <a:r>
              <a:rPr lang="en-GB" sz="2800">
                <a:ea typeface="+mn-lt"/>
                <a:cs typeface="+mn-lt"/>
              </a:rPr>
              <a:t>Identify and classify emotions </a:t>
            </a:r>
            <a:endParaRPr lang="en-GB" sz="2800">
              <a:ea typeface="Cambria"/>
            </a:endParaRPr>
          </a:p>
          <a:p>
            <a:pPr marL="0" indent="0">
              <a:buNone/>
            </a:pPr>
            <a:endParaRPr lang="en-GB">
              <a:solidFill>
                <a:srgbClr val="000000"/>
              </a:solidFill>
              <a:latin typeface="Calibri"/>
              <a:ea typeface="Calibri"/>
              <a:cs typeface="Calibri"/>
            </a:endParaRPr>
          </a:p>
          <a:p>
            <a:pPr marL="0" indent="0">
              <a:buNone/>
            </a:pPr>
            <a:r>
              <a:rPr lang="en-GB" b="1">
                <a:solidFill>
                  <a:srgbClr val="2327DE"/>
                </a:solidFill>
                <a:latin typeface="Calibri"/>
                <a:ea typeface="Calibri"/>
                <a:cs typeface="Calibri"/>
              </a:rPr>
              <a:t>Non-Functional Requirements</a:t>
            </a:r>
            <a:endParaRPr lang="en-GB" b="1">
              <a:solidFill>
                <a:srgbClr val="2327DE"/>
              </a:solidFill>
              <a:ea typeface="Cambria"/>
            </a:endParaRPr>
          </a:p>
          <a:p>
            <a:r>
              <a:rPr lang="en-GB" sz="2800">
                <a:ea typeface="+mn-lt"/>
                <a:cs typeface="+mn-lt"/>
              </a:rPr>
              <a:t>Handle many users and allow future updates.</a:t>
            </a:r>
          </a:p>
          <a:p>
            <a:r>
              <a:rPr lang="en-GB" sz="2800">
                <a:ea typeface="+mn-lt"/>
                <a:cs typeface="+mn-lt"/>
              </a:rPr>
              <a:t>Detect emotions within 2 seconds with 90%+ accuracy.</a:t>
            </a:r>
          </a:p>
          <a:p>
            <a:endParaRPr lang="en-GB">
              <a:ea typeface="Cambria"/>
            </a:endParaRPr>
          </a:p>
        </p:txBody>
      </p:sp>
      <p:sp>
        <p:nvSpPr>
          <p:cNvPr id="5" name="Rectangle 4">
            <a:extLst>
              <a:ext uri="{FF2B5EF4-FFF2-40B4-BE49-F238E27FC236}">
                <a16:creationId xmlns:a16="http://schemas.microsoft.com/office/drawing/2014/main" id="{6550E980-04F4-7FED-3BF3-8FC117C0F20A}"/>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b="1">
                <a:solidFill>
                  <a:schemeClr val="tx1"/>
                </a:solidFill>
              </a:rPr>
              <a:t>IT21802812</a:t>
            </a:r>
            <a:r>
              <a:rPr lang="en-US">
                <a:solidFill>
                  <a:schemeClr val="tx1"/>
                </a:solidFill>
              </a:rPr>
              <a:t>|</a:t>
            </a:r>
            <a:r>
              <a:rPr lang="en-US" sz="1800">
                <a:solidFill>
                  <a:schemeClr val="tx1"/>
                </a:solidFill>
              </a:rPr>
              <a:t>   &lt;</a:t>
            </a:r>
            <a:r>
              <a:rPr lang="en-US" sz="1800" b="1">
                <a:solidFill>
                  <a:schemeClr val="tx1"/>
                </a:solidFill>
              </a:rPr>
              <a:t>&lt;</a:t>
            </a:r>
            <a:r>
              <a:rPr lang="en-US" b="1" err="1">
                <a:solidFill>
                  <a:schemeClr val="tx1"/>
                </a:solidFill>
              </a:rPr>
              <a:t>Huznadh</a:t>
            </a:r>
            <a:r>
              <a:rPr lang="en-US" b="1">
                <a:solidFill>
                  <a:schemeClr val="tx1"/>
                </a:solidFill>
              </a:rPr>
              <a:t> MNM</a:t>
            </a:r>
            <a:r>
              <a:rPr lang="en-US" sz="1800" b="1">
                <a:solidFill>
                  <a:schemeClr val="tx1"/>
                </a:solidFill>
              </a:rPr>
              <a:t>&gt;&gt;   </a:t>
            </a:r>
            <a:r>
              <a:rPr lang="en-US" sz="1800">
                <a:solidFill>
                  <a:schemeClr val="tx1"/>
                </a:solidFill>
              </a:rPr>
              <a:t>|   </a:t>
            </a:r>
            <a:r>
              <a:rPr lang="en-US" sz="1800" b="0">
                <a:solidFill>
                  <a:schemeClr val="tx1"/>
                </a:solidFill>
              </a:rPr>
              <a:t>&lt;&lt;</a:t>
            </a:r>
            <a:r>
              <a:rPr lang="en-US">
                <a:solidFill>
                  <a:schemeClr val="tx1"/>
                </a:solidFill>
              </a:rPr>
              <a:t>R25-068</a:t>
            </a:r>
            <a:r>
              <a:rPr lang="en-US" sz="1800" b="0">
                <a:solidFill>
                  <a:schemeClr val="tx1"/>
                </a:solidFill>
              </a:rPr>
              <a:t>&gt;&gt;</a:t>
            </a:r>
          </a:p>
        </p:txBody>
      </p:sp>
      <p:pic>
        <p:nvPicPr>
          <p:cNvPr id="8" name="Picture 7" descr="A person holding a magnifying glass next to a clipboard with boxes&#10;&#10;AI-generated content may be incorrect.">
            <a:extLst>
              <a:ext uri="{FF2B5EF4-FFF2-40B4-BE49-F238E27FC236}">
                <a16:creationId xmlns:a16="http://schemas.microsoft.com/office/drawing/2014/main" id="{A4F259A0-AEAD-B73C-2AA6-6A123035AD8A}"/>
              </a:ext>
            </a:extLst>
          </p:cNvPr>
          <p:cNvPicPr>
            <a:picLocks noChangeAspect="1"/>
          </p:cNvPicPr>
          <p:nvPr/>
        </p:nvPicPr>
        <p:blipFill>
          <a:blip r:embed="rId2"/>
          <a:stretch>
            <a:fillRect/>
          </a:stretch>
        </p:blipFill>
        <p:spPr>
          <a:xfrm>
            <a:off x="9147736" y="3414089"/>
            <a:ext cx="2636619" cy="2716833"/>
          </a:xfrm>
          <a:prstGeom prst="rect">
            <a:avLst/>
          </a:prstGeom>
        </p:spPr>
      </p:pic>
    </p:spTree>
    <p:extLst>
      <p:ext uri="{BB962C8B-B14F-4D97-AF65-F5344CB8AC3E}">
        <p14:creationId xmlns:p14="http://schemas.microsoft.com/office/powerpoint/2010/main" val="33726930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D5A85-20F5-7288-ABC1-5BA42A13FBA8}"/>
              </a:ext>
            </a:extLst>
          </p:cNvPr>
          <p:cNvSpPr>
            <a:spLocks noGrp="1"/>
          </p:cNvSpPr>
          <p:nvPr>
            <p:ph type="title"/>
          </p:nvPr>
        </p:nvSpPr>
        <p:spPr>
          <a:xfrm>
            <a:off x="304800" y="247291"/>
            <a:ext cx="11684000" cy="792162"/>
          </a:xfrm>
        </p:spPr>
        <p:txBody>
          <a:bodyPr>
            <a:normAutofit/>
          </a:bodyPr>
          <a:lstStyle/>
          <a:p>
            <a:pPr algn="l"/>
            <a:r>
              <a:rPr lang="en-US" sz="4000" b="1">
                <a:solidFill>
                  <a:srgbClr val="206623"/>
                </a:solidFill>
                <a:latin typeface="Arial"/>
                <a:cs typeface="Arial"/>
              </a:rPr>
              <a:t>Supporting Items</a:t>
            </a:r>
            <a:r>
              <a:rPr lang="en-US" sz="4000" b="1">
                <a:solidFill>
                  <a:srgbClr val="783F04"/>
                </a:solidFill>
                <a:latin typeface="Arial"/>
                <a:cs typeface="Arial"/>
              </a:rPr>
              <a:t> </a:t>
            </a:r>
            <a:r>
              <a:rPr lang="en-US" sz="3200" b="1">
                <a:latin typeface="Arial"/>
                <a:cs typeface="Arial"/>
              </a:rPr>
              <a:t>(</a:t>
            </a:r>
            <a:r>
              <a:rPr lang="en-US" sz="3000" b="1">
                <a:solidFill>
                  <a:srgbClr val="000000"/>
                </a:solidFill>
                <a:latin typeface="Arial"/>
                <a:cs typeface="Arial"/>
              </a:rPr>
              <a:t>Commercialization)</a:t>
            </a:r>
            <a:endParaRPr lang="en-US" sz="4000" b="1">
              <a:solidFill>
                <a:srgbClr val="783F04"/>
              </a:solidFill>
              <a:latin typeface="Arial"/>
              <a:cs typeface="Arial"/>
            </a:endParaRPr>
          </a:p>
        </p:txBody>
      </p:sp>
      <p:sp>
        <p:nvSpPr>
          <p:cNvPr id="3" name="Content Placeholder 2">
            <a:extLst>
              <a:ext uri="{FF2B5EF4-FFF2-40B4-BE49-F238E27FC236}">
                <a16:creationId xmlns:a16="http://schemas.microsoft.com/office/drawing/2014/main" id="{BB5D31E0-11B8-9B35-A10F-7D0141EEAC8F}"/>
              </a:ext>
            </a:extLst>
          </p:cNvPr>
          <p:cNvSpPr>
            <a:spLocks noGrp="1"/>
          </p:cNvSpPr>
          <p:nvPr>
            <p:ph idx="1"/>
          </p:nvPr>
        </p:nvSpPr>
        <p:spPr>
          <a:xfrm>
            <a:off x="304800" y="1092200"/>
            <a:ext cx="7579360" cy="1838960"/>
          </a:xfrm>
        </p:spPr>
        <p:txBody>
          <a:bodyPr vert="horz" lIns="91440" tIns="45720" rIns="91440" bIns="45720" rtlCol="0" anchor="t">
            <a:normAutofit/>
          </a:bodyPr>
          <a:lstStyle/>
          <a:p>
            <a:pPr marL="0" indent="0">
              <a:buNone/>
            </a:pPr>
            <a:r>
              <a:rPr lang="en-US" sz="2000" b="1">
                <a:ea typeface="+mn-lt"/>
                <a:cs typeface="+mn-lt"/>
              </a:rPr>
              <a:t>Target Market:</a:t>
            </a:r>
            <a:endParaRPr lang="en-US" sz="2000" b="1">
              <a:ea typeface="Cambria"/>
            </a:endParaRPr>
          </a:p>
          <a:p>
            <a:r>
              <a:rPr lang="en-US" sz="2000">
                <a:latin typeface="Calibri"/>
                <a:ea typeface="Calibri"/>
                <a:cs typeface="Calibri"/>
              </a:rPr>
              <a:t>Health-conscious individuals.</a:t>
            </a:r>
          </a:p>
          <a:p>
            <a:r>
              <a:rPr lang="en-US" sz="2000">
                <a:latin typeface="Calibri"/>
                <a:ea typeface="Calibri"/>
                <a:cs typeface="Calibri"/>
              </a:rPr>
              <a:t>Urban and rural Ayurveda enthusiasts.</a:t>
            </a:r>
          </a:p>
          <a:p>
            <a:endParaRPr lang="en-US" sz="2000">
              <a:ea typeface="Cambria"/>
            </a:endParaRPr>
          </a:p>
          <a:p>
            <a:pPr marL="0" indent="0">
              <a:buNone/>
            </a:pPr>
            <a:endParaRPr lang="en-US" sz="2000">
              <a:ea typeface="Cambria"/>
            </a:endParaRPr>
          </a:p>
        </p:txBody>
      </p:sp>
      <p:sp>
        <p:nvSpPr>
          <p:cNvPr id="5" name="Rectangle 4">
            <a:extLst>
              <a:ext uri="{FF2B5EF4-FFF2-40B4-BE49-F238E27FC236}">
                <a16:creationId xmlns:a16="http://schemas.microsoft.com/office/drawing/2014/main" id="{9531D584-5BA5-2610-9D16-5C80E5215B4B}"/>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b="1">
                <a:solidFill>
                  <a:schemeClr val="tx1"/>
                </a:solidFill>
              </a:rPr>
              <a:t>IT21802812</a:t>
            </a:r>
            <a:r>
              <a:rPr lang="en-US" sz="1800">
                <a:solidFill>
                  <a:schemeClr val="tx1"/>
                </a:solidFill>
              </a:rPr>
              <a:t>| &lt;</a:t>
            </a:r>
            <a:r>
              <a:rPr lang="en-US" sz="1800" b="1">
                <a:solidFill>
                  <a:schemeClr val="tx1"/>
                </a:solidFill>
              </a:rPr>
              <a:t>&lt;</a:t>
            </a:r>
            <a:r>
              <a:rPr lang="en-US" b="1" err="1">
                <a:solidFill>
                  <a:schemeClr val="tx1"/>
                </a:solidFill>
              </a:rPr>
              <a:t>Huznadh</a:t>
            </a:r>
            <a:r>
              <a:rPr lang="en-US" b="1">
                <a:solidFill>
                  <a:schemeClr val="tx1"/>
                </a:solidFill>
              </a:rPr>
              <a:t> MNM</a:t>
            </a:r>
            <a:r>
              <a:rPr lang="en-US" sz="1800" b="1">
                <a:solidFill>
                  <a:schemeClr val="tx1"/>
                </a:solidFill>
              </a:rPr>
              <a:t>&gt;&gt; </a:t>
            </a:r>
            <a:r>
              <a:rPr lang="en-US" sz="1800">
                <a:solidFill>
                  <a:schemeClr val="tx1"/>
                </a:solidFill>
              </a:rPr>
              <a:t>| </a:t>
            </a:r>
            <a:r>
              <a:rPr lang="en-US" sz="1800" b="0">
                <a:solidFill>
                  <a:schemeClr val="tx1"/>
                </a:solidFill>
              </a:rPr>
              <a:t>&lt;&lt;</a:t>
            </a:r>
            <a:r>
              <a:rPr lang="en-US">
                <a:solidFill>
                  <a:schemeClr val="tx1"/>
                </a:solidFill>
              </a:rPr>
              <a:t>R25-068</a:t>
            </a:r>
            <a:r>
              <a:rPr lang="en-US" sz="1800" b="0">
                <a:solidFill>
                  <a:schemeClr val="tx1"/>
                </a:solidFill>
              </a:rPr>
              <a:t>&gt;&gt;</a:t>
            </a:r>
            <a:endParaRPr lang="en-US">
              <a:solidFill>
                <a:schemeClr val="tx1"/>
              </a:solidFill>
            </a:endParaRPr>
          </a:p>
        </p:txBody>
      </p:sp>
      <p:pic>
        <p:nvPicPr>
          <p:cNvPr id="6" name="Picture 5" descr="A group of hands holding gears&#10;&#10;AI-generated content may be incorrect.">
            <a:extLst>
              <a:ext uri="{FF2B5EF4-FFF2-40B4-BE49-F238E27FC236}">
                <a16:creationId xmlns:a16="http://schemas.microsoft.com/office/drawing/2014/main" id="{293D51D2-17A6-9859-4834-702E25F57853}"/>
              </a:ext>
            </a:extLst>
          </p:cNvPr>
          <p:cNvPicPr>
            <a:picLocks noChangeAspect="1"/>
          </p:cNvPicPr>
          <p:nvPr/>
        </p:nvPicPr>
        <p:blipFill>
          <a:blip r:embed="rId2"/>
          <a:stretch>
            <a:fillRect/>
          </a:stretch>
        </p:blipFill>
        <p:spPr>
          <a:xfrm>
            <a:off x="1281813" y="2533056"/>
            <a:ext cx="4504997" cy="3225779"/>
          </a:xfrm>
          <a:prstGeom prst="rect">
            <a:avLst/>
          </a:prstGeom>
        </p:spPr>
      </p:pic>
      <p:sp>
        <p:nvSpPr>
          <p:cNvPr id="7" name="TextBox 6">
            <a:extLst>
              <a:ext uri="{FF2B5EF4-FFF2-40B4-BE49-F238E27FC236}">
                <a16:creationId xmlns:a16="http://schemas.microsoft.com/office/drawing/2014/main" id="{4939DC28-20D3-C310-525B-7ABA148912DD}"/>
              </a:ext>
            </a:extLst>
          </p:cNvPr>
          <p:cNvSpPr txBox="1"/>
          <p:nvPr/>
        </p:nvSpPr>
        <p:spPr>
          <a:xfrm>
            <a:off x="6771639" y="3276600"/>
            <a:ext cx="5219700"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r>
              <a:rPr lang="en-US" sz="2000" b="1" baseline="0">
                <a:latin typeface="Cambria"/>
                <a:ea typeface="Arial"/>
                <a:cs typeface="Arial"/>
              </a:rPr>
              <a:t>Partnerships:</a:t>
            </a:r>
            <a:r>
              <a:rPr lang="en-US" sz="2000" b="1">
                <a:latin typeface="Cambria"/>
                <a:ea typeface="Arial"/>
                <a:cs typeface="Arial"/>
              </a:rPr>
              <a:t>​</a:t>
            </a:r>
          </a:p>
          <a:p>
            <a:pPr>
              <a:buFont typeface="Arial"/>
              <a:buChar char="•"/>
            </a:pPr>
            <a:r>
              <a:rPr lang="en-US" sz="2000" baseline="0">
                <a:latin typeface="Calibri"/>
                <a:ea typeface="Calibri"/>
                <a:cs typeface="Calibri"/>
              </a:rPr>
              <a:t>Collaborate with Ayurvedic practitioners and </a:t>
            </a:r>
            <a:r>
              <a:rPr lang="en-US" sz="2000">
                <a:latin typeface="Calibri"/>
                <a:ea typeface="Calibri"/>
                <a:cs typeface="Calibri"/>
              </a:rPr>
              <a:t>      </a:t>
            </a:r>
            <a:r>
              <a:rPr lang="en-US" sz="2000" baseline="0">
                <a:latin typeface="Calibri"/>
                <a:ea typeface="Calibri"/>
                <a:cs typeface="Calibri"/>
              </a:rPr>
              <a:t>wellness centers.</a:t>
            </a:r>
            <a:endParaRPr lang="en-US" sz="2000">
              <a:latin typeface="Calibri"/>
              <a:ea typeface="Calibri"/>
              <a:cs typeface="Calibri"/>
            </a:endParaRPr>
          </a:p>
          <a:p>
            <a:pPr>
              <a:buFont typeface="Arial"/>
              <a:buChar char="•"/>
            </a:pPr>
            <a:r>
              <a:rPr lang="en-US" sz="2000">
                <a:latin typeface="Calibri"/>
                <a:ea typeface="Calibri"/>
                <a:cs typeface="Calibri"/>
              </a:rPr>
              <a:t> </a:t>
            </a:r>
            <a:r>
              <a:rPr lang="en-US" sz="2000" baseline="0">
                <a:latin typeface="Calibri"/>
                <a:ea typeface="Calibri"/>
                <a:cs typeface="Calibri"/>
              </a:rPr>
              <a:t>Partner with </a:t>
            </a:r>
            <a:r>
              <a:rPr lang="en-US" sz="2000">
                <a:latin typeface="Calibri"/>
                <a:ea typeface="Calibri"/>
                <a:cs typeface="Calibri"/>
              </a:rPr>
              <a:t>wearable tech companies for seamless integration</a:t>
            </a:r>
            <a:r>
              <a:rPr lang="en-US" sz="2000" baseline="0">
                <a:latin typeface="Calibri"/>
                <a:ea typeface="Calibri"/>
                <a:cs typeface="Calibri"/>
              </a:rPr>
              <a:t>.</a:t>
            </a:r>
            <a:endParaRPr lang="en-US" sz="2000">
              <a:latin typeface="Calibri"/>
              <a:ea typeface="Calibri"/>
              <a:cs typeface="Calibri"/>
            </a:endParaRPr>
          </a:p>
          <a:p>
            <a:pPr marL="228600" lvl="0" indent="-228600">
              <a:buFont typeface=""/>
              <a:buChar char="•"/>
            </a:pPr>
            <a:endParaRPr lang="en-US" sz="2000">
              <a:cs typeface="Arial"/>
            </a:endParaRPr>
          </a:p>
        </p:txBody>
      </p:sp>
    </p:spTree>
    <p:extLst>
      <p:ext uri="{BB962C8B-B14F-4D97-AF65-F5344CB8AC3E}">
        <p14:creationId xmlns:p14="http://schemas.microsoft.com/office/powerpoint/2010/main" val="23906657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95740" y="1570382"/>
            <a:ext cx="2743200" cy="914400"/>
          </a:xfrm>
          <a:prstGeom prst="rect">
            <a:avLst/>
          </a:prstGeom>
          <a:solidFill>
            <a:srgbClr val="0066CC"/>
          </a:solidFill>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defRPr sz="2160" b="1">
                <a:solidFill>
                  <a:srgbClr val="FFFFFF"/>
                </a:solidFill>
              </a:defRPr>
            </a:pPr>
            <a:r>
              <a:rPr sz="1600"/>
              <a:t>1. User Input</a:t>
            </a:r>
            <a:endParaRPr lang="en-US" sz="1600">
              <a:ea typeface="Cambria"/>
            </a:endParaRPr>
          </a:p>
          <a:p>
            <a:pPr>
              <a:defRPr sz="2160" b="1">
                <a:solidFill>
                  <a:srgbClr val="FFFFFF"/>
                </a:solidFill>
              </a:defRPr>
            </a:pPr>
            <a:r>
              <a:rPr sz="1600"/>
              <a:t>(</a:t>
            </a:r>
            <a:r>
              <a:rPr lang="en-US" sz="1600">
                <a:ea typeface="+mn-lt"/>
                <a:cs typeface="+mn-lt"/>
              </a:rPr>
              <a:t>Image Capture &amp; Upload</a:t>
            </a:r>
            <a:r>
              <a:rPr sz="1600"/>
              <a:t>)</a:t>
            </a:r>
            <a:endParaRPr sz="1600">
              <a:ea typeface="Cambria"/>
            </a:endParaRPr>
          </a:p>
        </p:txBody>
      </p:sp>
      <p:sp>
        <p:nvSpPr>
          <p:cNvPr id="4" name="Rectangle 3"/>
          <p:cNvSpPr/>
          <p:nvPr/>
        </p:nvSpPr>
        <p:spPr>
          <a:xfrm>
            <a:off x="4605131" y="1570383"/>
            <a:ext cx="2743200" cy="914400"/>
          </a:xfrm>
          <a:prstGeom prst="rect">
            <a:avLst/>
          </a:prstGeom>
          <a:solidFill>
            <a:srgbClr val="009900"/>
          </a:solidFill>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defRPr sz="2160" b="1">
                <a:solidFill>
                  <a:srgbClr val="FFFFFF"/>
                </a:solidFill>
              </a:defRPr>
            </a:pPr>
            <a:r>
              <a:rPr sz="1600"/>
              <a:t>2. </a:t>
            </a:r>
            <a:r>
              <a:rPr lang="en-US" sz="1600">
                <a:ea typeface="+mn-lt"/>
                <a:cs typeface="+mn-lt"/>
              </a:rPr>
              <a:t>Preprocessing</a:t>
            </a:r>
            <a:endParaRPr lang="en-US" sz="1600">
              <a:ea typeface="Cambria"/>
            </a:endParaRPr>
          </a:p>
          <a:p>
            <a:pPr>
              <a:defRPr sz="2160" b="1">
                <a:solidFill>
                  <a:srgbClr val="FFFFFF"/>
                </a:solidFill>
              </a:defRPr>
            </a:pPr>
            <a:r>
              <a:rPr sz="1600"/>
              <a:t>(</a:t>
            </a:r>
            <a:r>
              <a:rPr lang="en-US" sz="1600">
                <a:ea typeface="+mn-lt"/>
                <a:cs typeface="+mn-lt"/>
              </a:rPr>
              <a:t>Face Alignment)</a:t>
            </a:r>
            <a:endParaRPr sz="1600">
              <a:ea typeface="Cambria"/>
            </a:endParaRPr>
          </a:p>
        </p:txBody>
      </p:sp>
      <p:sp>
        <p:nvSpPr>
          <p:cNvPr id="5" name="Rectangle 4"/>
          <p:cNvSpPr/>
          <p:nvPr/>
        </p:nvSpPr>
        <p:spPr>
          <a:xfrm>
            <a:off x="8560905" y="1570382"/>
            <a:ext cx="2743200" cy="914400"/>
          </a:xfrm>
          <a:prstGeom prst="rect">
            <a:avLst/>
          </a:prstGeom>
          <a:solidFill>
            <a:srgbClr val="FFA500"/>
          </a:solidFill>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defRPr sz="2160" b="1">
                <a:solidFill>
                  <a:srgbClr val="FFFFFF"/>
                </a:solidFill>
              </a:defRPr>
            </a:pPr>
            <a:r>
              <a:rPr sz="1600"/>
              <a:t>3. </a:t>
            </a:r>
            <a:r>
              <a:rPr lang="en-US" sz="1600">
                <a:ea typeface="+mn-lt"/>
                <a:cs typeface="+mn-lt"/>
              </a:rPr>
              <a:t>Emotion Detection</a:t>
            </a:r>
            <a:endParaRPr lang="en-US" sz="1600">
              <a:ea typeface="Cambria"/>
            </a:endParaRPr>
          </a:p>
          <a:p>
            <a:pPr>
              <a:defRPr sz="2160" b="1">
                <a:solidFill>
                  <a:srgbClr val="FFFFFF"/>
                </a:solidFill>
              </a:defRPr>
            </a:pPr>
            <a:r>
              <a:rPr sz="1600"/>
              <a:t>(</a:t>
            </a:r>
            <a:r>
              <a:rPr lang="en-US" sz="1600">
                <a:ea typeface="+mn-lt"/>
                <a:cs typeface="+mn-lt"/>
              </a:rPr>
              <a:t>Happy, Sad, Angry, Stressed, Calm</a:t>
            </a:r>
            <a:r>
              <a:rPr sz="1600"/>
              <a:t>)</a:t>
            </a:r>
            <a:endParaRPr sz="1600">
              <a:ea typeface="Cambria"/>
            </a:endParaRPr>
          </a:p>
        </p:txBody>
      </p:sp>
      <p:sp>
        <p:nvSpPr>
          <p:cNvPr id="6" name="Rectangle 5"/>
          <p:cNvSpPr/>
          <p:nvPr/>
        </p:nvSpPr>
        <p:spPr>
          <a:xfrm>
            <a:off x="695740" y="3432313"/>
            <a:ext cx="2743200" cy="914400"/>
          </a:xfrm>
          <a:prstGeom prst="rect">
            <a:avLst/>
          </a:prstGeom>
          <a:solidFill>
            <a:srgbClr val="CC0000"/>
          </a:solidFill>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defRPr sz="2160" b="1">
                <a:solidFill>
                  <a:srgbClr val="FFFFFF"/>
                </a:solidFill>
              </a:defRPr>
            </a:pPr>
            <a:r>
              <a:rPr sz="1600"/>
              <a:t>4. </a:t>
            </a:r>
            <a:r>
              <a:rPr lang="en-US" sz="1600">
                <a:ea typeface="+mn-lt"/>
                <a:cs typeface="+mn-lt"/>
              </a:rPr>
              <a:t>Stress Analysis</a:t>
            </a:r>
          </a:p>
          <a:p>
            <a:pPr>
              <a:defRPr sz="2160" b="1">
                <a:solidFill>
                  <a:srgbClr val="FFFFFF"/>
                </a:solidFill>
              </a:defRPr>
            </a:pPr>
            <a:r>
              <a:rPr sz="1600"/>
              <a:t>(</a:t>
            </a:r>
            <a:r>
              <a:rPr lang="en-US" sz="1600">
                <a:ea typeface="+mn-lt"/>
                <a:cs typeface="+mn-lt"/>
              </a:rPr>
              <a:t>Tracks Emotional Patterns</a:t>
            </a:r>
            <a:r>
              <a:rPr sz="1600"/>
              <a:t>)</a:t>
            </a:r>
            <a:endParaRPr sz="1600">
              <a:ea typeface="Cambria"/>
            </a:endParaRPr>
          </a:p>
        </p:txBody>
      </p:sp>
      <p:sp>
        <p:nvSpPr>
          <p:cNvPr id="7" name="Rectangle 6"/>
          <p:cNvSpPr/>
          <p:nvPr/>
        </p:nvSpPr>
        <p:spPr>
          <a:xfrm>
            <a:off x="4605131" y="3432313"/>
            <a:ext cx="2743200" cy="914400"/>
          </a:xfrm>
          <a:prstGeom prst="rect">
            <a:avLst/>
          </a:prstGeom>
          <a:solidFill>
            <a:srgbClr val="800080"/>
          </a:solidFill>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defRPr sz="2160" b="1">
                <a:solidFill>
                  <a:srgbClr val="FFFFFF"/>
                </a:solidFill>
              </a:defRPr>
            </a:pPr>
            <a:r>
              <a:rPr sz="1600"/>
              <a:t>5. Recommendation Engine</a:t>
            </a:r>
            <a:endParaRPr lang="en-US" sz="1600">
              <a:ea typeface="Cambria"/>
            </a:endParaRPr>
          </a:p>
          <a:p>
            <a:pPr>
              <a:defRPr sz="2160" b="1">
                <a:solidFill>
                  <a:srgbClr val="FFFFFF"/>
                </a:solidFill>
              </a:defRPr>
            </a:pPr>
            <a:r>
              <a:rPr sz="1600"/>
              <a:t>(</a:t>
            </a:r>
            <a:r>
              <a:rPr lang="en-US" sz="1600">
                <a:ea typeface="+mn-lt"/>
                <a:cs typeface="+mn-lt"/>
              </a:rPr>
              <a:t>Yoga, Herbal Remedies, Lifestyle Tips</a:t>
            </a:r>
            <a:r>
              <a:rPr sz="1600"/>
              <a:t>)</a:t>
            </a:r>
            <a:endParaRPr sz="1600">
              <a:ea typeface="Cambria"/>
            </a:endParaRPr>
          </a:p>
        </p:txBody>
      </p:sp>
      <p:sp>
        <p:nvSpPr>
          <p:cNvPr id="8" name="Rectangle 7"/>
          <p:cNvSpPr/>
          <p:nvPr/>
        </p:nvSpPr>
        <p:spPr>
          <a:xfrm>
            <a:off x="8560905" y="3432313"/>
            <a:ext cx="2743200" cy="914400"/>
          </a:xfrm>
          <a:prstGeom prst="rect">
            <a:avLst/>
          </a:prstGeom>
          <a:solidFill>
            <a:srgbClr val="FF00FF"/>
          </a:solidFill>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defRPr sz="2160" b="1">
                <a:solidFill>
                  <a:srgbClr val="FFFFFF"/>
                </a:solidFill>
              </a:defRPr>
            </a:pPr>
            <a:r>
              <a:rPr sz="1600"/>
              <a:t>6. </a:t>
            </a:r>
            <a:r>
              <a:rPr lang="en-US" sz="1600">
                <a:ea typeface="+mn-lt"/>
                <a:cs typeface="+mn-lt"/>
              </a:rPr>
              <a:t>Notifications &amp; Alerts</a:t>
            </a:r>
            <a:endParaRPr lang="en-US" sz="1600">
              <a:ea typeface="Cambria"/>
            </a:endParaRPr>
          </a:p>
          <a:p>
            <a:pPr>
              <a:defRPr sz="2160" b="1">
                <a:solidFill>
                  <a:srgbClr val="FFFFFF"/>
                </a:solidFill>
              </a:defRPr>
            </a:pPr>
            <a:r>
              <a:rPr sz="1600"/>
              <a:t>(</a:t>
            </a:r>
            <a:r>
              <a:rPr lang="en-US" sz="1600">
                <a:ea typeface="+mn-lt"/>
                <a:cs typeface="+mn-lt"/>
              </a:rPr>
              <a:t>stress alerts &amp; self-care tips</a:t>
            </a:r>
            <a:r>
              <a:rPr sz="1600"/>
              <a:t>)</a:t>
            </a:r>
            <a:endParaRPr sz="1600">
              <a:ea typeface="Cambria"/>
            </a:endParaRPr>
          </a:p>
        </p:txBody>
      </p:sp>
      <p:sp>
        <p:nvSpPr>
          <p:cNvPr id="9" name="Rectangle 8"/>
          <p:cNvSpPr/>
          <p:nvPr/>
        </p:nvSpPr>
        <p:spPr>
          <a:xfrm>
            <a:off x="4605131" y="5099575"/>
            <a:ext cx="2743200" cy="914400"/>
          </a:xfrm>
          <a:prstGeom prst="rect">
            <a:avLst/>
          </a:prstGeom>
          <a:solidFill>
            <a:srgbClr val="006666"/>
          </a:solidFill>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defRPr sz="2160" b="1">
                <a:solidFill>
                  <a:srgbClr val="FFFFFF"/>
                </a:solidFill>
              </a:defRPr>
            </a:pPr>
            <a:r>
              <a:rPr sz="1600"/>
              <a:t>7. </a:t>
            </a:r>
            <a:r>
              <a:rPr lang="en-US" sz="1600">
                <a:ea typeface="+mn-lt"/>
                <a:cs typeface="+mn-lt"/>
              </a:rPr>
              <a:t>Privacy &amp; Security</a:t>
            </a:r>
            <a:endParaRPr lang="en-US" sz="1600">
              <a:ea typeface="Cambria"/>
            </a:endParaRPr>
          </a:p>
          <a:p>
            <a:pPr>
              <a:defRPr sz="2160" b="1">
                <a:solidFill>
                  <a:srgbClr val="FFFFFF"/>
                </a:solidFill>
              </a:defRPr>
            </a:pPr>
            <a:r>
              <a:rPr sz="1600"/>
              <a:t>(</a:t>
            </a:r>
            <a:r>
              <a:rPr lang="en-US" sz="1600">
                <a:ea typeface="+mn-lt"/>
                <a:cs typeface="+mn-lt"/>
              </a:rPr>
              <a:t>Data Encryption, Local Processing</a:t>
            </a:r>
            <a:r>
              <a:rPr sz="1600"/>
              <a:t>)</a:t>
            </a:r>
            <a:endParaRPr sz="1600">
              <a:ea typeface="Cambria"/>
            </a:endParaRPr>
          </a:p>
        </p:txBody>
      </p:sp>
      <p:sp>
        <p:nvSpPr>
          <p:cNvPr id="2" name="TextBox 1">
            <a:extLst>
              <a:ext uri="{FF2B5EF4-FFF2-40B4-BE49-F238E27FC236}">
                <a16:creationId xmlns:a16="http://schemas.microsoft.com/office/drawing/2014/main" id="{504544B3-782D-8686-A9B8-4027B347C55F}"/>
              </a:ext>
            </a:extLst>
          </p:cNvPr>
          <p:cNvSpPr txBox="1"/>
          <p:nvPr/>
        </p:nvSpPr>
        <p:spPr>
          <a:xfrm>
            <a:off x="4141305" y="377687"/>
            <a:ext cx="441960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3200">
                <a:solidFill>
                  <a:srgbClr val="206623"/>
                </a:solidFill>
                <a:latin typeface="Adobe Devanagari"/>
              </a:rPr>
              <a:t>System Diagram</a:t>
            </a:r>
            <a:endParaRPr lang="en-GB" sz="3200">
              <a:solidFill>
                <a:srgbClr val="206623"/>
              </a:solidFill>
            </a:endParaRPr>
          </a:p>
        </p:txBody>
      </p:sp>
      <p:cxnSp>
        <p:nvCxnSpPr>
          <p:cNvPr id="17" name="Straight Arrow Connector 16">
            <a:extLst>
              <a:ext uri="{FF2B5EF4-FFF2-40B4-BE49-F238E27FC236}">
                <a16:creationId xmlns:a16="http://schemas.microsoft.com/office/drawing/2014/main" id="{7F627A2B-6ECB-7AD5-853C-483306671619}"/>
              </a:ext>
            </a:extLst>
          </p:cNvPr>
          <p:cNvCxnSpPr/>
          <p:nvPr/>
        </p:nvCxnSpPr>
        <p:spPr>
          <a:xfrm>
            <a:off x="3592693" y="2074416"/>
            <a:ext cx="959275" cy="195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 name="Straight Arrow Connector 18">
            <a:extLst>
              <a:ext uri="{FF2B5EF4-FFF2-40B4-BE49-F238E27FC236}">
                <a16:creationId xmlns:a16="http://schemas.microsoft.com/office/drawing/2014/main" id="{EE50DD90-9952-3CE4-37B3-DF14D4CD2D1B}"/>
              </a:ext>
            </a:extLst>
          </p:cNvPr>
          <p:cNvCxnSpPr>
            <a:cxnSpLocks/>
          </p:cNvCxnSpPr>
          <p:nvPr/>
        </p:nvCxnSpPr>
        <p:spPr>
          <a:xfrm>
            <a:off x="7502083" y="2074415"/>
            <a:ext cx="959275" cy="195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1" name="Straight Arrow Connector 20">
            <a:extLst>
              <a:ext uri="{FF2B5EF4-FFF2-40B4-BE49-F238E27FC236}">
                <a16:creationId xmlns:a16="http://schemas.microsoft.com/office/drawing/2014/main" id="{9DA806FB-9C7E-806A-AAEC-9FCB0D698187}"/>
              </a:ext>
            </a:extLst>
          </p:cNvPr>
          <p:cNvCxnSpPr>
            <a:cxnSpLocks/>
          </p:cNvCxnSpPr>
          <p:nvPr/>
        </p:nvCxnSpPr>
        <p:spPr>
          <a:xfrm>
            <a:off x="3592692" y="3856832"/>
            <a:ext cx="959275" cy="195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2" name="Straight Arrow Connector 21">
            <a:extLst>
              <a:ext uri="{FF2B5EF4-FFF2-40B4-BE49-F238E27FC236}">
                <a16:creationId xmlns:a16="http://schemas.microsoft.com/office/drawing/2014/main" id="{80ECBF0F-0EAF-DB74-0394-58EAB32DBF5D}"/>
              </a:ext>
            </a:extLst>
          </p:cNvPr>
          <p:cNvCxnSpPr>
            <a:cxnSpLocks/>
          </p:cNvCxnSpPr>
          <p:nvPr/>
        </p:nvCxnSpPr>
        <p:spPr>
          <a:xfrm>
            <a:off x="7502083" y="3856832"/>
            <a:ext cx="959275" cy="195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0" name="Straight Arrow Connector 9">
            <a:extLst>
              <a:ext uri="{FF2B5EF4-FFF2-40B4-BE49-F238E27FC236}">
                <a16:creationId xmlns:a16="http://schemas.microsoft.com/office/drawing/2014/main" id="{2FDE24DF-AE04-1A41-8FA1-A9711A092F6A}"/>
              </a:ext>
            </a:extLst>
          </p:cNvPr>
          <p:cNvCxnSpPr>
            <a:cxnSpLocks/>
          </p:cNvCxnSpPr>
          <p:nvPr/>
        </p:nvCxnSpPr>
        <p:spPr>
          <a:xfrm flipH="1">
            <a:off x="5943445" y="4423789"/>
            <a:ext cx="14759" cy="59830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2" name="Rectangle 11">
            <a:extLst>
              <a:ext uri="{FF2B5EF4-FFF2-40B4-BE49-F238E27FC236}">
                <a16:creationId xmlns:a16="http://schemas.microsoft.com/office/drawing/2014/main" id="{B6868609-F917-4084-8AB8-B8D7846AE662}"/>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b="1">
                <a:solidFill>
                  <a:schemeClr val="tx1"/>
                </a:solidFill>
              </a:rPr>
              <a:t>IT21802812</a:t>
            </a:r>
            <a:r>
              <a:rPr lang="en-US">
                <a:solidFill>
                  <a:schemeClr val="tx1"/>
                </a:solidFill>
              </a:rPr>
              <a:t>|</a:t>
            </a:r>
            <a:r>
              <a:rPr lang="en-US" sz="1800">
                <a:solidFill>
                  <a:schemeClr val="tx1"/>
                </a:solidFill>
              </a:rPr>
              <a:t>   &lt;</a:t>
            </a:r>
            <a:r>
              <a:rPr lang="en-US" sz="1800" b="1">
                <a:solidFill>
                  <a:schemeClr val="tx1"/>
                </a:solidFill>
              </a:rPr>
              <a:t>&lt;</a:t>
            </a:r>
            <a:r>
              <a:rPr lang="en-US" b="1" err="1">
                <a:solidFill>
                  <a:schemeClr val="tx1"/>
                </a:solidFill>
              </a:rPr>
              <a:t>Huznadh</a:t>
            </a:r>
            <a:r>
              <a:rPr lang="en-US" b="1">
                <a:solidFill>
                  <a:schemeClr val="tx1"/>
                </a:solidFill>
              </a:rPr>
              <a:t> MNM</a:t>
            </a:r>
            <a:r>
              <a:rPr lang="en-US" sz="1800" b="1">
                <a:solidFill>
                  <a:schemeClr val="tx1"/>
                </a:solidFill>
              </a:rPr>
              <a:t>&gt;&gt;   </a:t>
            </a:r>
            <a:r>
              <a:rPr lang="en-US" sz="1800">
                <a:solidFill>
                  <a:schemeClr val="tx1"/>
                </a:solidFill>
              </a:rPr>
              <a:t>|   </a:t>
            </a:r>
            <a:r>
              <a:rPr lang="en-US" sz="1800" b="0">
                <a:solidFill>
                  <a:schemeClr val="tx1"/>
                </a:solidFill>
              </a:rPr>
              <a:t>&lt;&lt;</a:t>
            </a:r>
            <a:r>
              <a:rPr lang="en-US">
                <a:solidFill>
                  <a:schemeClr val="tx1"/>
                </a:solidFill>
              </a:rPr>
              <a:t>R25-068</a:t>
            </a:r>
            <a:r>
              <a:rPr lang="en-US" sz="1800" b="0">
                <a:solidFill>
                  <a:schemeClr val="tx1"/>
                </a:solidFill>
              </a:rPr>
              <a:t>&gt;&gt;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94B63-8476-2CDB-6126-9953327E323D}"/>
              </a:ext>
            </a:extLst>
          </p:cNvPr>
          <p:cNvSpPr>
            <a:spLocks noGrp="1"/>
          </p:cNvSpPr>
          <p:nvPr>
            <p:ph type="title"/>
          </p:nvPr>
        </p:nvSpPr>
        <p:spPr/>
        <p:txBody>
          <a:bodyPr/>
          <a:lstStyle/>
          <a:p>
            <a:r>
              <a:rPr lang="en-GB">
                <a:solidFill>
                  <a:srgbClr val="206623"/>
                </a:solidFill>
                <a:latin typeface="Calibri"/>
                <a:ea typeface="Calibri"/>
                <a:cs typeface="Calibri"/>
              </a:rPr>
              <a:t>Gantt Chart</a:t>
            </a:r>
            <a:endParaRPr lang="en-US">
              <a:solidFill>
                <a:srgbClr val="206623"/>
              </a:solidFill>
            </a:endParaRPr>
          </a:p>
        </p:txBody>
      </p:sp>
      <p:sp>
        <p:nvSpPr>
          <p:cNvPr id="4" name="Rectangle 3">
            <a:extLst>
              <a:ext uri="{FF2B5EF4-FFF2-40B4-BE49-F238E27FC236}">
                <a16:creationId xmlns:a16="http://schemas.microsoft.com/office/drawing/2014/main" id="{51EDE623-65F3-2B80-AF22-79C73B9D717B}"/>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b="1">
                <a:solidFill>
                  <a:schemeClr val="tx1"/>
                </a:solidFill>
              </a:rPr>
              <a:t>IT21802812</a:t>
            </a:r>
            <a:r>
              <a:rPr lang="en-US">
                <a:solidFill>
                  <a:schemeClr val="tx1"/>
                </a:solidFill>
              </a:rPr>
              <a:t>|</a:t>
            </a:r>
            <a:r>
              <a:rPr lang="en-US" sz="1800">
                <a:solidFill>
                  <a:schemeClr val="tx1"/>
                </a:solidFill>
              </a:rPr>
              <a:t>   &lt;</a:t>
            </a:r>
            <a:r>
              <a:rPr lang="en-US" sz="1800" b="1">
                <a:solidFill>
                  <a:schemeClr val="tx1"/>
                </a:solidFill>
              </a:rPr>
              <a:t>&lt;</a:t>
            </a:r>
            <a:r>
              <a:rPr lang="en-US" b="1" err="1">
                <a:solidFill>
                  <a:schemeClr val="tx1"/>
                </a:solidFill>
              </a:rPr>
              <a:t>Huznadh</a:t>
            </a:r>
            <a:r>
              <a:rPr lang="en-US" b="1">
                <a:solidFill>
                  <a:schemeClr val="tx1"/>
                </a:solidFill>
              </a:rPr>
              <a:t> MNM</a:t>
            </a:r>
            <a:r>
              <a:rPr lang="en-US" sz="1800" b="1">
                <a:solidFill>
                  <a:schemeClr val="tx1"/>
                </a:solidFill>
              </a:rPr>
              <a:t>&gt;&gt;   </a:t>
            </a:r>
            <a:r>
              <a:rPr lang="en-US" sz="1800">
                <a:solidFill>
                  <a:schemeClr val="tx1"/>
                </a:solidFill>
              </a:rPr>
              <a:t>|   </a:t>
            </a:r>
            <a:r>
              <a:rPr lang="en-US" sz="1800" b="0">
                <a:solidFill>
                  <a:schemeClr val="tx1"/>
                </a:solidFill>
              </a:rPr>
              <a:t>&lt;&lt;</a:t>
            </a:r>
            <a:r>
              <a:rPr lang="en-US">
                <a:solidFill>
                  <a:schemeClr val="tx1"/>
                </a:solidFill>
              </a:rPr>
              <a:t>R25-068</a:t>
            </a:r>
            <a:r>
              <a:rPr lang="en-US" sz="1800" b="0">
                <a:solidFill>
                  <a:schemeClr val="tx1"/>
                </a:solidFill>
              </a:rPr>
              <a:t>&gt;&gt;</a:t>
            </a:r>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DC7B42B6-53FE-E8A7-368E-FEA954FA6DB6}"/>
                  </a:ext>
                </a:extLst>
              </p14:cNvPr>
              <p14:cNvContentPartPr/>
              <p14:nvPr/>
            </p14:nvContentPartPr>
            <p14:xfrm>
              <a:off x="2876367" y="1176359"/>
              <a:ext cx="1951712" cy="118614"/>
            </p14:xfrm>
          </p:contentPart>
        </mc:Choice>
        <mc:Fallback xmlns="">
          <p:pic>
            <p:nvPicPr>
              <p:cNvPr id="6" name="Ink 5">
                <a:extLst>
                  <a:ext uri="{FF2B5EF4-FFF2-40B4-BE49-F238E27FC236}">
                    <a16:creationId xmlns:a16="http://schemas.microsoft.com/office/drawing/2014/main" id="{DC7B42B6-53FE-E8A7-368E-FEA954FA6DB6}"/>
                  </a:ext>
                </a:extLst>
              </p:cNvPr>
              <p:cNvPicPr/>
              <p:nvPr/>
            </p:nvPicPr>
            <p:blipFill>
              <a:blip r:embed="rId3"/>
              <a:stretch>
                <a:fillRect/>
              </a:stretch>
            </p:blipFill>
            <p:spPr>
              <a:xfrm>
                <a:off x="2813385" y="1113648"/>
                <a:ext cx="2077315" cy="243678"/>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2086444D-D381-E0D9-B33A-EBB1605C8B1C}"/>
                  </a:ext>
                </a:extLst>
              </p14:cNvPr>
              <p14:cNvContentPartPr/>
              <p14:nvPr/>
            </p14:nvContentPartPr>
            <p14:xfrm>
              <a:off x="3702620" y="1283330"/>
              <a:ext cx="628950" cy="22818"/>
            </p14:xfrm>
          </p:contentPart>
        </mc:Choice>
        <mc:Fallback xmlns="">
          <p:pic>
            <p:nvPicPr>
              <p:cNvPr id="7" name="Ink 6">
                <a:extLst>
                  <a:ext uri="{FF2B5EF4-FFF2-40B4-BE49-F238E27FC236}">
                    <a16:creationId xmlns:a16="http://schemas.microsoft.com/office/drawing/2014/main" id="{2086444D-D381-E0D9-B33A-EBB1605C8B1C}"/>
                  </a:ext>
                </a:extLst>
              </p:cNvPr>
              <p:cNvPicPr/>
              <p:nvPr/>
            </p:nvPicPr>
            <p:blipFill>
              <a:blip r:embed="rId5"/>
              <a:stretch>
                <a:fillRect/>
              </a:stretch>
            </p:blipFill>
            <p:spPr>
              <a:xfrm>
                <a:off x="3639653" y="1221897"/>
                <a:ext cx="754524" cy="145333"/>
              </a:xfrm>
              <a:prstGeom prst="rect">
                <a:avLst/>
              </a:prstGeom>
            </p:spPr>
          </p:pic>
        </mc:Fallback>
      </mc:AlternateContent>
      <p:pic>
        <p:nvPicPr>
          <p:cNvPr id="5" name="Picture 4" descr="A graph with blue rectangles and white text&#10;&#10;AI-generated content may be incorrect.">
            <a:extLst>
              <a:ext uri="{FF2B5EF4-FFF2-40B4-BE49-F238E27FC236}">
                <a16:creationId xmlns:a16="http://schemas.microsoft.com/office/drawing/2014/main" id="{7A2EEF83-0D76-9FDC-3154-F28489B8D1BB}"/>
              </a:ext>
            </a:extLst>
          </p:cNvPr>
          <p:cNvPicPr>
            <a:picLocks noChangeAspect="1"/>
          </p:cNvPicPr>
          <p:nvPr/>
        </p:nvPicPr>
        <p:blipFill>
          <a:blip r:embed="rId6"/>
          <a:stretch>
            <a:fillRect/>
          </a:stretch>
        </p:blipFill>
        <p:spPr>
          <a:xfrm>
            <a:off x="1724025" y="1212723"/>
            <a:ext cx="8743950" cy="4895850"/>
          </a:xfrm>
          <a:prstGeom prst="rect">
            <a:avLst/>
          </a:prstGeom>
        </p:spPr>
      </p:pic>
    </p:spTree>
    <p:extLst>
      <p:ext uri="{BB962C8B-B14F-4D97-AF65-F5344CB8AC3E}">
        <p14:creationId xmlns:p14="http://schemas.microsoft.com/office/powerpoint/2010/main" val="24627442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3F244-16A3-BAAF-F397-B4FA885EE072}"/>
              </a:ext>
            </a:extLst>
          </p:cNvPr>
          <p:cNvSpPr>
            <a:spLocks noGrp="1"/>
          </p:cNvSpPr>
          <p:nvPr>
            <p:ph type="title"/>
          </p:nvPr>
        </p:nvSpPr>
        <p:spPr>
          <a:xfrm>
            <a:off x="256032" y="749808"/>
            <a:ext cx="11684000" cy="792162"/>
          </a:xfrm>
        </p:spPr>
        <p:txBody>
          <a:bodyPr/>
          <a:lstStyle/>
          <a:p>
            <a:r>
              <a:rPr lang="en-GB">
                <a:solidFill>
                  <a:srgbClr val="206623"/>
                </a:solidFill>
                <a:latin typeface="Calibri"/>
                <a:ea typeface="Calibri"/>
                <a:cs typeface="Calibri"/>
              </a:rPr>
              <a:t>Work Breakdown Chart</a:t>
            </a:r>
          </a:p>
          <a:p>
            <a:endParaRPr lang="en-GB"/>
          </a:p>
        </p:txBody>
      </p:sp>
      <p:sp>
        <p:nvSpPr>
          <p:cNvPr id="3" name="Content Placeholder 2">
            <a:extLst>
              <a:ext uri="{FF2B5EF4-FFF2-40B4-BE49-F238E27FC236}">
                <a16:creationId xmlns:a16="http://schemas.microsoft.com/office/drawing/2014/main" id="{5FDDB516-B4C8-4F16-764B-90D10E27D80D}"/>
              </a:ext>
            </a:extLst>
          </p:cNvPr>
          <p:cNvSpPr>
            <a:spLocks noGrp="1"/>
          </p:cNvSpPr>
          <p:nvPr>
            <p:ph idx="1"/>
          </p:nvPr>
        </p:nvSpPr>
        <p:spPr/>
        <p:txBody>
          <a:bodyPr vert="horz" lIns="91440" tIns="45720" rIns="91440" bIns="45720" rtlCol="0" anchor="t">
            <a:normAutofit/>
          </a:bodyPr>
          <a:lstStyle/>
          <a:p>
            <a:pPr marL="0" indent="0">
              <a:buNone/>
            </a:pPr>
            <a:endParaRPr lang="en-GB" sz="4400">
              <a:solidFill>
                <a:srgbClr val="206623"/>
              </a:solidFill>
              <a:latin typeface="Calibri"/>
              <a:ea typeface="Calibri"/>
              <a:cs typeface="Calibri"/>
            </a:endParaRPr>
          </a:p>
          <a:p>
            <a:endParaRPr lang="en-GB">
              <a:ea typeface="Cambria"/>
            </a:endParaRPr>
          </a:p>
        </p:txBody>
      </p:sp>
      <p:pic>
        <p:nvPicPr>
          <p:cNvPr id="4" name="Picture 3" descr="A screenshot of a computer&#10;&#10;AI-generated content may be incorrect.">
            <a:extLst>
              <a:ext uri="{FF2B5EF4-FFF2-40B4-BE49-F238E27FC236}">
                <a16:creationId xmlns:a16="http://schemas.microsoft.com/office/drawing/2014/main" id="{4375D018-DB8B-99FA-4FED-CF74B6C90A7C}"/>
              </a:ext>
            </a:extLst>
          </p:cNvPr>
          <p:cNvPicPr>
            <a:picLocks noChangeAspect="1"/>
          </p:cNvPicPr>
          <p:nvPr/>
        </p:nvPicPr>
        <p:blipFill>
          <a:blip r:embed="rId2"/>
          <a:stretch>
            <a:fillRect/>
          </a:stretch>
        </p:blipFill>
        <p:spPr>
          <a:xfrm>
            <a:off x="3045439" y="1135950"/>
            <a:ext cx="3836368" cy="5192561"/>
          </a:xfrm>
          <a:prstGeom prst="rect">
            <a:avLst/>
          </a:prstGeom>
        </p:spPr>
      </p:pic>
      <p:sp>
        <p:nvSpPr>
          <p:cNvPr id="6" name="Rectangle 5">
            <a:extLst>
              <a:ext uri="{FF2B5EF4-FFF2-40B4-BE49-F238E27FC236}">
                <a16:creationId xmlns:a16="http://schemas.microsoft.com/office/drawing/2014/main" id="{D89729F1-C7D2-DBCD-3868-0432EB772F38}"/>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b="1">
                <a:solidFill>
                  <a:schemeClr val="tx1"/>
                </a:solidFill>
              </a:rPr>
              <a:t>IT21802812</a:t>
            </a:r>
            <a:r>
              <a:rPr lang="en-US">
                <a:solidFill>
                  <a:schemeClr val="tx1"/>
                </a:solidFill>
              </a:rPr>
              <a:t>|</a:t>
            </a:r>
            <a:r>
              <a:rPr lang="en-US" sz="1800">
                <a:solidFill>
                  <a:schemeClr val="tx1"/>
                </a:solidFill>
              </a:rPr>
              <a:t>   &lt;</a:t>
            </a:r>
            <a:r>
              <a:rPr lang="en-US" sz="1800" b="1">
                <a:solidFill>
                  <a:schemeClr val="tx1"/>
                </a:solidFill>
              </a:rPr>
              <a:t>&lt;</a:t>
            </a:r>
            <a:r>
              <a:rPr lang="en-US" b="1" err="1">
                <a:solidFill>
                  <a:schemeClr val="tx1"/>
                </a:solidFill>
              </a:rPr>
              <a:t>Huznadh</a:t>
            </a:r>
            <a:r>
              <a:rPr lang="en-US" b="1">
                <a:solidFill>
                  <a:schemeClr val="tx1"/>
                </a:solidFill>
              </a:rPr>
              <a:t> MNM</a:t>
            </a:r>
            <a:r>
              <a:rPr lang="en-US" sz="1800" b="1">
                <a:solidFill>
                  <a:schemeClr val="tx1"/>
                </a:solidFill>
              </a:rPr>
              <a:t>&gt;&gt;   </a:t>
            </a:r>
            <a:r>
              <a:rPr lang="en-US" sz="1800">
                <a:solidFill>
                  <a:schemeClr val="tx1"/>
                </a:solidFill>
              </a:rPr>
              <a:t>|   </a:t>
            </a:r>
            <a:r>
              <a:rPr lang="en-US" sz="1800" b="0">
                <a:solidFill>
                  <a:schemeClr val="tx1"/>
                </a:solidFill>
              </a:rPr>
              <a:t>&lt;&lt;</a:t>
            </a:r>
            <a:r>
              <a:rPr lang="en-US">
                <a:solidFill>
                  <a:schemeClr val="tx1"/>
                </a:solidFill>
              </a:rPr>
              <a:t>R25-068</a:t>
            </a:r>
            <a:r>
              <a:rPr lang="en-US" sz="1800" b="0">
                <a:solidFill>
                  <a:schemeClr val="tx1"/>
                </a:solidFill>
              </a:rPr>
              <a:t>&gt;&gt;</a:t>
            </a:r>
          </a:p>
        </p:txBody>
      </p:sp>
    </p:spTree>
    <p:extLst>
      <p:ext uri="{BB962C8B-B14F-4D97-AF65-F5344CB8AC3E}">
        <p14:creationId xmlns:p14="http://schemas.microsoft.com/office/powerpoint/2010/main" val="14438622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94B63-8476-2CDB-6126-9953327E323D}"/>
              </a:ext>
            </a:extLst>
          </p:cNvPr>
          <p:cNvSpPr>
            <a:spLocks noGrp="1"/>
          </p:cNvSpPr>
          <p:nvPr>
            <p:ph type="title"/>
          </p:nvPr>
        </p:nvSpPr>
        <p:spPr/>
        <p:txBody>
          <a:bodyPr/>
          <a:lstStyle/>
          <a:p>
            <a:r>
              <a:rPr lang="en-GB" b="1">
                <a:solidFill>
                  <a:srgbClr val="206623"/>
                </a:solidFill>
                <a:latin typeface="Calibri"/>
                <a:ea typeface="Calibri"/>
                <a:cs typeface="Calibri"/>
              </a:rPr>
              <a:t>REFERENCES</a:t>
            </a:r>
            <a:endParaRPr lang="en-US" b="1">
              <a:solidFill>
                <a:srgbClr val="206623"/>
              </a:solidFill>
            </a:endParaRPr>
          </a:p>
        </p:txBody>
      </p:sp>
      <p:sp>
        <p:nvSpPr>
          <p:cNvPr id="3" name="Content Placeholder 2">
            <a:extLst>
              <a:ext uri="{FF2B5EF4-FFF2-40B4-BE49-F238E27FC236}">
                <a16:creationId xmlns:a16="http://schemas.microsoft.com/office/drawing/2014/main" id="{CDCBACCF-34EE-3FCF-56B5-AB78904B2888}"/>
              </a:ext>
            </a:extLst>
          </p:cNvPr>
          <p:cNvSpPr>
            <a:spLocks noGrp="1"/>
          </p:cNvSpPr>
          <p:nvPr>
            <p:ph idx="1"/>
          </p:nvPr>
        </p:nvSpPr>
        <p:spPr/>
        <p:txBody>
          <a:bodyPr vert="horz" lIns="91440" tIns="45720" rIns="91440" bIns="45720" rtlCol="0" anchor="t">
            <a:normAutofit lnSpcReduction="10000"/>
          </a:bodyPr>
          <a:lstStyle/>
          <a:p>
            <a:r>
              <a:rPr lang="en-GB">
                <a:ea typeface="+mn-lt"/>
                <a:cs typeface="+mn-lt"/>
              </a:rPr>
              <a:t>Lad, Vasant. Textbook of Ayurveda: Fundamental Principles of Ayurveda. Ayurvedic Press, 2002.</a:t>
            </a:r>
            <a:endParaRPr lang="en-GB">
              <a:ea typeface="Cambria"/>
            </a:endParaRPr>
          </a:p>
          <a:p>
            <a:r>
              <a:rPr lang="en-GB">
                <a:ea typeface="+mn-lt"/>
                <a:cs typeface="+mn-lt"/>
              </a:rPr>
              <a:t>Yang, Guang-Zhong, et al. "The future of wearable technologies for personalized healthcare." Nature Electronics 1.6 (2018): 302-312.</a:t>
            </a:r>
            <a:endParaRPr lang="en-GB"/>
          </a:p>
          <a:p>
            <a:r>
              <a:rPr lang="en-GB">
                <a:ea typeface="+mn-lt"/>
                <a:cs typeface="+mn-lt"/>
              </a:rPr>
              <a:t>McCall, Timothy. Yoga as Medicine: The Yogic Prescription for Health and Healing. Bantam, 2007.</a:t>
            </a:r>
            <a:endParaRPr lang="en-GB"/>
          </a:p>
          <a:p>
            <a:r>
              <a:rPr lang="en-GB">
                <a:ea typeface="+mn-lt"/>
                <a:cs typeface="+mn-lt"/>
              </a:rPr>
              <a:t>Bonato, Paolo. "Wearable sensors and systems." IEEE Engineering in Medicine and Biology Magazine 29.3 (2010): 25-36.</a:t>
            </a:r>
            <a:endParaRPr lang="en-GB"/>
          </a:p>
          <a:p>
            <a:endParaRPr lang="en-GB">
              <a:ea typeface="Cambria"/>
            </a:endParaRPr>
          </a:p>
        </p:txBody>
      </p:sp>
      <p:sp>
        <p:nvSpPr>
          <p:cNvPr id="5" name="Rectangle 4">
            <a:extLst>
              <a:ext uri="{FF2B5EF4-FFF2-40B4-BE49-F238E27FC236}">
                <a16:creationId xmlns:a16="http://schemas.microsoft.com/office/drawing/2014/main" id="{5C27CB75-572C-0DCB-D22F-C4C53567B0F7}"/>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b="1">
                <a:solidFill>
                  <a:schemeClr val="tx1"/>
                </a:solidFill>
              </a:rPr>
              <a:t>IT21802812</a:t>
            </a:r>
            <a:r>
              <a:rPr lang="en-US">
                <a:solidFill>
                  <a:schemeClr val="tx1"/>
                </a:solidFill>
              </a:rPr>
              <a:t>|</a:t>
            </a:r>
            <a:r>
              <a:rPr lang="en-US" sz="1800">
                <a:solidFill>
                  <a:schemeClr val="tx1"/>
                </a:solidFill>
              </a:rPr>
              <a:t>   &lt;</a:t>
            </a:r>
            <a:r>
              <a:rPr lang="en-US" sz="1800" b="1">
                <a:solidFill>
                  <a:schemeClr val="tx1"/>
                </a:solidFill>
              </a:rPr>
              <a:t>&lt;</a:t>
            </a:r>
            <a:r>
              <a:rPr lang="en-US" b="1" err="1">
                <a:solidFill>
                  <a:schemeClr val="tx1"/>
                </a:solidFill>
              </a:rPr>
              <a:t>Huznadh</a:t>
            </a:r>
            <a:r>
              <a:rPr lang="en-US" b="1">
                <a:solidFill>
                  <a:schemeClr val="tx1"/>
                </a:solidFill>
              </a:rPr>
              <a:t> MNM</a:t>
            </a:r>
            <a:r>
              <a:rPr lang="en-US" sz="1800" b="1">
                <a:solidFill>
                  <a:schemeClr val="tx1"/>
                </a:solidFill>
              </a:rPr>
              <a:t>&gt;&gt;   </a:t>
            </a:r>
            <a:r>
              <a:rPr lang="en-US" sz="1800">
                <a:solidFill>
                  <a:schemeClr val="tx1"/>
                </a:solidFill>
              </a:rPr>
              <a:t>|   </a:t>
            </a:r>
            <a:r>
              <a:rPr lang="en-US" sz="1800" b="0">
                <a:solidFill>
                  <a:schemeClr val="tx1"/>
                </a:solidFill>
              </a:rPr>
              <a:t>&lt;&lt;</a:t>
            </a:r>
            <a:r>
              <a:rPr lang="en-US">
                <a:solidFill>
                  <a:schemeClr val="tx1"/>
                </a:solidFill>
              </a:rPr>
              <a:t>R25-068</a:t>
            </a:r>
            <a:r>
              <a:rPr lang="en-US" sz="1800" b="0">
                <a:solidFill>
                  <a:schemeClr val="tx1"/>
                </a:solidFill>
              </a:rPr>
              <a:t>&gt;&gt;</a:t>
            </a:r>
          </a:p>
        </p:txBody>
      </p:sp>
    </p:spTree>
    <p:extLst>
      <p:ext uri="{BB962C8B-B14F-4D97-AF65-F5344CB8AC3E}">
        <p14:creationId xmlns:p14="http://schemas.microsoft.com/office/powerpoint/2010/main" val="16228215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20" name="Rectangle 19">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CAC1D65-FDEA-2B86-FD1A-FB5390EA3E32}"/>
              </a:ext>
            </a:extLst>
          </p:cNvPr>
          <p:cNvSpPr>
            <a:spLocks noGrp="1"/>
          </p:cNvSpPr>
          <p:nvPr>
            <p:ph type="title"/>
          </p:nvPr>
        </p:nvSpPr>
        <p:spPr>
          <a:xfrm>
            <a:off x="761803" y="350196"/>
            <a:ext cx="4646904" cy="1624520"/>
          </a:xfrm>
        </p:spPr>
        <p:txBody>
          <a:bodyPr anchor="ctr">
            <a:normAutofit/>
          </a:bodyPr>
          <a:lstStyle/>
          <a:p>
            <a:r>
              <a:rPr lang="en-GB" sz="4000" b="1">
                <a:solidFill>
                  <a:srgbClr val="206623"/>
                </a:solidFill>
                <a:latin typeface="Calibri"/>
                <a:ea typeface="Calibri"/>
                <a:cs typeface="Calibri"/>
              </a:rPr>
              <a:t>CONCLUSION</a:t>
            </a:r>
            <a:endParaRPr lang="en-US" sz="4000" b="1">
              <a:solidFill>
                <a:srgbClr val="206623"/>
              </a:solidFill>
            </a:endParaRPr>
          </a:p>
        </p:txBody>
      </p:sp>
      <p:sp>
        <p:nvSpPr>
          <p:cNvPr id="21" name="Content Placeholder 2">
            <a:extLst>
              <a:ext uri="{FF2B5EF4-FFF2-40B4-BE49-F238E27FC236}">
                <a16:creationId xmlns:a16="http://schemas.microsoft.com/office/drawing/2014/main" id="{A90EE97E-E8B5-E179-3FE7-DF2EF9476C1D}"/>
              </a:ext>
            </a:extLst>
          </p:cNvPr>
          <p:cNvSpPr>
            <a:spLocks noGrp="1"/>
          </p:cNvSpPr>
          <p:nvPr>
            <p:ph idx="1"/>
          </p:nvPr>
        </p:nvSpPr>
        <p:spPr>
          <a:xfrm>
            <a:off x="607863" y="2525699"/>
            <a:ext cx="4800844" cy="3744618"/>
          </a:xfrm>
        </p:spPr>
        <p:txBody>
          <a:bodyPr vert="horz" lIns="91440" tIns="45720" rIns="91440" bIns="45720" rtlCol="0" anchor="ctr">
            <a:normAutofit/>
          </a:bodyPr>
          <a:lstStyle/>
          <a:p>
            <a:r>
              <a:rPr lang="en-GB" sz="2400">
                <a:ea typeface="+mn-lt"/>
                <a:cs typeface="+mn-lt"/>
              </a:rPr>
              <a:t>This system combines AI-driven emotion detection with Ayurvedic well-being to provide real-time stress monitoring and personalized self-care.</a:t>
            </a:r>
            <a:endParaRPr lang="en-GB" sz="2400">
              <a:ea typeface="Cambria"/>
            </a:endParaRPr>
          </a:p>
          <a:p>
            <a:r>
              <a:rPr lang="en-GB" sz="2400">
                <a:ea typeface="+mn-lt"/>
                <a:cs typeface="+mn-lt"/>
              </a:rPr>
              <a:t>ensures accuracy, privacy, and accessibility, empowering users to manage their mental health effectively.</a:t>
            </a:r>
          </a:p>
          <a:p>
            <a:pPr marL="0" indent="0">
              <a:buNone/>
            </a:pPr>
            <a:endParaRPr lang="en-GB" sz="2400">
              <a:latin typeface="Calibri"/>
              <a:ea typeface="Calibri"/>
              <a:cs typeface="Calibri"/>
            </a:endParaRPr>
          </a:p>
          <a:p>
            <a:endParaRPr lang="en-GB" sz="2000">
              <a:ea typeface="Cambria"/>
            </a:endParaRPr>
          </a:p>
        </p:txBody>
      </p:sp>
      <p:pic>
        <p:nvPicPr>
          <p:cNvPr id="22" name="Picture 21" descr="A group of plants and herbs&#10;&#10;AI-generated content may be incorrect.">
            <a:extLst>
              <a:ext uri="{FF2B5EF4-FFF2-40B4-BE49-F238E27FC236}">
                <a16:creationId xmlns:a16="http://schemas.microsoft.com/office/drawing/2014/main" id="{2F744E02-6C2C-4AE4-884D-201D7145AC48}"/>
              </a:ext>
            </a:extLst>
          </p:cNvPr>
          <p:cNvPicPr>
            <a:picLocks noChangeAspect="1"/>
          </p:cNvPicPr>
          <p:nvPr/>
        </p:nvPicPr>
        <p:blipFill>
          <a:blip r:embed="rId2"/>
          <a:srcRect l="5506" r="5506"/>
          <a:stretch/>
        </p:blipFill>
        <p:spPr>
          <a:xfrm>
            <a:off x="6096000" y="1"/>
            <a:ext cx="6102825" cy="6858000"/>
          </a:xfrm>
          <a:prstGeom prst="rect">
            <a:avLst/>
          </a:prstGeom>
        </p:spPr>
      </p:pic>
      <p:sp>
        <p:nvSpPr>
          <p:cNvPr id="5" name="Rectangle 4">
            <a:extLst>
              <a:ext uri="{FF2B5EF4-FFF2-40B4-BE49-F238E27FC236}">
                <a16:creationId xmlns:a16="http://schemas.microsoft.com/office/drawing/2014/main" id="{9B012BF4-986E-D140-FD43-74B65CDF223D}"/>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spcAft>
                <a:spcPts val="600"/>
              </a:spcAft>
            </a:pPr>
            <a:r>
              <a:rPr lang="en-US" b="1">
                <a:solidFill>
                  <a:schemeClr val="tx1"/>
                </a:solidFill>
              </a:rPr>
              <a:t>IT21802812</a:t>
            </a:r>
            <a:r>
              <a:rPr lang="en-US">
                <a:solidFill>
                  <a:schemeClr val="tx1"/>
                </a:solidFill>
              </a:rPr>
              <a:t>|</a:t>
            </a:r>
            <a:r>
              <a:rPr lang="en-US" sz="1800">
                <a:solidFill>
                  <a:schemeClr val="tx1"/>
                </a:solidFill>
              </a:rPr>
              <a:t>   &lt;</a:t>
            </a:r>
            <a:r>
              <a:rPr lang="en-US" sz="1800" b="1">
                <a:solidFill>
                  <a:schemeClr val="tx1"/>
                </a:solidFill>
              </a:rPr>
              <a:t>&lt;</a:t>
            </a:r>
            <a:r>
              <a:rPr lang="en-US" b="1" err="1">
                <a:solidFill>
                  <a:schemeClr val="tx1"/>
                </a:solidFill>
              </a:rPr>
              <a:t>Huznadh</a:t>
            </a:r>
            <a:r>
              <a:rPr lang="en-US" b="1">
                <a:solidFill>
                  <a:schemeClr val="tx1"/>
                </a:solidFill>
              </a:rPr>
              <a:t> MNM</a:t>
            </a:r>
            <a:r>
              <a:rPr lang="en-US" sz="1800" b="1">
                <a:solidFill>
                  <a:schemeClr val="tx1"/>
                </a:solidFill>
              </a:rPr>
              <a:t>&gt;&gt;   </a:t>
            </a:r>
            <a:r>
              <a:rPr lang="en-US" sz="1800">
                <a:solidFill>
                  <a:schemeClr val="tx1"/>
                </a:solidFill>
              </a:rPr>
              <a:t>|   </a:t>
            </a:r>
            <a:r>
              <a:rPr lang="en-US" sz="1800" b="0">
                <a:solidFill>
                  <a:schemeClr val="tx1"/>
                </a:solidFill>
              </a:rPr>
              <a:t>&lt;&lt;</a:t>
            </a:r>
            <a:r>
              <a:rPr lang="en-US">
                <a:solidFill>
                  <a:schemeClr val="tx1"/>
                </a:solidFill>
              </a:rPr>
              <a:t>R25-068</a:t>
            </a:r>
            <a:r>
              <a:rPr lang="en-US" sz="1800" b="0">
                <a:solidFill>
                  <a:schemeClr val="tx1"/>
                </a:solidFill>
              </a:rPr>
              <a:t>&gt;&gt;</a:t>
            </a:r>
          </a:p>
        </p:txBody>
      </p:sp>
    </p:spTree>
    <p:extLst>
      <p:ext uri="{BB962C8B-B14F-4D97-AF65-F5344CB8AC3E}">
        <p14:creationId xmlns:p14="http://schemas.microsoft.com/office/powerpoint/2010/main" val="19105982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76D38-4C9F-D1DF-1926-189DF8D4465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0E6BE7A-0D12-FB00-125B-A2F9C715AF69}"/>
              </a:ext>
            </a:extLst>
          </p:cNvPr>
          <p:cNvSpPr>
            <a:spLocks noGrp="1"/>
          </p:cNvSpPr>
          <p:nvPr>
            <p:ph type="title"/>
          </p:nvPr>
        </p:nvSpPr>
        <p:spPr/>
        <p:txBody>
          <a:bodyPr>
            <a:normAutofit fontScale="90000"/>
          </a:bodyPr>
          <a:lstStyle/>
          <a:p>
            <a:r>
              <a:rPr lang="en-US">
                <a:solidFill>
                  <a:schemeClr val="tx2"/>
                </a:solidFill>
                <a:latin typeface="Adobe Devanagari"/>
              </a:rPr>
              <a:t>IT21190520 | Kaushalya H.G.B</a:t>
            </a:r>
            <a:r>
              <a:rPr lang="en-US">
                <a:latin typeface="Adobe Devanagari"/>
              </a:rPr>
              <a:t> </a:t>
            </a:r>
            <a:br>
              <a:rPr lang="en-US">
                <a:latin typeface="Adobe Devanagari"/>
              </a:rPr>
            </a:br>
            <a:r>
              <a:rPr lang="en-US" b="0">
                <a:latin typeface="Adobe Devanagari"/>
              </a:rPr>
              <a:t>AI-Powered Ayurvedic Medicinal Plant Identification Using Leaf Image Processing.</a:t>
            </a:r>
            <a:endParaRPr lang="en-US"/>
          </a:p>
          <a:p>
            <a:endParaRPr lang="en-US">
              <a:latin typeface="Adobe Devanagari"/>
            </a:endParaRPr>
          </a:p>
        </p:txBody>
      </p:sp>
      <p:sp>
        <p:nvSpPr>
          <p:cNvPr id="6" name="Text Placeholder 5">
            <a:extLst>
              <a:ext uri="{FF2B5EF4-FFF2-40B4-BE49-F238E27FC236}">
                <a16:creationId xmlns:a16="http://schemas.microsoft.com/office/drawing/2014/main" id="{A462B1DA-1DE0-B771-111D-6C6F43A6850C}"/>
              </a:ext>
            </a:extLst>
          </p:cNvPr>
          <p:cNvSpPr>
            <a:spLocks noGrp="1"/>
          </p:cNvSpPr>
          <p:nvPr>
            <p:ph type="body" idx="1"/>
          </p:nvPr>
        </p:nvSpPr>
        <p:spPr/>
        <p:txBody>
          <a:bodyPr/>
          <a:lstStyle/>
          <a:p>
            <a:r>
              <a:rPr lang="en-US"/>
              <a:t>Information Technology (IT)</a:t>
            </a:r>
          </a:p>
          <a:p>
            <a:endParaRPr lang="en-US"/>
          </a:p>
        </p:txBody>
      </p:sp>
      <p:sp>
        <p:nvSpPr>
          <p:cNvPr id="4" name="Rectangle 3">
            <a:extLst>
              <a:ext uri="{FF2B5EF4-FFF2-40B4-BE49-F238E27FC236}">
                <a16:creationId xmlns:a16="http://schemas.microsoft.com/office/drawing/2014/main" id="{C8B8C8A8-0674-8AED-E330-43FB5DA3994B}"/>
              </a:ext>
            </a:extLst>
          </p:cNvPr>
          <p:cNvSpPr/>
          <p:nvPr/>
        </p:nvSpPr>
        <p:spPr>
          <a:xfrm>
            <a:off x="2632435"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b="1">
                <a:solidFill>
                  <a:schemeClr val="tx1"/>
                </a:solidFill>
              </a:rPr>
              <a:t>IT21190520</a:t>
            </a:r>
            <a:r>
              <a:rPr lang="en-US" sz="1800">
                <a:solidFill>
                  <a:schemeClr val="tx1"/>
                </a:solidFill>
              </a:rPr>
              <a:t>  |   &lt;</a:t>
            </a:r>
            <a:r>
              <a:rPr lang="en-US" sz="1800" b="1">
                <a:solidFill>
                  <a:schemeClr val="tx1"/>
                </a:solidFill>
              </a:rPr>
              <a:t>&lt;</a:t>
            </a:r>
            <a:r>
              <a:rPr lang="en-US" b="1">
                <a:solidFill>
                  <a:schemeClr val="tx1"/>
                </a:solidFill>
              </a:rPr>
              <a:t>Kaushalya H.G.B&gt;&gt;</a:t>
            </a:r>
            <a:r>
              <a:rPr lang="en-US" sz="1800" b="1">
                <a:solidFill>
                  <a:schemeClr val="tx1"/>
                </a:solidFill>
              </a:rPr>
              <a:t>   </a:t>
            </a:r>
            <a:r>
              <a:rPr lang="en-US" sz="1800">
                <a:solidFill>
                  <a:schemeClr val="tx1"/>
                </a:solidFill>
              </a:rPr>
              <a:t>|   </a:t>
            </a:r>
            <a:r>
              <a:rPr lang="en-US" sz="1800" b="0">
                <a:solidFill>
                  <a:schemeClr val="tx1"/>
                </a:solidFill>
              </a:rPr>
              <a:t>&lt;&lt;</a:t>
            </a:r>
            <a:r>
              <a:rPr lang="en-US">
                <a:solidFill>
                  <a:schemeClr val="tx1"/>
                </a:solidFill>
              </a:rPr>
              <a:t>R25-068</a:t>
            </a:r>
            <a:r>
              <a:rPr lang="en-US" sz="1800" b="0">
                <a:solidFill>
                  <a:schemeClr val="tx1"/>
                </a:solidFill>
              </a:rPr>
              <a:t>&gt;&gt;</a:t>
            </a:r>
          </a:p>
        </p:txBody>
      </p:sp>
      <p:pic>
        <p:nvPicPr>
          <p:cNvPr id="3" name="Picture 2" descr="A person in a black jacket&#10;&#10;AI-generated content may be incorrect.">
            <a:extLst>
              <a:ext uri="{FF2B5EF4-FFF2-40B4-BE49-F238E27FC236}">
                <a16:creationId xmlns:a16="http://schemas.microsoft.com/office/drawing/2014/main" id="{E4702807-62B6-40C2-4B17-83F978BD9A39}"/>
              </a:ext>
            </a:extLst>
          </p:cNvPr>
          <p:cNvPicPr>
            <a:picLocks noChangeAspect="1"/>
          </p:cNvPicPr>
          <p:nvPr/>
        </p:nvPicPr>
        <p:blipFill>
          <a:blip r:embed="rId2"/>
          <a:stretch>
            <a:fillRect/>
          </a:stretch>
        </p:blipFill>
        <p:spPr>
          <a:xfrm>
            <a:off x="10029238" y="-2498"/>
            <a:ext cx="2164442" cy="2840637"/>
          </a:xfrm>
          <a:prstGeom prst="rect">
            <a:avLst/>
          </a:prstGeom>
        </p:spPr>
      </p:pic>
    </p:spTree>
    <p:extLst>
      <p:ext uri="{BB962C8B-B14F-4D97-AF65-F5344CB8AC3E}">
        <p14:creationId xmlns:p14="http://schemas.microsoft.com/office/powerpoint/2010/main" val="9604980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1F042-164B-A605-0BDC-80CED02414D9}"/>
              </a:ext>
            </a:extLst>
          </p:cNvPr>
          <p:cNvSpPr>
            <a:spLocks noGrp="1"/>
          </p:cNvSpPr>
          <p:nvPr>
            <p:ph type="title"/>
          </p:nvPr>
        </p:nvSpPr>
        <p:spPr>
          <a:xfrm>
            <a:off x="254833" y="79948"/>
            <a:ext cx="11684000" cy="792162"/>
          </a:xfrm>
        </p:spPr>
        <p:txBody>
          <a:bodyPr/>
          <a:lstStyle/>
          <a:p>
            <a:r>
              <a:rPr lang="en-US" sz="4000" b="1">
                <a:solidFill>
                  <a:schemeClr val="accent1"/>
                </a:solidFill>
                <a:latin typeface="Arial"/>
                <a:cs typeface="Arial"/>
              </a:rPr>
              <a:t>Introduction</a:t>
            </a:r>
            <a:endParaRPr lang="en-US">
              <a:solidFill>
                <a:schemeClr val="accent1"/>
              </a:solidFill>
            </a:endParaRPr>
          </a:p>
        </p:txBody>
      </p:sp>
      <p:sp>
        <p:nvSpPr>
          <p:cNvPr id="3" name="Content Placeholder 2">
            <a:extLst>
              <a:ext uri="{FF2B5EF4-FFF2-40B4-BE49-F238E27FC236}">
                <a16:creationId xmlns:a16="http://schemas.microsoft.com/office/drawing/2014/main" id="{4B7AA288-C53C-3A32-72F0-1B8BE18678CE}"/>
              </a:ext>
            </a:extLst>
          </p:cNvPr>
          <p:cNvSpPr>
            <a:spLocks noGrp="1"/>
          </p:cNvSpPr>
          <p:nvPr>
            <p:ph idx="1"/>
          </p:nvPr>
        </p:nvSpPr>
        <p:spPr>
          <a:xfrm>
            <a:off x="304800" y="718279"/>
            <a:ext cx="8723443" cy="5606321"/>
          </a:xfrm>
        </p:spPr>
        <p:txBody>
          <a:bodyPr vert="horz" lIns="91440" tIns="45720" rIns="91440" bIns="45720" rtlCol="0" anchor="t">
            <a:normAutofit/>
          </a:bodyPr>
          <a:lstStyle/>
          <a:p>
            <a:pPr marL="0" indent="0">
              <a:buNone/>
            </a:pPr>
            <a:r>
              <a:rPr lang="en-US" sz="3500" cap="all">
                <a:solidFill>
                  <a:srgbClr val="00B0F0"/>
                </a:solidFill>
                <a:ea typeface="+mn-lt"/>
                <a:cs typeface="+mn-lt"/>
              </a:rPr>
              <a:t>Background</a:t>
            </a:r>
            <a:endParaRPr lang="en-US">
              <a:solidFill>
                <a:srgbClr val="00B0F0"/>
              </a:solidFill>
              <a:ea typeface="+mn-lt"/>
              <a:cs typeface="+mn-lt"/>
            </a:endParaRPr>
          </a:p>
          <a:p>
            <a:r>
              <a:rPr lang="en-US">
                <a:ea typeface="+mn-lt"/>
                <a:cs typeface="+mn-lt"/>
              </a:rPr>
              <a:t>Our Ayurvedic Medicine Identification and Health Management App integrates </a:t>
            </a:r>
            <a:r>
              <a:rPr lang="en-US" b="1">
                <a:ea typeface="+mn-lt"/>
                <a:cs typeface="+mn-lt"/>
              </a:rPr>
              <a:t>AI and image processing</a:t>
            </a:r>
            <a:r>
              <a:rPr lang="en-US">
                <a:ea typeface="+mn-lt"/>
                <a:cs typeface="+mn-lt"/>
              </a:rPr>
              <a:t>.</a:t>
            </a:r>
          </a:p>
          <a:p>
            <a:r>
              <a:rPr lang="en-US">
                <a:ea typeface="+mn-lt"/>
                <a:cs typeface="+mn-lt"/>
              </a:rPr>
              <a:t>The app helps users </a:t>
            </a:r>
            <a:r>
              <a:rPr lang="en-US" b="1">
                <a:ea typeface="+mn-lt"/>
                <a:cs typeface="+mn-lt"/>
              </a:rPr>
              <a:t>identify medicinal plants based on leaf images</a:t>
            </a:r>
            <a:r>
              <a:rPr lang="en-US">
                <a:ea typeface="+mn-lt"/>
                <a:cs typeface="+mn-lt"/>
              </a:rPr>
              <a:t>.</a:t>
            </a:r>
          </a:p>
          <a:p>
            <a:r>
              <a:rPr lang="en-US">
                <a:ea typeface="+mn-lt"/>
                <a:cs typeface="+mn-lt"/>
              </a:rPr>
              <a:t>Provides </a:t>
            </a:r>
            <a:r>
              <a:rPr lang="en-US" b="1">
                <a:ea typeface="+mn-lt"/>
                <a:cs typeface="+mn-lt"/>
              </a:rPr>
              <a:t>information on plant usage for treating selected diseases</a:t>
            </a:r>
            <a:r>
              <a:rPr lang="en-US">
                <a:ea typeface="+mn-lt"/>
                <a:cs typeface="+mn-lt"/>
              </a:rPr>
              <a:t>.</a:t>
            </a:r>
          </a:p>
          <a:p>
            <a:r>
              <a:rPr lang="en-US">
                <a:ea typeface="+mn-lt"/>
                <a:cs typeface="+mn-lt"/>
              </a:rPr>
              <a:t>Enhances </a:t>
            </a:r>
            <a:r>
              <a:rPr lang="en-US" b="1">
                <a:ea typeface="+mn-lt"/>
                <a:cs typeface="+mn-lt"/>
              </a:rPr>
              <a:t>accessibility to Ayurvedic knowledge</a:t>
            </a:r>
            <a:r>
              <a:rPr lang="en-US">
                <a:ea typeface="+mn-lt"/>
                <a:cs typeface="+mn-lt"/>
              </a:rPr>
              <a:t>.</a:t>
            </a:r>
          </a:p>
          <a:p>
            <a:endParaRPr lang="en-US">
              <a:ea typeface="Cambria"/>
            </a:endParaRPr>
          </a:p>
          <a:p>
            <a:endParaRPr lang="en-US">
              <a:ea typeface="Cambria"/>
            </a:endParaRPr>
          </a:p>
        </p:txBody>
      </p:sp>
      <p:sp>
        <p:nvSpPr>
          <p:cNvPr id="4" name="Rectangle 3">
            <a:extLst>
              <a:ext uri="{FF2B5EF4-FFF2-40B4-BE49-F238E27FC236}">
                <a16:creationId xmlns:a16="http://schemas.microsoft.com/office/drawing/2014/main" id="{561601C6-E04C-6453-4FDD-7991DC08F463}"/>
              </a:ext>
            </a:extLst>
          </p:cNvPr>
          <p:cNvSpPr/>
          <p:nvPr/>
        </p:nvSpPr>
        <p:spPr>
          <a:xfrm>
            <a:off x="2747453" y="6320346"/>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b="1">
                <a:solidFill>
                  <a:schemeClr val="tx1"/>
                </a:solidFill>
              </a:rPr>
              <a:t>IT21190520</a:t>
            </a:r>
            <a:r>
              <a:rPr lang="en-US" sz="1800">
                <a:solidFill>
                  <a:schemeClr val="tx1"/>
                </a:solidFill>
              </a:rPr>
              <a:t>   |   &lt;</a:t>
            </a:r>
            <a:r>
              <a:rPr lang="en-US" sz="1800" b="1">
                <a:solidFill>
                  <a:schemeClr val="tx1"/>
                </a:solidFill>
              </a:rPr>
              <a:t>&lt;</a:t>
            </a:r>
            <a:r>
              <a:rPr lang="en-US" b="1">
                <a:solidFill>
                  <a:schemeClr val="tx1"/>
                </a:solidFill>
              </a:rPr>
              <a:t>Kaushalya H.G.B&gt;&gt;</a:t>
            </a:r>
            <a:r>
              <a:rPr lang="en-US" sz="1800" b="1">
                <a:solidFill>
                  <a:schemeClr val="tx1"/>
                </a:solidFill>
              </a:rPr>
              <a:t>   </a:t>
            </a:r>
            <a:r>
              <a:rPr lang="en-US" sz="1800">
                <a:solidFill>
                  <a:schemeClr val="tx1"/>
                </a:solidFill>
              </a:rPr>
              <a:t>|   </a:t>
            </a:r>
            <a:r>
              <a:rPr lang="en-US">
                <a:solidFill>
                  <a:schemeClr val="tx1"/>
                </a:solidFill>
              </a:rPr>
              <a:t>&lt;&lt;R25-068&gt;&gt;</a:t>
            </a:r>
            <a:endParaRPr lang="en-US" sz="1800" b="0">
              <a:solidFill>
                <a:schemeClr val="tx1"/>
              </a:solidFill>
            </a:endParaRPr>
          </a:p>
        </p:txBody>
      </p:sp>
      <p:pic>
        <p:nvPicPr>
          <p:cNvPr id="5" name="Picture 4" descr="A cellphone showing a plant&#10;&#10;AI-generated content may be incorrect.">
            <a:extLst>
              <a:ext uri="{FF2B5EF4-FFF2-40B4-BE49-F238E27FC236}">
                <a16:creationId xmlns:a16="http://schemas.microsoft.com/office/drawing/2014/main" id="{1476D720-51EB-196F-DF82-2FCD81B5FA9B}"/>
              </a:ext>
            </a:extLst>
          </p:cNvPr>
          <p:cNvPicPr>
            <a:picLocks noChangeAspect="1"/>
          </p:cNvPicPr>
          <p:nvPr/>
        </p:nvPicPr>
        <p:blipFill>
          <a:blip r:embed="rId2"/>
          <a:stretch>
            <a:fillRect/>
          </a:stretch>
        </p:blipFill>
        <p:spPr>
          <a:xfrm>
            <a:off x="9594774" y="3894945"/>
            <a:ext cx="1921599" cy="2615784"/>
          </a:xfrm>
          <a:prstGeom prst="rect">
            <a:avLst/>
          </a:prstGeom>
        </p:spPr>
      </p:pic>
      <p:pic>
        <p:nvPicPr>
          <p:cNvPr id="6" name="Picture 5" descr="A hand holding a phone with a screen showing a graph on the screen&#10;&#10;AI-generated content may be incorrect.">
            <a:extLst>
              <a:ext uri="{FF2B5EF4-FFF2-40B4-BE49-F238E27FC236}">
                <a16:creationId xmlns:a16="http://schemas.microsoft.com/office/drawing/2014/main" id="{AD8B83FA-195C-4A99-5062-C2BD64279AF1}"/>
              </a:ext>
            </a:extLst>
          </p:cNvPr>
          <p:cNvPicPr>
            <a:picLocks noChangeAspect="1"/>
          </p:cNvPicPr>
          <p:nvPr/>
        </p:nvPicPr>
        <p:blipFill>
          <a:blip r:embed="rId3"/>
          <a:stretch>
            <a:fillRect/>
          </a:stretch>
        </p:blipFill>
        <p:spPr>
          <a:xfrm>
            <a:off x="8949126" y="1509010"/>
            <a:ext cx="2988040" cy="2241030"/>
          </a:xfrm>
          <a:prstGeom prst="rect">
            <a:avLst/>
          </a:prstGeom>
        </p:spPr>
      </p:pic>
      <p:pic>
        <p:nvPicPr>
          <p:cNvPr id="7" name="Picture 6" descr="A hand holding a phone with a screen on it&#10;&#10;AI-generated content may be incorrect.">
            <a:extLst>
              <a:ext uri="{FF2B5EF4-FFF2-40B4-BE49-F238E27FC236}">
                <a16:creationId xmlns:a16="http://schemas.microsoft.com/office/drawing/2014/main" id="{23288E0D-E652-EA00-EF5D-34642675B0D1}"/>
              </a:ext>
            </a:extLst>
          </p:cNvPr>
          <p:cNvPicPr>
            <a:picLocks noChangeAspect="1"/>
          </p:cNvPicPr>
          <p:nvPr/>
        </p:nvPicPr>
        <p:blipFill>
          <a:blip r:embed="rId4"/>
          <a:stretch>
            <a:fillRect/>
          </a:stretch>
        </p:blipFill>
        <p:spPr>
          <a:xfrm>
            <a:off x="9571922" y="81665"/>
            <a:ext cx="1829894" cy="1285719"/>
          </a:xfrm>
          <a:prstGeom prst="rect">
            <a:avLst/>
          </a:prstGeom>
        </p:spPr>
      </p:pic>
    </p:spTree>
    <p:extLst>
      <p:ext uri="{BB962C8B-B14F-4D97-AF65-F5344CB8AC3E}">
        <p14:creationId xmlns:p14="http://schemas.microsoft.com/office/powerpoint/2010/main" val="12437237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8989C-3AC1-52B9-03A9-3416FF17832D}"/>
              </a:ext>
            </a:extLst>
          </p:cNvPr>
          <p:cNvSpPr>
            <a:spLocks noGrp="1"/>
          </p:cNvSpPr>
          <p:nvPr>
            <p:ph type="title"/>
          </p:nvPr>
        </p:nvSpPr>
        <p:spPr>
          <a:xfrm>
            <a:off x="304800" y="534838"/>
            <a:ext cx="11684000" cy="792162"/>
          </a:xfrm>
        </p:spPr>
        <p:txBody>
          <a:bodyPr/>
          <a:lstStyle/>
          <a:p>
            <a:r>
              <a:rPr lang="en-US" b="1">
                <a:solidFill>
                  <a:srgbClr val="0070C0"/>
                </a:solidFill>
                <a:latin typeface="Adobe Devanagari"/>
              </a:rPr>
              <a:t>Modified Function: Plant Identification</a:t>
            </a:r>
            <a:endParaRPr lang="en-US">
              <a:solidFill>
                <a:srgbClr val="0070C0"/>
              </a:solidFill>
              <a:latin typeface="Adobe Devanagari"/>
            </a:endParaRPr>
          </a:p>
          <a:p>
            <a:endParaRPr lang="en-US"/>
          </a:p>
        </p:txBody>
      </p:sp>
      <p:sp>
        <p:nvSpPr>
          <p:cNvPr id="3" name="Content Placeholder 2">
            <a:extLst>
              <a:ext uri="{FF2B5EF4-FFF2-40B4-BE49-F238E27FC236}">
                <a16:creationId xmlns:a16="http://schemas.microsoft.com/office/drawing/2014/main" id="{6970EB41-5C0B-D18C-57B1-78D68C8576A9}"/>
              </a:ext>
            </a:extLst>
          </p:cNvPr>
          <p:cNvSpPr>
            <a:spLocks noGrp="1"/>
          </p:cNvSpPr>
          <p:nvPr>
            <p:ph idx="1"/>
          </p:nvPr>
        </p:nvSpPr>
        <p:spPr/>
        <p:txBody>
          <a:bodyPr vert="horz" lIns="91440" tIns="45720" rIns="91440" bIns="45720" rtlCol="0" anchor="t">
            <a:normAutofit/>
          </a:bodyPr>
          <a:lstStyle/>
          <a:p>
            <a:r>
              <a:rPr lang="en-US">
                <a:ea typeface="+mn-lt"/>
                <a:cs typeface="+mn-lt"/>
              </a:rPr>
              <a:t>The model will process only </a:t>
            </a:r>
            <a:r>
              <a:rPr lang="en-US" b="1">
                <a:ea typeface="+mn-lt"/>
                <a:cs typeface="+mn-lt"/>
              </a:rPr>
              <a:t>static images</a:t>
            </a:r>
            <a:r>
              <a:rPr lang="en-US">
                <a:ea typeface="+mn-lt"/>
                <a:cs typeface="+mn-lt"/>
              </a:rPr>
              <a:t> of medicinal plant leaves.</a:t>
            </a:r>
            <a:endParaRPr lang="en-US">
              <a:ea typeface="Cambria"/>
            </a:endParaRPr>
          </a:p>
          <a:p>
            <a:r>
              <a:rPr lang="en-US">
                <a:ea typeface="+mn-lt"/>
                <a:cs typeface="+mn-lt"/>
              </a:rPr>
              <a:t>Identification is limited to </a:t>
            </a:r>
            <a:r>
              <a:rPr lang="en-US" b="1">
                <a:ea typeface="+mn-lt"/>
                <a:cs typeface="+mn-lt"/>
              </a:rPr>
              <a:t>leaves only</a:t>
            </a:r>
            <a:r>
              <a:rPr lang="en-US">
                <a:ea typeface="+mn-lt"/>
                <a:cs typeface="+mn-lt"/>
              </a:rPr>
              <a:t> to ensure accuracy.</a:t>
            </a:r>
            <a:endParaRPr lang="en-US"/>
          </a:p>
          <a:p>
            <a:r>
              <a:rPr lang="en-US">
                <a:ea typeface="+mn-lt"/>
                <a:cs typeface="+mn-lt"/>
              </a:rPr>
              <a:t>The system will identify </a:t>
            </a:r>
            <a:r>
              <a:rPr lang="en-US" b="1">
                <a:ea typeface="+mn-lt"/>
                <a:cs typeface="+mn-lt"/>
              </a:rPr>
              <a:t>medicinal plants commonly used for five specific diseases</a:t>
            </a:r>
            <a:r>
              <a:rPr lang="en-US">
                <a:ea typeface="+mn-lt"/>
                <a:cs typeface="+mn-lt"/>
              </a:rPr>
              <a:t>.</a:t>
            </a:r>
            <a:endParaRPr lang="en-US"/>
          </a:p>
          <a:p>
            <a:r>
              <a:rPr lang="en-US">
                <a:ea typeface="+mn-lt"/>
                <a:cs typeface="+mn-lt"/>
              </a:rPr>
              <a:t>Once identified, the app will provide </a:t>
            </a:r>
            <a:r>
              <a:rPr lang="en-US" b="1">
                <a:ea typeface="+mn-lt"/>
                <a:cs typeface="+mn-lt"/>
              </a:rPr>
              <a:t>plant details, medicinal benefits, and usage guidance</a:t>
            </a:r>
            <a:r>
              <a:rPr lang="en-US">
                <a:ea typeface="+mn-lt"/>
                <a:cs typeface="+mn-lt"/>
              </a:rPr>
              <a:t>.</a:t>
            </a:r>
            <a:endParaRPr lang="en-US"/>
          </a:p>
          <a:p>
            <a:endParaRPr lang="en-US">
              <a:ea typeface="Cambria"/>
            </a:endParaRPr>
          </a:p>
        </p:txBody>
      </p:sp>
    </p:spTree>
    <p:extLst>
      <p:ext uri="{BB962C8B-B14F-4D97-AF65-F5344CB8AC3E}">
        <p14:creationId xmlns:p14="http://schemas.microsoft.com/office/powerpoint/2010/main" val="384921502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D0DD3-AFE2-780E-911C-C90A61BAC98A}"/>
              </a:ext>
            </a:extLst>
          </p:cNvPr>
          <p:cNvSpPr>
            <a:spLocks noGrp="1"/>
          </p:cNvSpPr>
          <p:nvPr>
            <p:ph type="title"/>
          </p:nvPr>
        </p:nvSpPr>
        <p:spPr>
          <a:xfrm>
            <a:off x="304800" y="582990"/>
            <a:ext cx="11684000" cy="792162"/>
          </a:xfrm>
        </p:spPr>
        <p:txBody>
          <a:bodyPr/>
          <a:lstStyle/>
          <a:p>
            <a:r>
              <a:rPr lang="en-US" b="1">
                <a:solidFill>
                  <a:srgbClr val="0070C0"/>
                </a:solidFill>
                <a:latin typeface="Adobe Devanagari"/>
              </a:rPr>
              <a:t>Selected Diseases &amp; Common Medicinal Plants</a:t>
            </a:r>
            <a:endParaRPr lang="en-US">
              <a:solidFill>
                <a:srgbClr val="0070C0"/>
              </a:solidFill>
              <a:latin typeface="Adobe Devanagari"/>
            </a:endParaRPr>
          </a:p>
          <a:p>
            <a:endParaRPr lang="en-US">
              <a:solidFill>
                <a:srgbClr val="0070C0"/>
              </a:solidFill>
            </a:endParaRPr>
          </a:p>
        </p:txBody>
      </p:sp>
      <p:sp>
        <p:nvSpPr>
          <p:cNvPr id="3" name="Content Placeholder 2">
            <a:extLst>
              <a:ext uri="{FF2B5EF4-FFF2-40B4-BE49-F238E27FC236}">
                <a16:creationId xmlns:a16="http://schemas.microsoft.com/office/drawing/2014/main" id="{C38BB643-7F51-C31D-90A7-4B85668A3748}"/>
              </a:ext>
            </a:extLst>
          </p:cNvPr>
          <p:cNvSpPr>
            <a:spLocks noGrp="1"/>
          </p:cNvSpPr>
          <p:nvPr>
            <p:ph idx="1"/>
          </p:nvPr>
        </p:nvSpPr>
        <p:spPr/>
        <p:txBody>
          <a:bodyPr vert="horz" lIns="91440" tIns="45720" rIns="91440" bIns="45720" rtlCol="0" anchor="t">
            <a:normAutofit fontScale="70000" lnSpcReduction="20000"/>
          </a:bodyPr>
          <a:lstStyle/>
          <a:p>
            <a:r>
              <a:rPr lang="en-US" b="1">
                <a:ea typeface="+mn-lt"/>
                <a:cs typeface="+mn-lt"/>
              </a:rPr>
              <a:t>Diabetes</a:t>
            </a:r>
            <a:r>
              <a:rPr lang="en-US">
                <a:ea typeface="+mn-lt"/>
                <a:cs typeface="+mn-lt"/>
              </a:rPr>
              <a:t> →</a:t>
            </a:r>
            <a:endParaRPr lang="en-US" b="1">
              <a:ea typeface="Cambria"/>
            </a:endParaRPr>
          </a:p>
          <a:p>
            <a:pPr lvl="1">
              <a:buFont typeface="Wingdings" pitchFamily="34" charset="0"/>
              <a:buChar char="Ø"/>
            </a:pPr>
            <a:r>
              <a:rPr lang="en-US" b="1">
                <a:ea typeface="+mn-lt"/>
                <a:cs typeface="+mn-lt"/>
              </a:rPr>
              <a:t>Neem (</a:t>
            </a:r>
            <a:r>
              <a:rPr lang="en-US" b="1" err="1">
                <a:ea typeface="+mn-lt"/>
                <a:cs typeface="+mn-lt"/>
              </a:rPr>
              <a:t>Azadirachta</a:t>
            </a:r>
            <a:r>
              <a:rPr lang="en-US" b="1">
                <a:ea typeface="+mn-lt"/>
                <a:cs typeface="+mn-lt"/>
              </a:rPr>
              <a:t> indica)</a:t>
            </a:r>
            <a:r>
              <a:rPr lang="en-US">
                <a:ea typeface="+mn-lt"/>
                <a:cs typeface="+mn-lt"/>
              </a:rPr>
              <a:t>: Helps regulate blood sugar levels.</a:t>
            </a:r>
            <a:endParaRPr lang="en-US"/>
          </a:p>
          <a:p>
            <a:pPr lvl="1">
              <a:buFont typeface="Wingdings" pitchFamily="34" charset="0"/>
              <a:buChar char="Ø"/>
            </a:pPr>
            <a:r>
              <a:rPr lang="en-US" b="1">
                <a:ea typeface="+mn-lt"/>
                <a:cs typeface="+mn-lt"/>
              </a:rPr>
              <a:t>Bitter Gourd (Momordica </a:t>
            </a:r>
            <a:r>
              <a:rPr lang="en-US" b="1" err="1">
                <a:ea typeface="+mn-lt"/>
                <a:cs typeface="+mn-lt"/>
              </a:rPr>
              <a:t>charantia</a:t>
            </a:r>
            <a:r>
              <a:rPr lang="en-US" b="1">
                <a:ea typeface="+mn-lt"/>
                <a:cs typeface="+mn-lt"/>
              </a:rPr>
              <a:t>)</a:t>
            </a:r>
            <a:r>
              <a:rPr lang="en-US">
                <a:ea typeface="+mn-lt"/>
                <a:cs typeface="+mn-lt"/>
              </a:rPr>
              <a:t>: Known for its hypoglycemic properties.</a:t>
            </a:r>
            <a:endParaRPr lang="en-US"/>
          </a:p>
          <a:p>
            <a:r>
              <a:rPr lang="en-US" b="1">
                <a:ea typeface="+mn-lt"/>
                <a:cs typeface="+mn-lt"/>
              </a:rPr>
              <a:t>Skin Diseases</a:t>
            </a:r>
            <a:r>
              <a:rPr lang="en-US">
                <a:ea typeface="+mn-lt"/>
                <a:cs typeface="+mn-lt"/>
              </a:rPr>
              <a:t> →</a:t>
            </a:r>
            <a:endParaRPr lang="en-US"/>
          </a:p>
          <a:p>
            <a:pPr lvl="1">
              <a:buFont typeface="Wingdings" pitchFamily="34" charset="0"/>
              <a:buChar char="Ø"/>
            </a:pPr>
            <a:r>
              <a:rPr lang="en-US" b="1">
                <a:ea typeface="+mn-lt"/>
                <a:cs typeface="+mn-lt"/>
              </a:rPr>
              <a:t>Turmeric (Curcuma longa)</a:t>
            </a:r>
            <a:r>
              <a:rPr lang="en-US">
                <a:ea typeface="+mn-lt"/>
                <a:cs typeface="+mn-lt"/>
              </a:rPr>
              <a:t>: Acts as a natural antiseptic and anti-inflammatory agent.</a:t>
            </a:r>
            <a:endParaRPr lang="en-US"/>
          </a:p>
          <a:p>
            <a:pPr lvl="1">
              <a:buFont typeface="Wingdings" pitchFamily="34" charset="0"/>
              <a:buChar char="Ø"/>
            </a:pPr>
            <a:r>
              <a:rPr lang="en-US" b="1">
                <a:ea typeface="+mn-lt"/>
                <a:cs typeface="+mn-lt"/>
              </a:rPr>
              <a:t>Neem (</a:t>
            </a:r>
            <a:r>
              <a:rPr lang="en-US" b="1" err="1">
                <a:ea typeface="+mn-lt"/>
                <a:cs typeface="+mn-lt"/>
              </a:rPr>
              <a:t>Azadirachta</a:t>
            </a:r>
            <a:r>
              <a:rPr lang="en-US" b="1">
                <a:ea typeface="+mn-lt"/>
                <a:cs typeface="+mn-lt"/>
              </a:rPr>
              <a:t> indica)</a:t>
            </a:r>
            <a:r>
              <a:rPr lang="en-US">
                <a:ea typeface="+mn-lt"/>
                <a:cs typeface="+mn-lt"/>
              </a:rPr>
              <a:t>: Treats eczema, acne, and other skin infections.</a:t>
            </a:r>
            <a:endParaRPr lang="en-US"/>
          </a:p>
          <a:p>
            <a:r>
              <a:rPr lang="en-US" b="1">
                <a:ea typeface="+mn-lt"/>
                <a:cs typeface="+mn-lt"/>
              </a:rPr>
              <a:t>Joint Pain</a:t>
            </a:r>
            <a:r>
              <a:rPr lang="en-US">
                <a:ea typeface="+mn-lt"/>
                <a:cs typeface="+mn-lt"/>
              </a:rPr>
              <a:t> →</a:t>
            </a:r>
            <a:endParaRPr lang="en-US"/>
          </a:p>
          <a:p>
            <a:pPr lvl="1">
              <a:buFont typeface="Wingdings" pitchFamily="34" charset="0"/>
              <a:buChar char="Ø"/>
            </a:pPr>
            <a:r>
              <a:rPr lang="en-US" b="1" err="1">
                <a:ea typeface="+mn-lt"/>
                <a:cs typeface="+mn-lt"/>
              </a:rPr>
              <a:t>Shallaki</a:t>
            </a:r>
            <a:r>
              <a:rPr lang="en-US" b="1">
                <a:ea typeface="+mn-lt"/>
                <a:cs typeface="+mn-lt"/>
              </a:rPr>
              <a:t> (Boswellia serrata)</a:t>
            </a:r>
            <a:r>
              <a:rPr lang="en-US">
                <a:ea typeface="+mn-lt"/>
                <a:cs typeface="+mn-lt"/>
              </a:rPr>
              <a:t>: Reduces inflammation and pain in arthritis.</a:t>
            </a:r>
            <a:endParaRPr lang="en-US"/>
          </a:p>
          <a:p>
            <a:pPr lvl="1">
              <a:buFont typeface="Wingdings" pitchFamily="34" charset="0"/>
              <a:buChar char="Ø"/>
            </a:pPr>
            <a:r>
              <a:rPr lang="en-US" b="1">
                <a:ea typeface="+mn-lt"/>
                <a:cs typeface="+mn-lt"/>
              </a:rPr>
              <a:t>Ginger (Zingiber officinale)</a:t>
            </a:r>
            <a:r>
              <a:rPr lang="en-US">
                <a:ea typeface="+mn-lt"/>
                <a:cs typeface="+mn-lt"/>
              </a:rPr>
              <a:t>: Contains anti-inflammatory compounds beneficial for joint health.</a:t>
            </a:r>
            <a:endParaRPr lang="en-US"/>
          </a:p>
          <a:p>
            <a:r>
              <a:rPr lang="en-US" b="1">
                <a:ea typeface="+mn-lt"/>
                <a:cs typeface="+mn-lt"/>
              </a:rPr>
              <a:t>Digestive Disorders</a:t>
            </a:r>
            <a:r>
              <a:rPr lang="en-US">
                <a:ea typeface="+mn-lt"/>
                <a:cs typeface="+mn-lt"/>
              </a:rPr>
              <a:t> →</a:t>
            </a:r>
            <a:endParaRPr lang="en-US"/>
          </a:p>
          <a:p>
            <a:pPr lvl="1">
              <a:buFont typeface="Wingdings" pitchFamily="34" charset="0"/>
              <a:buChar char="Ø"/>
            </a:pPr>
            <a:r>
              <a:rPr lang="en-US" b="1">
                <a:ea typeface="+mn-lt"/>
                <a:cs typeface="+mn-lt"/>
              </a:rPr>
              <a:t>Aloe Vera (Aloe </a:t>
            </a:r>
            <a:r>
              <a:rPr lang="en-US" b="1" err="1">
                <a:ea typeface="+mn-lt"/>
                <a:cs typeface="+mn-lt"/>
              </a:rPr>
              <a:t>barbadensis</a:t>
            </a:r>
            <a:r>
              <a:rPr lang="en-US" b="1">
                <a:ea typeface="+mn-lt"/>
                <a:cs typeface="+mn-lt"/>
              </a:rPr>
              <a:t>)</a:t>
            </a:r>
            <a:r>
              <a:rPr lang="en-US">
                <a:ea typeface="+mn-lt"/>
                <a:cs typeface="+mn-lt"/>
              </a:rPr>
              <a:t>: Soothes the digestive tract and aids in digestion.</a:t>
            </a:r>
            <a:endParaRPr lang="en-US"/>
          </a:p>
          <a:p>
            <a:pPr lvl="1">
              <a:buFont typeface="Wingdings" pitchFamily="34" charset="0"/>
              <a:buChar char="Ø"/>
            </a:pPr>
            <a:r>
              <a:rPr lang="en-US" b="1">
                <a:ea typeface="+mn-lt"/>
                <a:cs typeface="+mn-lt"/>
              </a:rPr>
              <a:t>Licorice (Glycyrrhiza glabra)</a:t>
            </a:r>
            <a:r>
              <a:rPr lang="en-US">
                <a:ea typeface="+mn-lt"/>
                <a:cs typeface="+mn-lt"/>
              </a:rPr>
              <a:t>: Helps with acid reflux and gastric ulcers.</a:t>
            </a:r>
            <a:endParaRPr lang="en-US"/>
          </a:p>
          <a:p>
            <a:r>
              <a:rPr lang="en-US" b="1">
                <a:ea typeface="+mn-lt"/>
                <a:cs typeface="+mn-lt"/>
              </a:rPr>
              <a:t>Respiratory Disorders</a:t>
            </a:r>
            <a:r>
              <a:rPr lang="en-US">
                <a:ea typeface="+mn-lt"/>
                <a:cs typeface="+mn-lt"/>
              </a:rPr>
              <a:t> →</a:t>
            </a:r>
            <a:endParaRPr lang="en-US"/>
          </a:p>
          <a:p>
            <a:pPr lvl="1">
              <a:buFont typeface="Wingdings" pitchFamily="34" charset="0"/>
              <a:buChar char="Ø"/>
            </a:pPr>
            <a:r>
              <a:rPr lang="en-US" b="1">
                <a:ea typeface="+mn-lt"/>
                <a:cs typeface="+mn-lt"/>
              </a:rPr>
              <a:t>Tulsi (Ocimum sanctum)</a:t>
            </a:r>
            <a:r>
              <a:rPr lang="en-US">
                <a:ea typeface="+mn-lt"/>
                <a:cs typeface="+mn-lt"/>
              </a:rPr>
              <a:t>: Improves lung function and relieves cough.</a:t>
            </a:r>
            <a:endParaRPr lang="en-US"/>
          </a:p>
          <a:p>
            <a:pPr lvl="1">
              <a:buFont typeface="Wingdings" pitchFamily="34" charset="0"/>
              <a:buChar char="Ø"/>
            </a:pPr>
            <a:r>
              <a:rPr lang="en-US" b="1" err="1">
                <a:ea typeface="+mn-lt"/>
                <a:cs typeface="+mn-lt"/>
              </a:rPr>
              <a:t>Vasaka</a:t>
            </a:r>
            <a:r>
              <a:rPr lang="en-US" b="1">
                <a:ea typeface="+mn-lt"/>
                <a:cs typeface="+mn-lt"/>
              </a:rPr>
              <a:t> (Adhatoda </a:t>
            </a:r>
            <a:r>
              <a:rPr lang="en-US" b="1" err="1">
                <a:ea typeface="+mn-lt"/>
                <a:cs typeface="+mn-lt"/>
              </a:rPr>
              <a:t>vasica</a:t>
            </a:r>
            <a:r>
              <a:rPr lang="en-US" b="1">
                <a:ea typeface="+mn-lt"/>
                <a:cs typeface="+mn-lt"/>
              </a:rPr>
              <a:t>)</a:t>
            </a:r>
            <a:r>
              <a:rPr lang="en-US">
                <a:ea typeface="+mn-lt"/>
                <a:cs typeface="+mn-lt"/>
              </a:rPr>
              <a:t>: Known for clearing respiratory congestion.</a:t>
            </a:r>
            <a:endParaRPr lang="en-US"/>
          </a:p>
          <a:p>
            <a:endParaRPr lang="en-US" b="1">
              <a:ea typeface="Cambria"/>
            </a:endParaRPr>
          </a:p>
          <a:p>
            <a:endParaRPr lang="en-US">
              <a:ea typeface="Cambria"/>
            </a:endParaRPr>
          </a:p>
        </p:txBody>
      </p:sp>
    </p:spTree>
    <p:extLst>
      <p:ext uri="{BB962C8B-B14F-4D97-AF65-F5344CB8AC3E}">
        <p14:creationId xmlns:p14="http://schemas.microsoft.com/office/powerpoint/2010/main" val="67238777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52E037BE-34C1-B575-C947-F32B1F1EA8F9}"/>
              </a:ext>
            </a:extLst>
          </p:cNvPr>
          <p:cNvSpPr>
            <a:spLocks noGrp="1"/>
          </p:cNvSpPr>
          <p:nvPr>
            <p:ph type="body" sz="half" idx="2"/>
          </p:nvPr>
        </p:nvSpPr>
        <p:spPr>
          <a:xfrm>
            <a:off x="-606829" y="824391"/>
            <a:ext cx="3974799" cy="5852205"/>
          </a:xfrm>
        </p:spPr>
        <p:txBody>
          <a:bodyPr vert="horz" lIns="91440" tIns="45720" rIns="91440" bIns="45720" rtlCol="0" anchor="t">
            <a:normAutofit/>
          </a:bodyPr>
          <a:lstStyle/>
          <a:p>
            <a:pPr algn="ctr"/>
            <a:endParaRPr lang="en-US" sz="4400">
              <a:ea typeface="+mn-lt"/>
              <a:cs typeface="+mn-lt"/>
            </a:endParaRPr>
          </a:p>
          <a:p>
            <a:pPr algn="ctr"/>
            <a:endParaRPr lang="en-US" sz="4400">
              <a:ea typeface="+mn-lt"/>
              <a:cs typeface="+mn-lt"/>
            </a:endParaRPr>
          </a:p>
          <a:p>
            <a:pPr algn="ctr"/>
            <a:r>
              <a:rPr lang="en-US" sz="4400" dirty="0">
                <a:solidFill>
                  <a:schemeClr val="accent1"/>
                </a:solidFill>
                <a:ea typeface="+mn-lt"/>
                <a:cs typeface="+mn-lt"/>
              </a:rPr>
              <a:t>Research </a:t>
            </a:r>
            <a:endParaRPr lang="en-US" dirty="0">
              <a:solidFill>
                <a:schemeClr val="accent1"/>
              </a:solidFill>
              <a:ea typeface="Cambria"/>
            </a:endParaRPr>
          </a:p>
          <a:p>
            <a:pPr algn="ctr"/>
            <a:r>
              <a:rPr lang="en-US" sz="4400" dirty="0">
                <a:solidFill>
                  <a:schemeClr val="accent1"/>
                </a:solidFill>
                <a:ea typeface="+mn-lt"/>
                <a:cs typeface="+mn-lt"/>
              </a:rPr>
              <a:t>Gap</a:t>
            </a:r>
            <a:endParaRPr lang="en-US" dirty="0">
              <a:solidFill>
                <a:schemeClr val="accent1"/>
              </a:solidFill>
              <a:ea typeface="Cambria"/>
            </a:endParaRPr>
          </a:p>
          <a:p>
            <a:pPr algn="ctr"/>
            <a:endParaRPr lang="en-US" sz="4400">
              <a:ea typeface="Cambria"/>
            </a:endParaRPr>
          </a:p>
          <a:p>
            <a:endParaRPr lang="en-US">
              <a:ea typeface="Cambria"/>
            </a:endParaRPr>
          </a:p>
        </p:txBody>
      </p:sp>
      <p:cxnSp>
        <p:nvCxnSpPr>
          <p:cNvPr id="6" name="Straight Arrow Connector 5">
            <a:extLst>
              <a:ext uri="{FF2B5EF4-FFF2-40B4-BE49-F238E27FC236}">
                <a16:creationId xmlns:a16="http://schemas.microsoft.com/office/drawing/2014/main" id="{32905EC5-4DDF-F3E0-0A73-FEB885EBEAE7}"/>
              </a:ext>
            </a:extLst>
          </p:cNvPr>
          <p:cNvCxnSpPr/>
          <p:nvPr/>
        </p:nvCxnSpPr>
        <p:spPr>
          <a:xfrm flipH="1">
            <a:off x="2657221" y="0"/>
            <a:ext cx="34303" cy="6862758"/>
          </a:xfrm>
          <a:prstGeom prst="straightConnector1">
            <a:avLst/>
          </a:prstGeom>
          <a:ln w="57150">
            <a:solidFill>
              <a:srgbClr val="2327DE"/>
            </a:solidFill>
          </a:ln>
        </p:spPr>
        <p:style>
          <a:lnRef idx="3">
            <a:schemeClr val="dk1"/>
          </a:lnRef>
          <a:fillRef idx="0">
            <a:schemeClr val="dk1"/>
          </a:fillRef>
          <a:effectRef idx="2">
            <a:schemeClr val="dk1"/>
          </a:effectRef>
          <a:fontRef idx="minor">
            <a:schemeClr val="tx1"/>
          </a:fontRef>
        </p:style>
      </p:cxnSp>
      <p:sp>
        <p:nvSpPr>
          <p:cNvPr id="8" name="TextBox 7">
            <a:extLst>
              <a:ext uri="{FF2B5EF4-FFF2-40B4-BE49-F238E27FC236}">
                <a16:creationId xmlns:a16="http://schemas.microsoft.com/office/drawing/2014/main" id="{917A50F5-C239-79C1-DFCE-803FA77EBD1A}"/>
              </a:ext>
            </a:extLst>
          </p:cNvPr>
          <p:cNvSpPr txBox="1"/>
          <p:nvPr/>
        </p:nvSpPr>
        <p:spPr>
          <a:xfrm>
            <a:off x="4362137" y="6485745"/>
            <a:ext cx="561631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ea typeface="Cambria"/>
              </a:rPr>
              <a:t>IT21190520</a:t>
            </a:r>
            <a:r>
              <a:rPr lang="en-US" dirty="0">
                <a:ea typeface="Cambria"/>
              </a:rPr>
              <a:t> | &lt;</a:t>
            </a:r>
            <a:r>
              <a:rPr lang="en-US" b="1" dirty="0">
                <a:ea typeface="Cambria"/>
              </a:rPr>
              <a:t>&lt;Kaushalya H.G.B&gt;&gt; </a:t>
            </a:r>
            <a:r>
              <a:rPr lang="en-US" dirty="0">
                <a:ea typeface="Cambria"/>
              </a:rPr>
              <a:t>| &lt;&lt;R25-068&gt;&gt;</a:t>
            </a:r>
            <a:endParaRPr lang="en-US" dirty="0"/>
          </a:p>
        </p:txBody>
      </p:sp>
      <p:sp>
        <p:nvSpPr>
          <p:cNvPr id="9" name="TextBox 8">
            <a:extLst>
              <a:ext uri="{FF2B5EF4-FFF2-40B4-BE49-F238E27FC236}">
                <a16:creationId xmlns:a16="http://schemas.microsoft.com/office/drawing/2014/main" id="{53D35518-B602-4E07-BC89-C658F77AD886}"/>
              </a:ext>
            </a:extLst>
          </p:cNvPr>
          <p:cNvSpPr txBox="1"/>
          <p:nvPr/>
        </p:nvSpPr>
        <p:spPr>
          <a:xfrm>
            <a:off x="4364966" y="181155"/>
            <a:ext cx="527361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Features Comparison Table</a:t>
            </a:r>
          </a:p>
        </p:txBody>
      </p:sp>
      <p:graphicFrame>
        <p:nvGraphicFramePr>
          <p:cNvPr id="16" name="Table 15">
            <a:extLst>
              <a:ext uri="{FF2B5EF4-FFF2-40B4-BE49-F238E27FC236}">
                <a16:creationId xmlns:a16="http://schemas.microsoft.com/office/drawing/2014/main" id="{E0D590A5-5F80-E082-828B-882257095224}"/>
              </a:ext>
            </a:extLst>
          </p:cNvPr>
          <p:cNvGraphicFramePr>
            <a:graphicFrameLocks noGrp="1"/>
          </p:cNvGraphicFramePr>
          <p:nvPr>
            <p:extLst>
              <p:ext uri="{D42A27DB-BD31-4B8C-83A1-F6EECF244321}">
                <p14:modId xmlns:p14="http://schemas.microsoft.com/office/powerpoint/2010/main" val="2409159669"/>
              </p:ext>
            </p:extLst>
          </p:nvPr>
        </p:nvGraphicFramePr>
        <p:xfrm>
          <a:off x="2963333" y="653142"/>
          <a:ext cx="8985617" cy="5721448"/>
        </p:xfrm>
        <a:graphic>
          <a:graphicData uri="http://schemas.openxmlformats.org/drawingml/2006/table">
            <a:tbl>
              <a:tblPr firstRow="1" firstCol="1" bandRow="1">
                <a:tableStyleId>{5C22544A-7EE6-4342-B048-85BDC9FD1C3A}</a:tableStyleId>
              </a:tblPr>
              <a:tblGrid>
                <a:gridCol w="1937434">
                  <a:extLst>
                    <a:ext uri="{9D8B030D-6E8A-4147-A177-3AD203B41FA5}">
                      <a16:colId xmlns:a16="http://schemas.microsoft.com/office/drawing/2014/main" val="3944490110"/>
                    </a:ext>
                  </a:extLst>
                </a:gridCol>
                <a:gridCol w="1407907">
                  <a:extLst>
                    <a:ext uri="{9D8B030D-6E8A-4147-A177-3AD203B41FA5}">
                      <a16:colId xmlns:a16="http://schemas.microsoft.com/office/drawing/2014/main" val="3109499326"/>
                    </a:ext>
                  </a:extLst>
                </a:gridCol>
                <a:gridCol w="1408868">
                  <a:extLst>
                    <a:ext uri="{9D8B030D-6E8A-4147-A177-3AD203B41FA5}">
                      <a16:colId xmlns:a16="http://schemas.microsoft.com/office/drawing/2014/main" val="820117057"/>
                    </a:ext>
                  </a:extLst>
                </a:gridCol>
                <a:gridCol w="1408868">
                  <a:extLst>
                    <a:ext uri="{9D8B030D-6E8A-4147-A177-3AD203B41FA5}">
                      <a16:colId xmlns:a16="http://schemas.microsoft.com/office/drawing/2014/main" val="3206817519"/>
                    </a:ext>
                  </a:extLst>
                </a:gridCol>
                <a:gridCol w="1409828">
                  <a:extLst>
                    <a:ext uri="{9D8B030D-6E8A-4147-A177-3AD203B41FA5}">
                      <a16:colId xmlns:a16="http://schemas.microsoft.com/office/drawing/2014/main" val="1577230404"/>
                    </a:ext>
                  </a:extLst>
                </a:gridCol>
                <a:gridCol w="1412712">
                  <a:extLst>
                    <a:ext uri="{9D8B030D-6E8A-4147-A177-3AD203B41FA5}">
                      <a16:colId xmlns:a16="http://schemas.microsoft.com/office/drawing/2014/main" val="224986843"/>
                    </a:ext>
                  </a:extLst>
                </a:gridCol>
              </a:tblGrid>
              <a:tr h="512379">
                <a:tc>
                  <a:txBody>
                    <a:bodyPr/>
                    <a:lstStyle/>
                    <a:p>
                      <a:endParaRPr lang="en-US" sz="1400" b="1" dirty="0">
                        <a:solidFill>
                          <a:schemeClr val="tx1"/>
                        </a:solidFill>
                        <a:effectLst/>
                        <a:latin typeface="Times New Roman"/>
                      </a:endParaRPr>
                    </a:p>
                    <a:p>
                      <a:pPr lvl="0">
                        <a:buNone/>
                      </a:pPr>
                      <a:r>
                        <a:rPr lang="en-US" sz="2000" b="1" i="0" u="none" strike="noStrike" noProof="0" dirty="0">
                          <a:solidFill>
                            <a:srgbClr val="000000"/>
                          </a:solidFill>
                          <a:effectLst/>
                          <a:latin typeface="Cambria"/>
                        </a:rPr>
                        <a:t>Features</a:t>
                      </a:r>
                      <a:endParaRPr lang="en-US" sz="200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en-US" sz="1400" b="1" dirty="0">
                        <a:solidFill>
                          <a:schemeClr val="tx1"/>
                        </a:solidFill>
                        <a:effectLst/>
                        <a:latin typeface="Times New Roman"/>
                        <a:ea typeface="Times New Roman" panose="02020603050405020304" pitchFamily="18" charset="0"/>
                      </a:endParaRPr>
                    </a:p>
                    <a:p>
                      <a:pPr lvl="0">
                        <a:buNone/>
                      </a:pPr>
                      <a:r>
                        <a:rPr lang="en-US" sz="1400" b="1" dirty="0">
                          <a:solidFill>
                            <a:schemeClr val="tx1"/>
                          </a:solidFill>
                          <a:effectLst/>
                          <a:latin typeface="Times New Roman"/>
                          <a:ea typeface="Times New Roman" panose="02020603050405020304" pitchFamily="18" charset="0"/>
                        </a:rPr>
                        <a:t>Research 1</a:t>
                      </a:r>
                      <a:endParaRPr lang="en-US" sz="1400">
                        <a:solidFill>
                          <a:schemeClr val="tx1"/>
                        </a:solidFill>
                        <a:effectLst/>
                        <a:latin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r>
                        <a:rPr lang="en-US" sz="1400" b="1" dirty="0">
                          <a:solidFill>
                            <a:schemeClr val="tx1"/>
                          </a:solidFill>
                          <a:effectLst/>
                          <a:latin typeface="Times New Roman"/>
                          <a:ea typeface="Times New Roman" panose="02020603050405020304" pitchFamily="18" charset="0"/>
                        </a:rPr>
                        <a:t>Research 2</a:t>
                      </a:r>
                      <a:endParaRPr lang="en-US" sz="1400">
                        <a:solidFill>
                          <a:schemeClr val="tx1"/>
                        </a:solidFill>
                        <a:effectLst/>
                        <a:latin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r>
                        <a:rPr lang="en-US" sz="1400" b="1" dirty="0">
                          <a:solidFill>
                            <a:schemeClr val="tx1"/>
                          </a:solidFill>
                          <a:effectLst/>
                          <a:latin typeface="Times New Roman"/>
                          <a:ea typeface="Times New Roman" panose="02020603050405020304" pitchFamily="18" charset="0"/>
                        </a:rPr>
                        <a:t>Research 3</a:t>
                      </a:r>
                      <a:endParaRPr lang="en-US" sz="1400">
                        <a:solidFill>
                          <a:schemeClr val="tx1"/>
                        </a:solidFill>
                        <a:effectLst/>
                        <a:latin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r>
                        <a:rPr lang="en-US" sz="1400" b="1" dirty="0">
                          <a:solidFill>
                            <a:schemeClr val="tx1"/>
                          </a:solidFill>
                          <a:effectLst/>
                          <a:latin typeface="Times New Roman"/>
                          <a:ea typeface="Times New Roman" panose="02020603050405020304" pitchFamily="18" charset="0"/>
                        </a:rPr>
                        <a:t>Research 4</a:t>
                      </a:r>
                      <a:endParaRPr lang="en-US" sz="1400">
                        <a:solidFill>
                          <a:schemeClr val="tx1"/>
                        </a:solidFill>
                        <a:effectLst/>
                        <a:latin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r>
                        <a:rPr lang="en-US" sz="1400" b="1" dirty="0">
                          <a:solidFill>
                            <a:schemeClr val="tx1"/>
                          </a:solidFill>
                          <a:effectLst/>
                          <a:latin typeface="Times New Roman"/>
                          <a:ea typeface="Times New Roman" panose="02020603050405020304" pitchFamily="18" charset="0"/>
                        </a:rPr>
                        <a:t>Proposed Solution</a:t>
                      </a:r>
                      <a:endParaRPr lang="en-US" sz="1400">
                        <a:solidFill>
                          <a:schemeClr val="tx1"/>
                        </a:solidFill>
                        <a:effectLst/>
                        <a:latin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32602047"/>
                  </a:ext>
                </a:extLst>
              </a:tr>
              <a:tr h="397936">
                <a:tc>
                  <a:txBody>
                    <a:bodyPr/>
                    <a:lstStyle/>
                    <a:p>
                      <a:r>
                        <a:rPr lang="en-US" sz="1400" b="1" dirty="0">
                          <a:solidFill>
                            <a:schemeClr val="tx1"/>
                          </a:solidFill>
                          <a:effectLst/>
                          <a:latin typeface="Times New Roman"/>
                          <a:ea typeface="Times New Roman" panose="02020603050405020304" pitchFamily="18" charset="0"/>
                        </a:rPr>
                        <a:t>User-Friendly Interface</a:t>
                      </a:r>
                      <a:endParaRPr lang="en-US" sz="1400">
                        <a:solidFill>
                          <a:schemeClr val="tx1"/>
                        </a:solidFill>
                        <a:effectLst/>
                        <a:latin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400" dirty="0">
                          <a:effectLst/>
                          <a:latin typeface="Times New Roman"/>
                          <a:ea typeface="Times New Roman" panose="02020603050405020304" pitchFamily="18" charset="0"/>
                        </a:rPr>
                        <a:t>Low</a:t>
                      </a:r>
                      <a:endParaRPr lang="en-US" sz="1400">
                        <a:effectLst/>
                        <a:latin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400" dirty="0">
                          <a:effectLst/>
                          <a:latin typeface="Times New Roman"/>
                          <a:ea typeface="Times New Roman" panose="02020603050405020304" pitchFamily="18" charset="0"/>
                        </a:rPr>
                        <a:t>Low</a:t>
                      </a:r>
                      <a:endParaRPr lang="en-US" sz="1400">
                        <a:effectLst/>
                        <a:latin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400" dirty="0">
                          <a:effectLst/>
                          <a:latin typeface="Times New Roman"/>
                          <a:ea typeface="Times New Roman" panose="02020603050405020304" pitchFamily="18" charset="0"/>
                        </a:rPr>
                        <a:t>Medium</a:t>
                      </a:r>
                      <a:endParaRPr lang="en-US" sz="1400">
                        <a:effectLst/>
                        <a:latin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400" dirty="0">
                          <a:effectLst/>
                          <a:latin typeface="Times New Roman"/>
                          <a:ea typeface="Times New Roman" panose="02020603050405020304" pitchFamily="18" charset="0"/>
                        </a:rPr>
                        <a:t>Low</a:t>
                      </a:r>
                      <a:endParaRPr lang="en-US" sz="1400">
                        <a:effectLst/>
                        <a:latin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400" dirty="0">
                          <a:effectLst/>
                          <a:latin typeface="Times New Roman"/>
                          <a:ea typeface="Times New Roman" panose="02020603050405020304" pitchFamily="18" charset="0"/>
                        </a:rPr>
                        <a:t>High</a:t>
                      </a:r>
                      <a:endParaRPr lang="en-US" sz="1400">
                        <a:effectLst/>
                        <a:latin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92761740"/>
                  </a:ext>
                </a:extLst>
              </a:tr>
              <a:tr h="397936">
                <a:tc>
                  <a:txBody>
                    <a:bodyPr/>
                    <a:lstStyle/>
                    <a:p>
                      <a:r>
                        <a:rPr lang="en-US" sz="1400" b="1" dirty="0">
                          <a:solidFill>
                            <a:schemeClr val="tx1"/>
                          </a:solidFill>
                          <a:effectLst/>
                          <a:latin typeface="Times New Roman"/>
                          <a:ea typeface="Times New Roman" panose="02020603050405020304" pitchFamily="18" charset="0"/>
                        </a:rPr>
                        <a:t>Mobile Application</a:t>
                      </a:r>
                      <a:endParaRPr lang="en-US" sz="1400">
                        <a:solidFill>
                          <a:schemeClr val="tx1"/>
                        </a:solidFill>
                        <a:effectLst/>
                        <a:latin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400" dirty="0">
                          <a:effectLst/>
                          <a:latin typeface="Segoe UI Emoji"/>
                          <a:ea typeface="Times New Roman" panose="02020603050405020304" pitchFamily="18" charset="0"/>
                          <a:cs typeface="Segoe UI Emoji" panose="020B0502040204020203" pitchFamily="34" charset="0"/>
                        </a:rPr>
                        <a:t>❌</a:t>
                      </a:r>
                      <a:endParaRPr lang="en-US" sz="1400">
                        <a:effectLst/>
                        <a:latin typeface="Segoe UI Emoj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400" dirty="0">
                          <a:effectLst/>
                          <a:latin typeface="Segoe UI Emoji"/>
                          <a:ea typeface="Times New Roman" panose="02020603050405020304" pitchFamily="18" charset="0"/>
                          <a:cs typeface="Segoe UI Emoji" panose="020B0502040204020203" pitchFamily="34" charset="0"/>
                        </a:rPr>
                        <a:t>❌</a:t>
                      </a:r>
                      <a:endParaRPr lang="en-US" sz="1400">
                        <a:effectLst/>
                        <a:latin typeface="Segoe UI Emoj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400" dirty="0">
                          <a:effectLst/>
                          <a:latin typeface="Segoe UI Emoji"/>
                          <a:ea typeface="Times New Roman" panose="02020603050405020304" pitchFamily="18" charset="0"/>
                          <a:cs typeface="Segoe UI Emoji" panose="020B0502040204020203" pitchFamily="34" charset="0"/>
                        </a:rPr>
                        <a:t>✅</a:t>
                      </a:r>
                      <a:endParaRPr lang="en-US" sz="1400">
                        <a:effectLst/>
                        <a:latin typeface="Segoe UI Emoj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400" dirty="0">
                          <a:effectLst/>
                          <a:latin typeface="Segoe UI Emoji"/>
                          <a:ea typeface="Times New Roman" panose="02020603050405020304" pitchFamily="18" charset="0"/>
                          <a:cs typeface="Segoe UI Emoji" panose="020B0502040204020203" pitchFamily="34" charset="0"/>
                        </a:rPr>
                        <a:t>❌</a:t>
                      </a:r>
                      <a:endParaRPr lang="en-US" sz="1400">
                        <a:effectLst/>
                        <a:latin typeface="Segoe UI Emoj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400" dirty="0">
                          <a:effectLst/>
                          <a:latin typeface="Segoe UI Emoji"/>
                          <a:ea typeface="Times New Roman" panose="02020603050405020304" pitchFamily="18" charset="0"/>
                          <a:cs typeface="Segoe UI Emoji" panose="020B0502040204020203" pitchFamily="34" charset="0"/>
                        </a:rPr>
                        <a:t>✅</a:t>
                      </a:r>
                      <a:endParaRPr lang="en-US" sz="1400">
                        <a:effectLst/>
                        <a:latin typeface="Segoe UI Emoj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10078757"/>
                  </a:ext>
                </a:extLst>
              </a:tr>
              <a:tr h="590042">
                <a:tc>
                  <a:txBody>
                    <a:bodyPr/>
                    <a:lstStyle/>
                    <a:p>
                      <a:r>
                        <a:rPr lang="en-US" sz="1400" b="1" dirty="0">
                          <a:solidFill>
                            <a:schemeClr val="tx1"/>
                          </a:solidFill>
                          <a:effectLst/>
                          <a:latin typeface="Times New Roman"/>
                          <a:ea typeface="Times New Roman" panose="02020603050405020304" pitchFamily="18" charset="0"/>
                        </a:rPr>
                        <a:t>AI-Based Medicinal Plant Identification</a:t>
                      </a:r>
                      <a:endParaRPr lang="en-US" sz="1400">
                        <a:solidFill>
                          <a:schemeClr val="tx1"/>
                        </a:solidFill>
                        <a:effectLst/>
                        <a:latin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400" dirty="0">
                          <a:effectLst/>
                          <a:latin typeface="Segoe UI Emoji"/>
                          <a:ea typeface="Times New Roman" panose="02020603050405020304" pitchFamily="18" charset="0"/>
                          <a:cs typeface="Segoe UI Emoji" panose="020B0502040204020203" pitchFamily="34" charset="0"/>
                        </a:rPr>
                        <a:t>❌</a:t>
                      </a:r>
                      <a:endParaRPr lang="en-US" sz="1400">
                        <a:effectLst/>
                        <a:latin typeface="Segoe UI Emoj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400" dirty="0">
                          <a:effectLst/>
                          <a:latin typeface="Segoe UI Emoji"/>
                          <a:ea typeface="Times New Roman" panose="02020603050405020304" pitchFamily="18" charset="0"/>
                          <a:cs typeface="Segoe UI Emoji" panose="020B0502040204020203" pitchFamily="34" charset="0"/>
                        </a:rPr>
                        <a:t>❌</a:t>
                      </a:r>
                      <a:endParaRPr lang="en-US" sz="1400">
                        <a:effectLst/>
                        <a:latin typeface="Segoe UI Emoj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400" dirty="0">
                          <a:effectLst/>
                          <a:latin typeface="Segoe UI Emoji"/>
                          <a:ea typeface="Times New Roman" panose="02020603050405020304" pitchFamily="18" charset="0"/>
                          <a:cs typeface="Segoe UI Emoji" panose="020B0502040204020203" pitchFamily="34" charset="0"/>
                        </a:rPr>
                        <a:t>❌</a:t>
                      </a:r>
                      <a:endParaRPr lang="en-US" sz="1400">
                        <a:effectLst/>
                        <a:latin typeface="Segoe UI Emoj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400" dirty="0">
                          <a:effectLst/>
                          <a:latin typeface="Segoe UI Emoji"/>
                          <a:ea typeface="Times New Roman" panose="02020603050405020304" pitchFamily="18" charset="0"/>
                          <a:cs typeface="Segoe UI Emoji" panose="020B0502040204020203" pitchFamily="34" charset="0"/>
                        </a:rPr>
                        <a:t>❌</a:t>
                      </a:r>
                      <a:endParaRPr lang="en-US" sz="1400">
                        <a:effectLst/>
                        <a:latin typeface="Segoe UI Emoj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400" dirty="0">
                          <a:effectLst/>
                          <a:latin typeface="Segoe UI Emoji"/>
                          <a:ea typeface="Times New Roman" panose="02020603050405020304" pitchFamily="18" charset="0"/>
                          <a:cs typeface="Segoe UI Emoji" panose="020B0502040204020203" pitchFamily="34" charset="0"/>
                        </a:rPr>
                        <a:t>✅</a:t>
                      </a:r>
                      <a:endParaRPr lang="en-US" sz="1400">
                        <a:effectLst/>
                        <a:latin typeface="Segoe UI Emoj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98761956"/>
                  </a:ext>
                </a:extLst>
              </a:tr>
              <a:tr h="590042">
                <a:tc>
                  <a:txBody>
                    <a:bodyPr/>
                    <a:lstStyle/>
                    <a:p>
                      <a:r>
                        <a:rPr lang="en-US" sz="1400" b="1" dirty="0">
                          <a:solidFill>
                            <a:schemeClr val="tx1"/>
                          </a:solidFill>
                          <a:effectLst/>
                          <a:latin typeface="Times New Roman"/>
                          <a:ea typeface="Times New Roman" panose="02020603050405020304" pitchFamily="18" charset="0"/>
                        </a:rPr>
                        <a:t>Leaf Image Processing for Identification</a:t>
                      </a:r>
                      <a:endParaRPr lang="en-US" sz="1400">
                        <a:solidFill>
                          <a:schemeClr val="tx1"/>
                        </a:solidFill>
                        <a:effectLst/>
                        <a:latin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400" dirty="0">
                          <a:effectLst/>
                          <a:latin typeface="Segoe UI Emoji"/>
                          <a:ea typeface="Times New Roman" panose="02020603050405020304" pitchFamily="18" charset="0"/>
                          <a:cs typeface="Segoe UI Emoji" panose="020B0502040204020203" pitchFamily="34" charset="0"/>
                        </a:rPr>
                        <a:t>❌</a:t>
                      </a:r>
                      <a:endParaRPr lang="en-US" sz="1400">
                        <a:effectLst/>
                        <a:latin typeface="Segoe UI Emoj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400" dirty="0">
                          <a:effectLst/>
                          <a:latin typeface="Segoe UI Emoji"/>
                          <a:ea typeface="Times New Roman" panose="02020603050405020304" pitchFamily="18" charset="0"/>
                          <a:cs typeface="Segoe UI Emoji" panose="020B0502040204020203" pitchFamily="34" charset="0"/>
                        </a:rPr>
                        <a:t>❌</a:t>
                      </a:r>
                      <a:endParaRPr lang="en-US" sz="1400">
                        <a:effectLst/>
                        <a:latin typeface="Segoe UI Emoj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400" dirty="0">
                          <a:effectLst/>
                          <a:latin typeface="Segoe UI Emoji"/>
                          <a:ea typeface="Times New Roman" panose="02020603050405020304" pitchFamily="18" charset="0"/>
                          <a:cs typeface="Segoe UI Emoji" panose="020B0502040204020203" pitchFamily="34" charset="0"/>
                        </a:rPr>
                        <a:t>❌</a:t>
                      </a:r>
                      <a:endParaRPr lang="en-US" sz="1400">
                        <a:effectLst/>
                        <a:latin typeface="Segoe UI Emoj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400" dirty="0">
                          <a:effectLst/>
                          <a:latin typeface="Segoe UI Emoji"/>
                          <a:ea typeface="Times New Roman" panose="02020603050405020304" pitchFamily="18" charset="0"/>
                          <a:cs typeface="Segoe UI Emoji" panose="020B0502040204020203" pitchFamily="34" charset="0"/>
                        </a:rPr>
                        <a:t>❌</a:t>
                      </a:r>
                      <a:endParaRPr lang="en-US" sz="1400">
                        <a:effectLst/>
                        <a:latin typeface="Segoe UI Emoj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400" dirty="0">
                          <a:effectLst/>
                          <a:latin typeface="Segoe UI Emoji"/>
                          <a:ea typeface="Times New Roman" panose="02020603050405020304" pitchFamily="18" charset="0"/>
                          <a:cs typeface="Segoe UI Emoji" panose="020B0502040204020203" pitchFamily="34" charset="0"/>
                        </a:rPr>
                        <a:t>✅</a:t>
                      </a:r>
                      <a:endParaRPr lang="en-US" sz="1400">
                        <a:effectLst/>
                        <a:latin typeface="Segoe UI Emoj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04635682"/>
                  </a:ext>
                </a:extLst>
              </a:tr>
              <a:tr h="590042">
                <a:tc>
                  <a:txBody>
                    <a:bodyPr/>
                    <a:lstStyle/>
                    <a:p>
                      <a:r>
                        <a:rPr lang="en-US" sz="1400" b="1" dirty="0">
                          <a:solidFill>
                            <a:schemeClr val="tx1"/>
                          </a:solidFill>
                          <a:effectLst/>
                          <a:latin typeface="Times New Roman"/>
                          <a:ea typeface="Times New Roman" panose="02020603050405020304" pitchFamily="18" charset="0"/>
                        </a:rPr>
                        <a:t>Database of Ayurvedic Medicinal Plants</a:t>
                      </a:r>
                      <a:endParaRPr lang="en-US" sz="1400">
                        <a:solidFill>
                          <a:schemeClr val="tx1"/>
                        </a:solidFill>
                        <a:effectLst/>
                        <a:latin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400" dirty="0">
                          <a:effectLst/>
                          <a:latin typeface="Segoe UI Emoji"/>
                          <a:ea typeface="Times New Roman" panose="02020603050405020304" pitchFamily="18" charset="0"/>
                          <a:cs typeface="Segoe UI Emoji" panose="020B0502040204020203" pitchFamily="34" charset="0"/>
                        </a:rPr>
                        <a:t>❌</a:t>
                      </a:r>
                      <a:endParaRPr lang="en-US" sz="1400">
                        <a:effectLst/>
                        <a:latin typeface="Segoe UI Emoj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400" dirty="0">
                          <a:effectLst/>
                          <a:latin typeface="Segoe UI Emoji"/>
                          <a:ea typeface="Times New Roman" panose="02020603050405020304" pitchFamily="18" charset="0"/>
                          <a:cs typeface="Segoe UI Emoji" panose="020B0502040204020203" pitchFamily="34" charset="0"/>
                        </a:rPr>
                        <a:t>❌</a:t>
                      </a:r>
                      <a:endParaRPr lang="en-US" sz="1400">
                        <a:effectLst/>
                        <a:latin typeface="Segoe UI Emoj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400" dirty="0">
                          <a:effectLst/>
                          <a:latin typeface="Segoe UI Emoji"/>
                          <a:ea typeface="Times New Roman" panose="02020603050405020304" pitchFamily="18" charset="0"/>
                          <a:cs typeface="Segoe UI Emoji" panose="020B0502040204020203" pitchFamily="34" charset="0"/>
                        </a:rPr>
                        <a:t>✅</a:t>
                      </a:r>
                      <a:endParaRPr lang="en-US" sz="1400">
                        <a:effectLst/>
                        <a:latin typeface="Segoe UI Emoj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400" dirty="0">
                          <a:effectLst/>
                          <a:latin typeface="Segoe UI Emoji"/>
                          <a:ea typeface="Times New Roman" panose="02020603050405020304" pitchFamily="18" charset="0"/>
                          <a:cs typeface="Segoe UI Emoji" panose="020B0502040204020203" pitchFamily="34" charset="0"/>
                        </a:rPr>
                        <a:t>❌</a:t>
                      </a:r>
                      <a:endParaRPr lang="en-US" sz="1400">
                        <a:effectLst/>
                        <a:latin typeface="Segoe UI Emoj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400" dirty="0">
                          <a:effectLst/>
                          <a:latin typeface="Segoe UI Emoji"/>
                          <a:ea typeface="Times New Roman" panose="02020603050405020304" pitchFamily="18" charset="0"/>
                          <a:cs typeface="Segoe UI Emoji" panose="020B0502040204020203" pitchFamily="34" charset="0"/>
                        </a:rPr>
                        <a:t>✅</a:t>
                      </a:r>
                      <a:endParaRPr lang="en-US" sz="1400">
                        <a:effectLst/>
                        <a:latin typeface="Segoe UI Emoj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67521876"/>
                  </a:ext>
                </a:extLst>
              </a:tr>
              <a:tr h="590042">
                <a:tc>
                  <a:txBody>
                    <a:bodyPr/>
                    <a:lstStyle/>
                    <a:p>
                      <a:r>
                        <a:rPr lang="en-US" sz="1400" b="1" dirty="0">
                          <a:solidFill>
                            <a:schemeClr val="tx1"/>
                          </a:solidFill>
                          <a:effectLst/>
                          <a:latin typeface="Times New Roman"/>
                          <a:ea typeface="Times New Roman" panose="02020603050405020304" pitchFamily="18" charset="0"/>
                        </a:rPr>
                        <a:t>Disease-Based Plant Recommendation</a:t>
                      </a:r>
                      <a:endParaRPr lang="en-US" sz="1400">
                        <a:solidFill>
                          <a:schemeClr val="tx1"/>
                        </a:solidFill>
                        <a:effectLst/>
                        <a:latin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400" dirty="0">
                          <a:effectLst/>
                          <a:latin typeface="Segoe UI Emoji"/>
                          <a:ea typeface="Times New Roman" panose="02020603050405020304" pitchFamily="18" charset="0"/>
                          <a:cs typeface="Segoe UI Emoji" panose="020B0502040204020203" pitchFamily="34" charset="0"/>
                        </a:rPr>
                        <a:t>❌</a:t>
                      </a:r>
                      <a:endParaRPr lang="en-US" sz="1400">
                        <a:effectLst/>
                        <a:latin typeface="Segoe UI Emoj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400" dirty="0">
                          <a:effectLst/>
                          <a:latin typeface="Segoe UI Emoji"/>
                          <a:ea typeface="Times New Roman" panose="02020603050405020304" pitchFamily="18" charset="0"/>
                          <a:cs typeface="Segoe UI Emoji" panose="020B0502040204020203" pitchFamily="34" charset="0"/>
                        </a:rPr>
                        <a:t>❌</a:t>
                      </a:r>
                      <a:endParaRPr lang="en-US" sz="1400">
                        <a:effectLst/>
                        <a:latin typeface="Segoe UI Emoj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400" dirty="0">
                          <a:effectLst/>
                          <a:latin typeface="Segoe UI Emoji"/>
                          <a:ea typeface="Times New Roman" panose="02020603050405020304" pitchFamily="18" charset="0"/>
                          <a:cs typeface="Segoe UI Emoji" panose="020B0502040204020203" pitchFamily="34" charset="0"/>
                        </a:rPr>
                        <a:t>❌</a:t>
                      </a:r>
                      <a:endParaRPr lang="en-US" sz="1400">
                        <a:effectLst/>
                        <a:latin typeface="Segoe UI Emoj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400" dirty="0">
                          <a:effectLst/>
                          <a:latin typeface="Segoe UI Emoji"/>
                          <a:ea typeface="Times New Roman" panose="02020603050405020304" pitchFamily="18" charset="0"/>
                          <a:cs typeface="Segoe UI Emoji" panose="020B0502040204020203" pitchFamily="34" charset="0"/>
                        </a:rPr>
                        <a:t>❌</a:t>
                      </a:r>
                      <a:endParaRPr lang="en-US" sz="1400">
                        <a:effectLst/>
                        <a:latin typeface="Segoe UI Emoj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400" dirty="0">
                          <a:effectLst/>
                          <a:latin typeface="Segoe UI Emoji"/>
                          <a:ea typeface="Times New Roman" panose="02020603050405020304" pitchFamily="18" charset="0"/>
                          <a:cs typeface="Segoe UI Emoji" panose="020B0502040204020203" pitchFamily="34" charset="0"/>
                        </a:rPr>
                        <a:t>✅</a:t>
                      </a:r>
                      <a:endParaRPr lang="en-US" sz="1400">
                        <a:effectLst/>
                        <a:latin typeface="Segoe UI Emoj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49757352"/>
                  </a:ext>
                </a:extLst>
              </a:tr>
              <a:tr h="397936">
                <a:tc>
                  <a:txBody>
                    <a:bodyPr/>
                    <a:lstStyle/>
                    <a:p>
                      <a:r>
                        <a:rPr lang="en-US" sz="1400" b="1" dirty="0">
                          <a:solidFill>
                            <a:schemeClr val="tx1"/>
                          </a:solidFill>
                          <a:effectLst/>
                          <a:latin typeface="Times New Roman"/>
                          <a:ea typeface="Times New Roman" panose="02020603050405020304" pitchFamily="18" charset="0"/>
                        </a:rPr>
                        <a:t>Offline Accessibility</a:t>
                      </a:r>
                      <a:endParaRPr lang="en-US" sz="1400">
                        <a:solidFill>
                          <a:schemeClr val="tx1"/>
                        </a:solidFill>
                        <a:effectLst/>
                        <a:latin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400" dirty="0">
                          <a:effectLst/>
                          <a:latin typeface="Segoe UI Emoji"/>
                          <a:ea typeface="Times New Roman" panose="02020603050405020304" pitchFamily="18" charset="0"/>
                          <a:cs typeface="Segoe UI Emoji" panose="020B0502040204020203" pitchFamily="34" charset="0"/>
                        </a:rPr>
                        <a:t>❌</a:t>
                      </a:r>
                      <a:endParaRPr lang="en-US" sz="1400">
                        <a:effectLst/>
                        <a:latin typeface="Segoe UI Emoj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400" dirty="0">
                          <a:effectLst/>
                          <a:latin typeface="Segoe UI Emoji"/>
                          <a:ea typeface="Times New Roman" panose="02020603050405020304" pitchFamily="18" charset="0"/>
                          <a:cs typeface="Segoe UI Emoji" panose="020B0502040204020203" pitchFamily="34" charset="0"/>
                        </a:rPr>
                        <a:t>❌</a:t>
                      </a:r>
                      <a:endParaRPr lang="en-US" sz="1400">
                        <a:effectLst/>
                        <a:latin typeface="Segoe UI Emoj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400" dirty="0">
                          <a:effectLst/>
                          <a:latin typeface="Segoe UI Emoji"/>
                          <a:ea typeface="Times New Roman" panose="02020603050405020304" pitchFamily="18" charset="0"/>
                          <a:cs typeface="Segoe UI Emoji" panose="020B0502040204020203" pitchFamily="34" charset="0"/>
                        </a:rPr>
                        <a:t>❌</a:t>
                      </a:r>
                      <a:endParaRPr lang="en-US" sz="1400">
                        <a:effectLst/>
                        <a:latin typeface="Segoe UI Emoj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400" dirty="0">
                          <a:effectLst/>
                          <a:latin typeface="Segoe UI Emoji"/>
                          <a:ea typeface="Times New Roman" panose="02020603050405020304" pitchFamily="18" charset="0"/>
                          <a:cs typeface="Segoe UI Emoji" panose="020B0502040204020203" pitchFamily="34" charset="0"/>
                        </a:rPr>
                        <a:t>❌</a:t>
                      </a:r>
                      <a:endParaRPr lang="en-US" sz="1400">
                        <a:effectLst/>
                        <a:latin typeface="Segoe UI Emoj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400" dirty="0">
                          <a:effectLst/>
                          <a:latin typeface="Segoe UI Emoji"/>
                          <a:ea typeface="Times New Roman" panose="02020603050405020304" pitchFamily="18" charset="0"/>
                          <a:cs typeface="Segoe UI Emoji" panose="020B0502040204020203" pitchFamily="34" charset="0"/>
                        </a:rPr>
                        <a:t>✅</a:t>
                      </a:r>
                      <a:endParaRPr lang="en-US" sz="1400">
                        <a:effectLst/>
                        <a:latin typeface="Segoe UI Emoj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50828279"/>
                  </a:ext>
                </a:extLst>
              </a:tr>
              <a:tr h="795872">
                <a:tc>
                  <a:txBody>
                    <a:bodyPr/>
                    <a:lstStyle/>
                    <a:p>
                      <a:r>
                        <a:rPr lang="en-US" sz="1400" b="1" dirty="0">
                          <a:solidFill>
                            <a:schemeClr val="tx1"/>
                          </a:solidFill>
                          <a:effectLst/>
                          <a:latin typeface="Times New Roman"/>
                          <a:ea typeface="Times New Roman" panose="02020603050405020304" pitchFamily="18" charset="0"/>
                        </a:rPr>
                        <a:t>Integration with Ayurvedic Treatment Guidance</a:t>
                      </a:r>
                      <a:endParaRPr lang="en-US" sz="1400">
                        <a:solidFill>
                          <a:schemeClr val="tx1"/>
                        </a:solidFill>
                        <a:effectLst/>
                        <a:latin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400" dirty="0">
                          <a:effectLst/>
                          <a:latin typeface="Segoe UI Emoji"/>
                          <a:ea typeface="Times New Roman" panose="02020603050405020304" pitchFamily="18" charset="0"/>
                          <a:cs typeface="Segoe UI Emoji" panose="020B0502040204020203" pitchFamily="34" charset="0"/>
                        </a:rPr>
                        <a:t>❌</a:t>
                      </a:r>
                      <a:endParaRPr lang="en-US" sz="1400">
                        <a:effectLst/>
                        <a:latin typeface="Segoe UI Emoj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400" dirty="0">
                          <a:effectLst/>
                          <a:latin typeface="Segoe UI Emoji"/>
                          <a:ea typeface="Times New Roman" panose="02020603050405020304" pitchFamily="18" charset="0"/>
                          <a:cs typeface="Segoe UI Emoji" panose="020B0502040204020203" pitchFamily="34" charset="0"/>
                        </a:rPr>
                        <a:t>❌</a:t>
                      </a:r>
                      <a:endParaRPr lang="en-US" sz="1400">
                        <a:effectLst/>
                        <a:latin typeface="Segoe UI Emoj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400" dirty="0">
                          <a:effectLst/>
                          <a:latin typeface="Segoe UI Emoji"/>
                          <a:ea typeface="Times New Roman" panose="02020603050405020304" pitchFamily="18" charset="0"/>
                          <a:cs typeface="Segoe UI Emoji" panose="020B0502040204020203" pitchFamily="34" charset="0"/>
                        </a:rPr>
                        <a:t>✅</a:t>
                      </a:r>
                      <a:endParaRPr lang="en-US" sz="1400">
                        <a:effectLst/>
                        <a:latin typeface="Segoe UI Emoj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400" dirty="0">
                          <a:effectLst/>
                          <a:latin typeface="Segoe UI Emoji"/>
                          <a:ea typeface="Times New Roman" panose="02020603050405020304" pitchFamily="18" charset="0"/>
                          <a:cs typeface="Segoe UI Emoji" panose="020B0502040204020203" pitchFamily="34" charset="0"/>
                        </a:rPr>
                        <a:t>❌</a:t>
                      </a:r>
                      <a:endParaRPr lang="en-US" sz="1400">
                        <a:effectLst/>
                        <a:latin typeface="Segoe UI Emoj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1400" dirty="0">
                          <a:effectLst/>
                          <a:latin typeface="Segoe UI Emoji"/>
                          <a:ea typeface="Times New Roman" panose="02020603050405020304" pitchFamily="18" charset="0"/>
                          <a:cs typeface="Segoe UI Emoji" panose="020B0502040204020203" pitchFamily="34" charset="0"/>
                        </a:rPr>
                        <a:t>✅</a:t>
                      </a:r>
                      <a:endParaRPr lang="en-US" sz="1400">
                        <a:effectLst/>
                        <a:latin typeface="Segoe UI Emoji"/>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28987036"/>
                  </a:ext>
                </a:extLst>
              </a:tr>
              <a:tr h="795872">
                <a:tc>
                  <a:txBody>
                    <a:bodyPr/>
                    <a:lstStyle/>
                    <a:p>
                      <a:endParaRPr lang="en-US" sz="1400" b="1" dirty="0">
                        <a:solidFill>
                          <a:schemeClr val="tx1"/>
                        </a:solidFill>
                        <a:effectLst/>
                        <a:latin typeface="Times New Roman"/>
                        <a:ea typeface="Times New Roman" panose="02020603050405020304" pitchFamily="18" charset="0"/>
                      </a:endParaRPr>
                    </a:p>
                    <a:p>
                      <a:pPr lvl="0">
                        <a:buNone/>
                      </a:pPr>
                      <a:r>
                        <a:rPr lang="en-US" sz="1400" b="1" dirty="0">
                          <a:solidFill>
                            <a:schemeClr val="tx1"/>
                          </a:solidFill>
                          <a:effectLst/>
                          <a:latin typeface="Times New Roman"/>
                          <a:ea typeface="Times New Roman" panose="02020603050405020304" pitchFamily="18" charset="0"/>
                        </a:rPr>
                        <a:t>Machine Learning-Based Accuracy Improvement</a:t>
                      </a:r>
                      <a:endParaRPr lang="en-US" sz="1400">
                        <a:solidFill>
                          <a:schemeClr val="tx1"/>
                        </a:solidFill>
                        <a:effectLst/>
                        <a:latin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en-US" sz="1400" dirty="0">
                        <a:effectLst/>
                        <a:latin typeface="Segoe UI Emoji"/>
                        <a:ea typeface="Times New Roman" panose="02020603050405020304" pitchFamily="18" charset="0"/>
                        <a:cs typeface="Segoe UI Emoji" panose="020B0502040204020203" pitchFamily="34" charset="0"/>
                      </a:endParaRPr>
                    </a:p>
                    <a:p>
                      <a:pPr lvl="0">
                        <a:buNone/>
                      </a:pPr>
                      <a:r>
                        <a:rPr lang="en-US" sz="1400" dirty="0">
                          <a:effectLst/>
                          <a:latin typeface="Segoe UI Emoji"/>
                          <a:ea typeface="Times New Roman" panose="02020603050405020304" pitchFamily="18" charset="0"/>
                          <a:cs typeface="Segoe UI Emoji" panose="020B0502040204020203" pitchFamily="34" charset="0"/>
                        </a:rPr>
                        <a:t>❌</a:t>
                      </a:r>
                      <a:endParaRPr lang="en-US" sz="1400">
                        <a:effectLst/>
                        <a:latin typeface="Segoe UI Emoj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en-US" sz="1400" dirty="0">
                        <a:effectLst/>
                        <a:latin typeface="Segoe UI Emoji"/>
                        <a:ea typeface="Times New Roman" panose="02020603050405020304" pitchFamily="18" charset="0"/>
                        <a:cs typeface="Segoe UI Emoji" panose="020B0502040204020203" pitchFamily="34" charset="0"/>
                      </a:endParaRPr>
                    </a:p>
                    <a:p>
                      <a:pPr lvl="0">
                        <a:buNone/>
                      </a:pPr>
                      <a:r>
                        <a:rPr lang="en-US" sz="1400" dirty="0">
                          <a:effectLst/>
                          <a:latin typeface="Segoe UI Emoji"/>
                          <a:ea typeface="Times New Roman" panose="02020603050405020304" pitchFamily="18" charset="0"/>
                          <a:cs typeface="Segoe UI Emoji" panose="020B0502040204020203" pitchFamily="34" charset="0"/>
                        </a:rPr>
                        <a:t>❌</a:t>
                      </a:r>
                      <a:endParaRPr lang="en-US" sz="1400">
                        <a:effectLst/>
                        <a:latin typeface="Segoe UI Emoj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en-US" sz="1400" dirty="0">
                        <a:effectLst/>
                        <a:latin typeface="Segoe UI Emoji"/>
                        <a:ea typeface="Times New Roman" panose="02020603050405020304" pitchFamily="18" charset="0"/>
                        <a:cs typeface="Segoe UI Emoji" panose="020B0502040204020203" pitchFamily="34" charset="0"/>
                      </a:endParaRPr>
                    </a:p>
                    <a:p>
                      <a:pPr lvl="0">
                        <a:buNone/>
                      </a:pPr>
                      <a:r>
                        <a:rPr lang="en-US" sz="1400" dirty="0">
                          <a:effectLst/>
                          <a:latin typeface="Segoe UI Emoji"/>
                          <a:ea typeface="Times New Roman" panose="02020603050405020304" pitchFamily="18" charset="0"/>
                          <a:cs typeface="Segoe UI Emoji" panose="020B0502040204020203" pitchFamily="34" charset="0"/>
                        </a:rPr>
                        <a:t>✅</a:t>
                      </a:r>
                      <a:endParaRPr lang="en-US" sz="1400">
                        <a:effectLst/>
                        <a:latin typeface="Segoe UI Emoj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en-US" sz="1400" dirty="0">
                        <a:effectLst/>
                        <a:latin typeface="Segoe UI Emoji"/>
                        <a:ea typeface="Times New Roman" panose="02020603050405020304" pitchFamily="18" charset="0"/>
                        <a:cs typeface="Segoe UI Emoji" panose="020B0502040204020203" pitchFamily="34" charset="0"/>
                      </a:endParaRPr>
                    </a:p>
                    <a:p>
                      <a:pPr lvl="0">
                        <a:buNone/>
                      </a:pPr>
                      <a:r>
                        <a:rPr lang="en-US" sz="1400" dirty="0">
                          <a:effectLst/>
                          <a:latin typeface="Segoe UI Emoji"/>
                          <a:ea typeface="Times New Roman" panose="02020603050405020304" pitchFamily="18" charset="0"/>
                          <a:cs typeface="Segoe UI Emoji" panose="020B0502040204020203" pitchFamily="34" charset="0"/>
                        </a:rPr>
                        <a:t>❌</a:t>
                      </a:r>
                      <a:endParaRPr lang="en-US" sz="1400">
                        <a:effectLst/>
                        <a:latin typeface="Segoe UI Emoj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en-US" sz="1400" dirty="0">
                        <a:effectLst/>
                        <a:latin typeface="Segoe UI Emoji"/>
                        <a:ea typeface="Times New Roman" panose="02020603050405020304" pitchFamily="18" charset="0"/>
                        <a:cs typeface="Segoe UI Emoji" panose="020B0502040204020203" pitchFamily="34" charset="0"/>
                      </a:endParaRPr>
                    </a:p>
                    <a:p>
                      <a:pPr lvl="0">
                        <a:buNone/>
                      </a:pPr>
                      <a:r>
                        <a:rPr lang="en-US" sz="1400" dirty="0">
                          <a:effectLst/>
                          <a:latin typeface="Segoe UI Emoji"/>
                          <a:ea typeface="Times New Roman" panose="02020603050405020304" pitchFamily="18" charset="0"/>
                          <a:cs typeface="Segoe UI Emoji" panose="020B0502040204020203" pitchFamily="34" charset="0"/>
                        </a:rPr>
                        <a:t>✅</a:t>
                      </a:r>
                      <a:endParaRPr lang="en-US" sz="1400">
                        <a:effectLst/>
                        <a:latin typeface="Segoe UI Emoj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91420181"/>
                  </a:ext>
                </a:extLst>
              </a:tr>
            </a:tbl>
          </a:graphicData>
        </a:graphic>
      </p:graphicFrame>
    </p:spTree>
    <p:extLst>
      <p:ext uri="{BB962C8B-B14F-4D97-AF65-F5344CB8AC3E}">
        <p14:creationId xmlns:p14="http://schemas.microsoft.com/office/powerpoint/2010/main" val="173819276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27F3D-32BB-A1B1-92F1-4F4019565671}"/>
              </a:ext>
            </a:extLst>
          </p:cNvPr>
          <p:cNvSpPr>
            <a:spLocks noGrp="1"/>
          </p:cNvSpPr>
          <p:nvPr>
            <p:ph type="title"/>
          </p:nvPr>
        </p:nvSpPr>
        <p:spPr>
          <a:xfrm>
            <a:off x="-1094282" y="304800"/>
            <a:ext cx="11684000" cy="792162"/>
          </a:xfrm>
        </p:spPr>
        <p:txBody>
          <a:bodyPr>
            <a:normAutofit/>
          </a:bodyPr>
          <a:lstStyle/>
          <a:p>
            <a:r>
              <a:rPr lang="en-US">
                <a:solidFill>
                  <a:schemeClr val="accent1"/>
                </a:solidFill>
                <a:latin typeface="Arial"/>
                <a:cs typeface="Arial"/>
              </a:rPr>
              <a:t>Research Problems</a:t>
            </a:r>
            <a:endParaRPr lang="en-US">
              <a:solidFill>
                <a:schemeClr val="accent1"/>
              </a:solidFill>
            </a:endParaRPr>
          </a:p>
        </p:txBody>
      </p:sp>
      <p:sp>
        <p:nvSpPr>
          <p:cNvPr id="3" name="Content Placeholder 2">
            <a:extLst>
              <a:ext uri="{FF2B5EF4-FFF2-40B4-BE49-F238E27FC236}">
                <a16:creationId xmlns:a16="http://schemas.microsoft.com/office/drawing/2014/main" id="{E198FBA1-E82B-4DAF-319C-ADBADE191CDE}"/>
              </a:ext>
            </a:extLst>
          </p:cNvPr>
          <p:cNvSpPr>
            <a:spLocks noGrp="1"/>
          </p:cNvSpPr>
          <p:nvPr>
            <p:ph idx="1"/>
          </p:nvPr>
        </p:nvSpPr>
        <p:spPr>
          <a:xfrm>
            <a:off x="304800" y="1105526"/>
            <a:ext cx="8885836" cy="5219074"/>
          </a:xfrm>
        </p:spPr>
        <p:txBody>
          <a:bodyPr vert="horz" lIns="91440" tIns="45720" rIns="91440" bIns="45720" rtlCol="0" anchor="t">
            <a:normAutofit fontScale="85000" lnSpcReduction="20000"/>
          </a:bodyPr>
          <a:lstStyle/>
          <a:p>
            <a:r>
              <a:rPr lang="en-US" b="1">
                <a:ea typeface="+mn-lt"/>
                <a:cs typeface="+mn-lt"/>
              </a:rPr>
              <a:t>Limited AI Optimization</a:t>
            </a:r>
            <a:r>
              <a:rPr lang="en-US">
                <a:ea typeface="+mn-lt"/>
                <a:cs typeface="+mn-lt"/>
              </a:rPr>
              <a:t>: Existing AI models lack accuracy in identifying Ayurvedic medicinal plants.</a:t>
            </a:r>
            <a:endParaRPr lang="en-US" b="1">
              <a:ea typeface="+mn-lt"/>
              <a:cs typeface="+mn-lt"/>
            </a:endParaRPr>
          </a:p>
          <a:p>
            <a:r>
              <a:rPr lang="en-US" b="1">
                <a:ea typeface="+mn-lt"/>
                <a:cs typeface="+mn-lt"/>
              </a:rPr>
              <a:t>Insufficient Training Data</a:t>
            </a:r>
            <a:r>
              <a:rPr lang="en-US">
                <a:ea typeface="+mn-lt"/>
                <a:cs typeface="+mn-lt"/>
              </a:rPr>
              <a:t>: A lack of structured datasets impacts model performance.</a:t>
            </a:r>
            <a:endParaRPr lang="en-US"/>
          </a:p>
          <a:p>
            <a:r>
              <a:rPr lang="en-US" b="1">
                <a:ea typeface="+mn-lt"/>
                <a:cs typeface="+mn-lt"/>
              </a:rPr>
              <a:t>Complex Identification Process</a:t>
            </a:r>
            <a:r>
              <a:rPr lang="en-US">
                <a:ea typeface="+mn-lt"/>
                <a:cs typeface="+mn-lt"/>
              </a:rPr>
              <a:t>: Leaf variations and seasonal changes pose challenges.</a:t>
            </a:r>
          </a:p>
          <a:p>
            <a:r>
              <a:rPr lang="en-US" b="1">
                <a:ea typeface="+mn-lt"/>
                <a:cs typeface="+mn-lt"/>
              </a:rPr>
              <a:t>Lack of Awareness</a:t>
            </a:r>
            <a:r>
              <a:rPr lang="en-US">
                <a:ea typeface="+mn-lt"/>
                <a:cs typeface="+mn-lt"/>
              </a:rPr>
              <a:t>: Users may not fully understand the medicinal uses of identified plants.</a:t>
            </a:r>
          </a:p>
          <a:p>
            <a:r>
              <a:rPr lang="en-US" b="1">
                <a:ea typeface="+mn-lt"/>
                <a:cs typeface="+mn-lt"/>
              </a:rPr>
              <a:t>Offline Accessibility Issues</a:t>
            </a:r>
            <a:r>
              <a:rPr lang="en-US">
                <a:ea typeface="+mn-lt"/>
                <a:cs typeface="+mn-lt"/>
              </a:rPr>
              <a:t>: Reliable real-time identification is difficult in rural areas.</a:t>
            </a:r>
          </a:p>
          <a:p>
            <a:r>
              <a:rPr lang="en-US" b="1">
                <a:ea typeface="+mn-lt"/>
                <a:cs typeface="+mn-lt"/>
              </a:rPr>
              <a:t>Need for Personalized Health Integration</a:t>
            </a:r>
            <a:r>
              <a:rPr lang="en-US">
                <a:ea typeface="+mn-lt"/>
                <a:cs typeface="+mn-lt"/>
              </a:rPr>
              <a:t>: Connecting identified plants to user-specific treatments remains a challenge.</a:t>
            </a:r>
          </a:p>
          <a:p>
            <a:endParaRPr lang="en-US">
              <a:ea typeface="Cambria"/>
            </a:endParaRPr>
          </a:p>
        </p:txBody>
      </p:sp>
      <p:sp>
        <p:nvSpPr>
          <p:cNvPr id="4" name="Rectangle 3">
            <a:extLst>
              <a:ext uri="{FF2B5EF4-FFF2-40B4-BE49-F238E27FC236}">
                <a16:creationId xmlns:a16="http://schemas.microsoft.com/office/drawing/2014/main" id="{561601C6-E04C-6453-4FDD-7991DC08F463}"/>
              </a:ext>
            </a:extLst>
          </p:cNvPr>
          <p:cNvSpPr/>
          <p:nvPr/>
        </p:nvSpPr>
        <p:spPr>
          <a:xfrm>
            <a:off x="2747453" y="6320346"/>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b="1">
                <a:solidFill>
                  <a:schemeClr val="tx1"/>
                </a:solidFill>
              </a:rPr>
              <a:t>IT21190520</a:t>
            </a:r>
            <a:r>
              <a:rPr lang="en-US" sz="1800">
                <a:solidFill>
                  <a:schemeClr val="tx1"/>
                </a:solidFill>
              </a:rPr>
              <a:t>   |   &lt;</a:t>
            </a:r>
            <a:r>
              <a:rPr lang="en-US" sz="1800" b="1">
                <a:solidFill>
                  <a:schemeClr val="tx1"/>
                </a:solidFill>
              </a:rPr>
              <a:t>&lt;</a:t>
            </a:r>
            <a:r>
              <a:rPr lang="en-US" b="1">
                <a:solidFill>
                  <a:schemeClr val="tx1"/>
                </a:solidFill>
              </a:rPr>
              <a:t>Kaushalya H.G.B&gt;&gt;</a:t>
            </a:r>
            <a:r>
              <a:rPr lang="en-US" sz="1800" b="1">
                <a:solidFill>
                  <a:schemeClr val="tx1"/>
                </a:solidFill>
              </a:rPr>
              <a:t>   </a:t>
            </a:r>
            <a:r>
              <a:rPr lang="en-US" sz="1800">
                <a:solidFill>
                  <a:schemeClr val="tx1"/>
                </a:solidFill>
              </a:rPr>
              <a:t>|   </a:t>
            </a:r>
            <a:r>
              <a:rPr lang="en-US">
                <a:solidFill>
                  <a:schemeClr val="tx1"/>
                </a:solidFill>
              </a:rPr>
              <a:t>&lt;&lt;R25-068&gt;&gt;</a:t>
            </a:r>
            <a:endParaRPr lang="en-US" sz="1800" b="0">
              <a:solidFill>
                <a:schemeClr val="tx1"/>
              </a:solidFill>
            </a:endParaRPr>
          </a:p>
        </p:txBody>
      </p:sp>
      <p:pic>
        <p:nvPicPr>
          <p:cNvPr id="6" name="Picture 5" descr="A cartoon character sitting on a question mark&#10;&#10;AI-generated content may be incorrect.">
            <a:extLst>
              <a:ext uri="{FF2B5EF4-FFF2-40B4-BE49-F238E27FC236}">
                <a16:creationId xmlns:a16="http://schemas.microsoft.com/office/drawing/2014/main" id="{D9762D97-DF91-BBF1-2806-E06B1098AB6F}"/>
              </a:ext>
            </a:extLst>
          </p:cNvPr>
          <p:cNvPicPr>
            <a:picLocks noChangeAspect="1"/>
          </p:cNvPicPr>
          <p:nvPr/>
        </p:nvPicPr>
        <p:blipFill>
          <a:blip r:embed="rId2"/>
          <a:stretch>
            <a:fillRect/>
          </a:stretch>
        </p:blipFill>
        <p:spPr>
          <a:xfrm>
            <a:off x="9087971" y="996846"/>
            <a:ext cx="2985174" cy="2340965"/>
          </a:xfrm>
          <a:prstGeom prst="rect">
            <a:avLst/>
          </a:prstGeom>
        </p:spPr>
      </p:pic>
    </p:spTree>
    <p:extLst>
      <p:ext uri="{BB962C8B-B14F-4D97-AF65-F5344CB8AC3E}">
        <p14:creationId xmlns:p14="http://schemas.microsoft.com/office/powerpoint/2010/main" val="21775752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1B596-6791-6070-1DC7-429ADDC8075E}"/>
              </a:ext>
            </a:extLst>
          </p:cNvPr>
          <p:cNvSpPr>
            <a:spLocks noGrp="1"/>
          </p:cNvSpPr>
          <p:nvPr>
            <p:ph type="title"/>
          </p:nvPr>
        </p:nvSpPr>
        <p:spPr/>
        <p:txBody>
          <a:bodyPr/>
          <a:lstStyle/>
          <a:p>
            <a:r>
              <a:rPr lang="en-US">
                <a:solidFill>
                  <a:srgbClr val="0070C0"/>
                </a:solidFill>
                <a:latin typeface="Arial"/>
                <a:cs typeface="Arial"/>
              </a:rPr>
              <a:t>Research</a:t>
            </a:r>
            <a:r>
              <a:rPr lang="en-US" b="1">
                <a:solidFill>
                  <a:srgbClr val="0070C0"/>
                </a:solidFill>
                <a:latin typeface="Arial"/>
                <a:cs typeface="Arial"/>
              </a:rPr>
              <a:t> </a:t>
            </a:r>
            <a:r>
              <a:rPr lang="en-US">
                <a:solidFill>
                  <a:srgbClr val="0070C0"/>
                </a:solidFill>
                <a:latin typeface="Adobe Devanagari"/>
              </a:rPr>
              <a:t>Objective</a:t>
            </a:r>
            <a:endParaRPr lang="en-US">
              <a:solidFill>
                <a:srgbClr val="0070C0"/>
              </a:solidFill>
            </a:endParaRPr>
          </a:p>
        </p:txBody>
      </p:sp>
      <p:sp>
        <p:nvSpPr>
          <p:cNvPr id="3" name="Content Placeholder 2">
            <a:extLst>
              <a:ext uri="{FF2B5EF4-FFF2-40B4-BE49-F238E27FC236}">
                <a16:creationId xmlns:a16="http://schemas.microsoft.com/office/drawing/2014/main" id="{11A5F860-15E8-B6C0-0A27-4C63BD46000B}"/>
              </a:ext>
            </a:extLst>
          </p:cNvPr>
          <p:cNvSpPr>
            <a:spLocks noGrp="1"/>
          </p:cNvSpPr>
          <p:nvPr>
            <p:ph idx="1"/>
          </p:nvPr>
        </p:nvSpPr>
        <p:spPr/>
        <p:txBody>
          <a:bodyPr vert="horz" lIns="91440" tIns="45720" rIns="91440" bIns="45720" rtlCol="0" anchor="t">
            <a:normAutofit fontScale="85000" lnSpcReduction="10000"/>
          </a:bodyPr>
          <a:lstStyle/>
          <a:p>
            <a:pPr marL="0" indent="0">
              <a:buNone/>
            </a:pPr>
            <a:r>
              <a:rPr lang="en-US" b="1">
                <a:solidFill>
                  <a:srgbClr val="00B0F0"/>
                </a:solidFill>
                <a:ea typeface="+mn-lt"/>
                <a:cs typeface="+mn-lt"/>
              </a:rPr>
              <a:t>Primary Objective:</a:t>
            </a:r>
            <a:endParaRPr lang="en-US">
              <a:solidFill>
                <a:srgbClr val="00B0F0"/>
              </a:solidFill>
              <a:ea typeface="Cambria"/>
            </a:endParaRPr>
          </a:p>
          <a:p>
            <a:r>
              <a:rPr lang="en-US">
                <a:ea typeface="+mn-lt"/>
                <a:cs typeface="+mn-lt"/>
              </a:rPr>
              <a:t>Develop an </a:t>
            </a:r>
            <a:r>
              <a:rPr lang="en-US" b="1">
                <a:ea typeface="+mn-lt"/>
                <a:cs typeface="+mn-lt"/>
              </a:rPr>
              <a:t>AI-powered plant identification system</a:t>
            </a:r>
            <a:r>
              <a:rPr lang="en-US">
                <a:ea typeface="+mn-lt"/>
                <a:cs typeface="+mn-lt"/>
              </a:rPr>
              <a:t> that accurately recognizes medicinal plant leaves and provides Ayurvedic treatment guidance for selected diseases.</a:t>
            </a:r>
          </a:p>
          <a:p>
            <a:pPr marL="0" indent="0">
              <a:buNone/>
            </a:pPr>
            <a:r>
              <a:rPr lang="en-US" b="1">
                <a:solidFill>
                  <a:srgbClr val="00B0F0"/>
                </a:solidFill>
                <a:ea typeface="+mn-lt"/>
                <a:cs typeface="+mn-lt"/>
              </a:rPr>
              <a:t>Specific Goals:</a:t>
            </a:r>
            <a:endParaRPr lang="en-US">
              <a:solidFill>
                <a:srgbClr val="00B0F0"/>
              </a:solidFill>
              <a:ea typeface="Cambria"/>
            </a:endParaRPr>
          </a:p>
          <a:p>
            <a:r>
              <a:rPr lang="en-US" b="1">
                <a:ea typeface="+mn-lt"/>
                <a:cs typeface="+mn-lt"/>
              </a:rPr>
              <a:t>Develop and train an AI model</a:t>
            </a:r>
            <a:r>
              <a:rPr lang="en-US">
                <a:ea typeface="+mn-lt"/>
                <a:cs typeface="+mn-lt"/>
              </a:rPr>
              <a:t> for accurate plant identification.</a:t>
            </a:r>
          </a:p>
          <a:p>
            <a:r>
              <a:rPr lang="en-US" b="1">
                <a:ea typeface="+mn-lt"/>
                <a:cs typeface="+mn-lt"/>
              </a:rPr>
              <a:t>Create a medicinal plant database</a:t>
            </a:r>
            <a:r>
              <a:rPr lang="en-US">
                <a:ea typeface="+mn-lt"/>
                <a:cs typeface="+mn-lt"/>
              </a:rPr>
              <a:t> with Ayurvedic treatments.</a:t>
            </a:r>
            <a:endParaRPr lang="en-US"/>
          </a:p>
          <a:p>
            <a:r>
              <a:rPr lang="en-US" b="1">
                <a:ea typeface="+mn-lt"/>
                <a:cs typeface="+mn-lt"/>
              </a:rPr>
              <a:t>Enable offline accessibility</a:t>
            </a:r>
            <a:r>
              <a:rPr lang="en-US">
                <a:ea typeface="+mn-lt"/>
                <a:cs typeface="+mn-lt"/>
              </a:rPr>
              <a:t> for rural users.</a:t>
            </a:r>
            <a:endParaRPr lang="en-US"/>
          </a:p>
          <a:p>
            <a:r>
              <a:rPr lang="en-US" b="1">
                <a:ea typeface="+mn-lt"/>
                <a:cs typeface="+mn-lt"/>
              </a:rPr>
              <a:t>Integrate Ayurvedic medicinal guidance</a:t>
            </a:r>
            <a:r>
              <a:rPr lang="en-US">
                <a:ea typeface="+mn-lt"/>
                <a:cs typeface="+mn-lt"/>
              </a:rPr>
              <a:t> into the app.</a:t>
            </a:r>
            <a:endParaRPr lang="en-US"/>
          </a:p>
          <a:p>
            <a:r>
              <a:rPr lang="en-US" b="1">
                <a:ea typeface="+mn-lt"/>
                <a:cs typeface="+mn-lt"/>
              </a:rPr>
              <a:t>Design a user-friendly mobile application</a:t>
            </a:r>
            <a:r>
              <a:rPr lang="en-US">
                <a:ea typeface="+mn-lt"/>
                <a:cs typeface="+mn-lt"/>
              </a:rPr>
              <a:t> for easy plant recognition.</a:t>
            </a:r>
          </a:p>
          <a:p>
            <a:r>
              <a:rPr lang="en-US" b="1">
                <a:ea typeface="+mn-lt"/>
                <a:cs typeface="+mn-lt"/>
              </a:rPr>
              <a:t>Improve model accuracy</a:t>
            </a:r>
            <a:r>
              <a:rPr lang="en-US">
                <a:ea typeface="+mn-lt"/>
                <a:cs typeface="+mn-lt"/>
              </a:rPr>
              <a:t> with diverse plant leaf images.</a:t>
            </a:r>
          </a:p>
          <a:p>
            <a:endParaRPr lang="en-US">
              <a:ea typeface="Cambria"/>
            </a:endParaRPr>
          </a:p>
          <a:p>
            <a:endParaRPr lang="en-US">
              <a:ea typeface="Cambria"/>
            </a:endParaRPr>
          </a:p>
        </p:txBody>
      </p:sp>
      <p:sp>
        <p:nvSpPr>
          <p:cNvPr id="6" name="Rectangle 5">
            <a:extLst>
              <a:ext uri="{FF2B5EF4-FFF2-40B4-BE49-F238E27FC236}">
                <a16:creationId xmlns:a16="http://schemas.microsoft.com/office/drawing/2014/main" id="{D2273160-5411-3D21-62DE-DE137D4D9A3A}"/>
              </a:ext>
            </a:extLst>
          </p:cNvPr>
          <p:cNvSpPr/>
          <p:nvPr/>
        </p:nvSpPr>
        <p:spPr>
          <a:xfrm>
            <a:off x="2747453" y="6320346"/>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b="1">
                <a:solidFill>
                  <a:schemeClr val="tx1"/>
                </a:solidFill>
              </a:rPr>
              <a:t>IT21190520</a:t>
            </a:r>
            <a:r>
              <a:rPr lang="en-US" sz="1800">
                <a:solidFill>
                  <a:schemeClr val="tx1"/>
                </a:solidFill>
              </a:rPr>
              <a:t>   |   &lt;</a:t>
            </a:r>
            <a:r>
              <a:rPr lang="en-US" sz="1800" b="1">
                <a:solidFill>
                  <a:schemeClr val="tx1"/>
                </a:solidFill>
              </a:rPr>
              <a:t>&lt;</a:t>
            </a:r>
            <a:r>
              <a:rPr lang="en-US" b="1">
                <a:solidFill>
                  <a:schemeClr val="tx1"/>
                </a:solidFill>
              </a:rPr>
              <a:t>Kaushalya H.G.B&gt;&gt;</a:t>
            </a:r>
            <a:r>
              <a:rPr lang="en-US" sz="1800" b="1">
                <a:solidFill>
                  <a:schemeClr val="tx1"/>
                </a:solidFill>
              </a:rPr>
              <a:t>   </a:t>
            </a:r>
            <a:r>
              <a:rPr lang="en-US" sz="1800">
                <a:solidFill>
                  <a:schemeClr val="tx1"/>
                </a:solidFill>
              </a:rPr>
              <a:t>|   </a:t>
            </a:r>
            <a:r>
              <a:rPr lang="en-US">
                <a:solidFill>
                  <a:schemeClr val="tx1"/>
                </a:solidFill>
              </a:rPr>
              <a:t>&lt;&lt;R25-068&gt;&gt;</a:t>
            </a:r>
            <a:endParaRPr lang="en-US" sz="1800" b="0">
              <a:solidFill>
                <a:schemeClr val="tx1"/>
              </a:solidFill>
            </a:endParaRPr>
          </a:p>
        </p:txBody>
      </p:sp>
      <p:pic>
        <p:nvPicPr>
          <p:cNvPr id="4" name="Picture 3" descr="A puzzle with text on it&#10;&#10;AI-generated content may be incorrect.">
            <a:extLst>
              <a:ext uri="{FF2B5EF4-FFF2-40B4-BE49-F238E27FC236}">
                <a16:creationId xmlns:a16="http://schemas.microsoft.com/office/drawing/2014/main" id="{8D62D492-CF19-9F78-B9D2-D3725CE10A4C}"/>
              </a:ext>
            </a:extLst>
          </p:cNvPr>
          <p:cNvPicPr>
            <a:picLocks noChangeAspect="1"/>
          </p:cNvPicPr>
          <p:nvPr/>
        </p:nvPicPr>
        <p:blipFill>
          <a:blip r:embed="rId2"/>
          <a:stretch>
            <a:fillRect/>
          </a:stretch>
        </p:blipFill>
        <p:spPr>
          <a:xfrm>
            <a:off x="9841685" y="300711"/>
            <a:ext cx="1918493" cy="1283898"/>
          </a:xfrm>
          <a:prstGeom prst="rect">
            <a:avLst/>
          </a:prstGeom>
        </p:spPr>
      </p:pic>
    </p:spTree>
    <p:extLst>
      <p:ext uri="{BB962C8B-B14F-4D97-AF65-F5344CB8AC3E}">
        <p14:creationId xmlns:p14="http://schemas.microsoft.com/office/powerpoint/2010/main" val="289806732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2E470639-CFF4-05AC-334E-80177C064F06}"/>
              </a:ext>
            </a:extLst>
          </p:cNvPr>
          <p:cNvSpPr>
            <a:spLocks noGrp="1"/>
          </p:cNvSpPr>
          <p:nvPr>
            <p:ph type="title"/>
          </p:nvPr>
        </p:nvSpPr>
        <p:spPr>
          <a:xfrm>
            <a:off x="204866" y="-412183"/>
            <a:ext cx="3826656" cy="2366128"/>
          </a:xfrm>
        </p:spPr>
        <p:txBody>
          <a:bodyPr>
            <a:normAutofit fontScale="90000"/>
          </a:bodyPr>
          <a:lstStyle/>
          <a:p>
            <a:br>
              <a:rPr lang="en-US">
                <a:latin typeface="Adobe Devanagari"/>
              </a:rPr>
            </a:br>
            <a:br>
              <a:rPr lang="en-US">
                <a:latin typeface="Adobe Devanagari"/>
              </a:rPr>
            </a:br>
            <a:r>
              <a:rPr lang="en-US" sz="4000" b="1" cap="all">
                <a:solidFill>
                  <a:srgbClr val="2327DE"/>
                </a:solidFill>
                <a:latin typeface="Arial"/>
                <a:cs typeface="Arial"/>
              </a:rPr>
              <a:t>Methodology</a:t>
            </a:r>
            <a:br>
              <a:rPr lang="en-US" sz="4000">
                <a:latin typeface="Adobe Devanagari"/>
              </a:rPr>
            </a:br>
            <a:r>
              <a:rPr lang="en-US" sz="4000">
                <a:solidFill>
                  <a:schemeClr val="accent1"/>
                </a:solidFill>
                <a:latin typeface="Adobe Devanagari"/>
              </a:rPr>
              <a:t>System Diagram </a:t>
            </a:r>
            <a:br>
              <a:rPr lang="en-US" sz="4000">
                <a:latin typeface="Adobe Devanagari"/>
              </a:rPr>
            </a:br>
            <a:endParaRPr lang="en-US">
              <a:solidFill>
                <a:schemeClr val="accent1"/>
              </a:solidFill>
            </a:endParaRPr>
          </a:p>
        </p:txBody>
      </p:sp>
      <p:sp>
        <p:nvSpPr>
          <p:cNvPr id="9" name="Rectangle 8">
            <a:extLst>
              <a:ext uri="{FF2B5EF4-FFF2-40B4-BE49-F238E27FC236}">
                <a16:creationId xmlns:a16="http://schemas.microsoft.com/office/drawing/2014/main" id="{091A6651-558B-7F54-6800-78996017B144}"/>
              </a:ext>
            </a:extLst>
          </p:cNvPr>
          <p:cNvSpPr/>
          <p:nvPr/>
        </p:nvSpPr>
        <p:spPr>
          <a:xfrm>
            <a:off x="2821506" y="6328323"/>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b="1">
                <a:solidFill>
                  <a:schemeClr val="tx1"/>
                </a:solidFill>
              </a:rPr>
              <a:t>IT21190520</a:t>
            </a:r>
            <a:r>
              <a:rPr lang="en-US">
                <a:solidFill>
                  <a:schemeClr val="tx1"/>
                </a:solidFill>
              </a:rPr>
              <a:t> </a:t>
            </a:r>
            <a:r>
              <a:rPr lang="en-US" sz="1800">
                <a:solidFill>
                  <a:schemeClr val="tx1"/>
                </a:solidFill>
              </a:rPr>
              <a:t>| &lt;</a:t>
            </a:r>
            <a:r>
              <a:rPr lang="en-US" sz="1800" b="1">
                <a:solidFill>
                  <a:schemeClr val="tx1"/>
                </a:solidFill>
              </a:rPr>
              <a:t>&lt;</a:t>
            </a:r>
            <a:r>
              <a:rPr lang="en-US" b="1">
                <a:solidFill>
                  <a:schemeClr val="tx1"/>
                </a:solidFill>
              </a:rPr>
              <a:t>Kaushalya H.G.B&gt;&gt;</a:t>
            </a:r>
            <a:r>
              <a:rPr lang="en-US" sz="1800" b="1">
                <a:solidFill>
                  <a:schemeClr val="tx1"/>
                </a:solidFill>
              </a:rPr>
              <a:t> </a:t>
            </a:r>
            <a:r>
              <a:rPr lang="en-US" sz="1800">
                <a:solidFill>
                  <a:schemeClr val="tx1"/>
                </a:solidFill>
              </a:rPr>
              <a:t>| </a:t>
            </a:r>
            <a:r>
              <a:rPr lang="en-US" sz="1800" b="0">
                <a:solidFill>
                  <a:schemeClr val="tx1"/>
                </a:solidFill>
              </a:rPr>
              <a:t>&lt;&lt;</a:t>
            </a:r>
            <a:r>
              <a:rPr lang="en-US">
                <a:solidFill>
                  <a:schemeClr val="tx1"/>
                </a:solidFill>
              </a:rPr>
              <a:t>R25-068</a:t>
            </a:r>
            <a:r>
              <a:rPr lang="en-US" sz="1800" b="0">
                <a:solidFill>
                  <a:schemeClr val="tx1"/>
                </a:solidFill>
              </a:rPr>
              <a:t>&gt;&gt;</a:t>
            </a:r>
            <a:endParaRPr lang="en-US">
              <a:solidFill>
                <a:schemeClr val="tx1"/>
              </a:solidFill>
            </a:endParaRPr>
          </a:p>
        </p:txBody>
      </p:sp>
      <p:pic>
        <p:nvPicPr>
          <p:cNvPr id="4" name="Content Placeholder 3" descr="A diagram of a computer system&#10;&#10;AI-generated content may be incorrect.">
            <a:extLst>
              <a:ext uri="{FF2B5EF4-FFF2-40B4-BE49-F238E27FC236}">
                <a16:creationId xmlns:a16="http://schemas.microsoft.com/office/drawing/2014/main" id="{D3D469BB-83DB-7F33-3BA9-D74946B5E394}"/>
              </a:ext>
            </a:extLst>
          </p:cNvPr>
          <p:cNvPicPr>
            <a:picLocks noGrp="1" noChangeAspect="1"/>
          </p:cNvPicPr>
          <p:nvPr>
            <p:ph idx="1"/>
          </p:nvPr>
        </p:nvPicPr>
        <p:blipFill>
          <a:blip r:embed="rId2"/>
          <a:stretch>
            <a:fillRect/>
          </a:stretch>
        </p:blipFill>
        <p:spPr>
          <a:xfrm>
            <a:off x="6938946" y="654238"/>
            <a:ext cx="5070369" cy="5312228"/>
          </a:xfrm>
        </p:spPr>
      </p:pic>
      <p:sp>
        <p:nvSpPr>
          <p:cNvPr id="3" name="TextBox 2">
            <a:extLst>
              <a:ext uri="{FF2B5EF4-FFF2-40B4-BE49-F238E27FC236}">
                <a16:creationId xmlns:a16="http://schemas.microsoft.com/office/drawing/2014/main" id="{72BC8FD2-3C97-E8D9-E017-0592B88D7ECC}"/>
              </a:ext>
            </a:extLst>
          </p:cNvPr>
          <p:cNvSpPr txBox="1"/>
          <p:nvPr/>
        </p:nvSpPr>
        <p:spPr>
          <a:xfrm>
            <a:off x="1" y="2228490"/>
            <a:ext cx="6225393"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User Uploads Leaf Image</a:t>
            </a:r>
            <a:r>
              <a:rPr lang="en-US">
                <a:ea typeface="+mn-lt"/>
                <a:cs typeface="+mn-lt"/>
              </a:rPr>
              <a:t> → 2. </a:t>
            </a:r>
            <a:r>
              <a:rPr lang="en-US" b="1">
                <a:ea typeface="+mn-lt"/>
                <a:cs typeface="+mn-lt"/>
              </a:rPr>
              <a:t>Image Preprocessing (Enhancement &amp; Segmentation)</a:t>
            </a:r>
            <a:r>
              <a:rPr lang="en-US">
                <a:ea typeface="+mn-lt"/>
                <a:cs typeface="+mn-lt"/>
              </a:rPr>
              <a:t> → 3. </a:t>
            </a:r>
            <a:r>
              <a:rPr lang="en-US" b="1">
                <a:ea typeface="+mn-lt"/>
                <a:cs typeface="+mn-lt"/>
              </a:rPr>
              <a:t>AI Model Identifies the Plant</a:t>
            </a:r>
            <a:r>
              <a:rPr lang="en-US">
                <a:ea typeface="+mn-lt"/>
                <a:cs typeface="+mn-lt"/>
              </a:rPr>
              <a:t> → 4. </a:t>
            </a:r>
            <a:r>
              <a:rPr lang="en-US" b="1">
                <a:ea typeface="+mn-lt"/>
                <a:cs typeface="+mn-lt"/>
              </a:rPr>
              <a:t>Displays Plant Name, Medicinal Properties, and Usage Guidance</a:t>
            </a:r>
            <a:endParaRPr lang="en-US"/>
          </a:p>
          <a:p>
            <a:pPr algn="l"/>
            <a:endParaRPr lang="en-US">
              <a:ea typeface="Cambria"/>
            </a:endParaRPr>
          </a:p>
        </p:txBody>
      </p:sp>
    </p:spTree>
    <p:extLst>
      <p:ext uri="{BB962C8B-B14F-4D97-AF65-F5344CB8AC3E}">
        <p14:creationId xmlns:p14="http://schemas.microsoft.com/office/powerpoint/2010/main" val="17672115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01162-8C5D-1C67-FE6F-475666B750E6}"/>
              </a:ext>
            </a:extLst>
          </p:cNvPr>
          <p:cNvSpPr>
            <a:spLocks noGrp="1"/>
          </p:cNvSpPr>
          <p:nvPr>
            <p:ph type="title"/>
          </p:nvPr>
        </p:nvSpPr>
        <p:spPr/>
        <p:txBody>
          <a:bodyPr>
            <a:normAutofit/>
          </a:bodyPr>
          <a:lstStyle/>
          <a:p>
            <a:r>
              <a:rPr lang="en-US" sz="4000" b="1" cap="all">
                <a:solidFill>
                  <a:schemeClr val="tx2"/>
                </a:solidFill>
                <a:latin typeface="Arial"/>
                <a:cs typeface="Arial"/>
              </a:rPr>
              <a:t>Technologies Be Used </a:t>
            </a:r>
          </a:p>
        </p:txBody>
      </p:sp>
      <p:pic>
        <p:nvPicPr>
          <p:cNvPr id="43" name="Content Placeholder 4" descr="A couple of logos of a computer company&#10;&#10;AI-generated content may be incorrect.">
            <a:extLst>
              <a:ext uri="{FF2B5EF4-FFF2-40B4-BE49-F238E27FC236}">
                <a16:creationId xmlns:a16="http://schemas.microsoft.com/office/drawing/2014/main" id="{4037D432-4A7D-5770-3E8C-B7305FBDEF05}"/>
              </a:ext>
            </a:extLst>
          </p:cNvPr>
          <p:cNvPicPr>
            <a:picLocks noChangeAspect="1"/>
          </p:cNvPicPr>
          <p:nvPr/>
        </p:nvPicPr>
        <p:blipFill>
          <a:blip r:embed="rId2"/>
          <a:stretch>
            <a:fillRect/>
          </a:stretch>
        </p:blipFill>
        <p:spPr>
          <a:xfrm>
            <a:off x="4874812" y="1180221"/>
            <a:ext cx="2267208" cy="1198765"/>
          </a:xfrm>
          <a:prstGeom prst="rect">
            <a:avLst/>
          </a:prstGeom>
        </p:spPr>
      </p:pic>
      <p:pic>
        <p:nvPicPr>
          <p:cNvPr id="45" name="Picture 44" descr="A blue and white logo&#10;&#10;AI-generated content may be incorrect.">
            <a:extLst>
              <a:ext uri="{FF2B5EF4-FFF2-40B4-BE49-F238E27FC236}">
                <a16:creationId xmlns:a16="http://schemas.microsoft.com/office/drawing/2014/main" id="{BB264CBA-0971-0854-EDD4-091790B2FD66}"/>
              </a:ext>
            </a:extLst>
          </p:cNvPr>
          <p:cNvPicPr>
            <a:picLocks noChangeAspect="1"/>
          </p:cNvPicPr>
          <p:nvPr/>
        </p:nvPicPr>
        <p:blipFill>
          <a:blip r:embed="rId3"/>
          <a:stretch>
            <a:fillRect/>
          </a:stretch>
        </p:blipFill>
        <p:spPr>
          <a:xfrm>
            <a:off x="5453254" y="4247808"/>
            <a:ext cx="2214449" cy="1295428"/>
          </a:xfrm>
          <a:prstGeom prst="rect">
            <a:avLst/>
          </a:prstGeom>
        </p:spPr>
      </p:pic>
      <p:pic>
        <p:nvPicPr>
          <p:cNvPr id="47" name="Picture 46" descr="A red and black logo&#10;&#10;AI-generated content may be incorrect.">
            <a:extLst>
              <a:ext uri="{FF2B5EF4-FFF2-40B4-BE49-F238E27FC236}">
                <a16:creationId xmlns:a16="http://schemas.microsoft.com/office/drawing/2014/main" id="{1F981ED8-E60E-8132-5D00-633F14279967}"/>
              </a:ext>
            </a:extLst>
          </p:cNvPr>
          <p:cNvPicPr>
            <a:picLocks noChangeAspect="1"/>
          </p:cNvPicPr>
          <p:nvPr/>
        </p:nvPicPr>
        <p:blipFill>
          <a:blip r:embed="rId4"/>
          <a:stretch>
            <a:fillRect/>
          </a:stretch>
        </p:blipFill>
        <p:spPr>
          <a:xfrm>
            <a:off x="6351885" y="2820498"/>
            <a:ext cx="2800916" cy="1009856"/>
          </a:xfrm>
          <a:prstGeom prst="rect">
            <a:avLst/>
          </a:prstGeom>
        </p:spPr>
      </p:pic>
      <p:pic>
        <p:nvPicPr>
          <p:cNvPr id="49" name="Picture 48">
            <a:extLst>
              <a:ext uri="{FF2B5EF4-FFF2-40B4-BE49-F238E27FC236}">
                <a16:creationId xmlns:a16="http://schemas.microsoft.com/office/drawing/2014/main" id="{B1773E8C-083F-F71B-1F3B-5F6103F6D188}"/>
              </a:ext>
            </a:extLst>
          </p:cNvPr>
          <p:cNvPicPr>
            <a:picLocks noChangeAspect="1"/>
          </p:cNvPicPr>
          <p:nvPr/>
        </p:nvPicPr>
        <p:blipFill>
          <a:blip r:embed="rId5"/>
          <a:stretch>
            <a:fillRect/>
          </a:stretch>
        </p:blipFill>
        <p:spPr>
          <a:xfrm>
            <a:off x="9866643" y="1013759"/>
            <a:ext cx="2224205" cy="1416429"/>
          </a:xfrm>
          <a:prstGeom prst="rect">
            <a:avLst/>
          </a:prstGeom>
        </p:spPr>
      </p:pic>
      <p:pic>
        <p:nvPicPr>
          <p:cNvPr id="51" name="Picture 50" descr="A logo with a letter f&#10;&#10;AI-generated content may be incorrect.">
            <a:extLst>
              <a:ext uri="{FF2B5EF4-FFF2-40B4-BE49-F238E27FC236}">
                <a16:creationId xmlns:a16="http://schemas.microsoft.com/office/drawing/2014/main" id="{CFF40C8E-DFBF-ADA0-1025-2ED9343A7DBD}"/>
              </a:ext>
            </a:extLst>
          </p:cNvPr>
          <p:cNvPicPr>
            <a:picLocks noChangeAspect="1"/>
          </p:cNvPicPr>
          <p:nvPr/>
        </p:nvPicPr>
        <p:blipFill>
          <a:blip r:embed="rId6"/>
          <a:stretch>
            <a:fillRect/>
          </a:stretch>
        </p:blipFill>
        <p:spPr>
          <a:xfrm>
            <a:off x="9762791" y="2428481"/>
            <a:ext cx="2273986" cy="1547572"/>
          </a:xfrm>
          <a:prstGeom prst="rect">
            <a:avLst/>
          </a:prstGeom>
        </p:spPr>
      </p:pic>
      <p:pic>
        <p:nvPicPr>
          <p:cNvPr id="53" name="Picture 52" descr="A yellow folded paper with white text&#10;&#10;AI-generated content may be incorrect.">
            <a:extLst>
              <a:ext uri="{FF2B5EF4-FFF2-40B4-BE49-F238E27FC236}">
                <a16:creationId xmlns:a16="http://schemas.microsoft.com/office/drawing/2014/main" id="{532EF58F-60A5-DAEE-6A17-924FF36A7786}"/>
              </a:ext>
            </a:extLst>
          </p:cNvPr>
          <p:cNvPicPr>
            <a:picLocks noChangeAspect="1"/>
          </p:cNvPicPr>
          <p:nvPr/>
        </p:nvPicPr>
        <p:blipFill>
          <a:blip r:embed="rId7"/>
          <a:stretch>
            <a:fillRect/>
          </a:stretch>
        </p:blipFill>
        <p:spPr>
          <a:xfrm>
            <a:off x="7905895" y="4246515"/>
            <a:ext cx="1037789" cy="1306313"/>
          </a:xfrm>
          <a:prstGeom prst="rect">
            <a:avLst/>
          </a:prstGeom>
        </p:spPr>
      </p:pic>
      <p:pic>
        <p:nvPicPr>
          <p:cNvPr id="55" name="Picture 54" descr="A logo with a cat head&#10;&#10;AI-generated content may be incorrect.">
            <a:extLst>
              <a:ext uri="{FF2B5EF4-FFF2-40B4-BE49-F238E27FC236}">
                <a16:creationId xmlns:a16="http://schemas.microsoft.com/office/drawing/2014/main" id="{D6DB8CD7-C1F4-8AC0-3F96-CADEB99FF6C7}"/>
              </a:ext>
            </a:extLst>
          </p:cNvPr>
          <p:cNvPicPr>
            <a:picLocks noChangeAspect="1"/>
          </p:cNvPicPr>
          <p:nvPr/>
        </p:nvPicPr>
        <p:blipFill>
          <a:blip r:embed="rId8"/>
          <a:stretch>
            <a:fillRect/>
          </a:stretch>
        </p:blipFill>
        <p:spPr>
          <a:xfrm>
            <a:off x="9062861" y="4248558"/>
            <a:ext cx="3031467" cy="1556708"/>
          </a:xfrm>
          <a:prstGeom prst="rect">
            <a:avLst/>
          </a:prstGeom>
        </p:spPr>
      </p:pic>
      <p:sp>
        <p:nvSpPr>
          <p:cNvPr id="57" name="Rectangle 56">
            <a:extLst>
              <a:ext uri="{FF2B5EF4-FFF2-40B4-BE49-F238E27FC236}">
                <a16:creationId xmlns:a16="http://schemas.microsoft.com/office/drawing/2014/main" id="{A3955283-C2A8-B8AF-B627-523B15F25BE4}"/>
              </a:ext>
            </a:extLst>
          </p:cNvPr>
          <p:cNvSpPr/>
          <p:nvPr/>
        </p:nvSpPr>
        <p:spPr>
          <a:xfrm>
            <a:off x="2948737" y="6492874"/>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b="1">
                <a:solidFill>
                  <a:schemeClr val="tx1"/>
                </a:solidFill>
              </a:rPr>
              <a:t>IT21190520</a:t>
            </a:r>
            <a:r>
              <a:rPr lang="en-US" sz="1800">
                <a:solidFill>
                  <a:schemeClr val="tx1"/>
                </a:solidFill>
              </a:rPr>
              <a:t>| &lt;</a:t>
            </a:r>
            <a:r>
              <a:rPr lang="en-US" sz="1800" b="1">
                <a:solidFill>
                  <a:schemeClr val="tx1"/>
                </a:solidFill>
              </a:rPr>
              <a:t>&lt;</a:t>
            </a:r>
            <a:r>
              <a:rPr lang="en-US" b="1">
                <a:solidFill>
                  <a:schemeClr val="tx1"/>
                </a:solidFill>
              </a:rPr>
              <a:t>Kaushalya H.G.B&gt;&gt;</a:t>
            </a:r>
            <a:r>
              <a:rPr lang="en-US" sz="1800" b="1">
                <a:solidFill>
                  <a:schemeClr val="tx1"/>
                </a:solidFill>
              </a:rPr>
              <a:t> </a:t>
            </a:r>
            <a:r>
              <a:rPr lang="en-US" sz="1800">
                <a:solidFill>
                  <a:schemeClr val="tx1"/>
                </a:solidFill>
              </a:rPr>
              <a:t>| </a:t>
            </a:r>
            <a:r>
              <a:rPr lang="en-US" sz="1800" b="0">
                <a:solidFill>
                  <a:schemeClr val="tx1"/>
                </a:solidFill>
              </a:rPr>
              <a:t>&lt;&lt;</a:t>
            </a:r>
            <a:r>
              <a:rPr lang="en-US">
                <a:solidFill>
                  <a:schemeClr val="tx1"/>
                </a:solidFill>
              </a:rPr>
              <a:t>R25-068</a:t>
            </a:r>
            <a:r>
              <a:rPr lang="en-US" sz="1800" b="0">
                <a:solidFill>
                  <a:schemeClr val="tx1"/>
                </a:solidFill>
              </a:rPr>
              <a:t>&gt;&gt;</a:t>
            </a:r>
            <a:endParaRPr lang="en-US">
              <a:solidFill>
                <a:schemeClr val="tx1"/>
              </a:solidFill>
            </a:endParaRPr>
          </a:p>
        </p:txBody>
      </p:sp>
      <p:pic>
        <p:nvPicPr>
          <p:cNvPr id="4" name="Picture 3" descr="A logo with a smile&#10;&#10;AI-generated content may be incorrect.">
            <a:extLst>
              <a:ext uri="{FF2B5EF4-FFF2-40B4-BE49-F238E27FC236}">
                <a16:creationId xmlns:a16="http://schemas.microsoft.com/office/drawing/2014/main" id="{98F8B80D-F72A-918D-240B-72B5E4E53FEC}"/>
              </a:ext>
            </a:extLst>
          </p:cNvPr>
          <p:cNvPicPr>
            <a:picLocks noChangeAspect="1"/>
          </p:cNvPicPr>
          <p:nvPr/>
        </p:nvPicPr>
        <p:blipFill>
          <a:blip r:embed="rId9"/>
          <a:stretch>
            <a:fillRect/>
          </a:stretch>
        </p:blipFill>
        <p:spPr>
          <a:xfrm>
            <a:off x="7476791" y="1122381"/>
            <a:ext cx="1876216" cy="1312538"/>
          </a:xfrm>
          <a:prstGeom prst="rect">
            <a:avLst/>
          </a:prstGeom>
        </p:spPr>
      </p:pic>
      <p:sp>
        <p:nvSpPr>
          <p:cNvPr id="6" name="TextBox 5">
            <a:extLst>
              <a:ext uri="{FF2B5EF4-FFF2-40B4-BE49-F238E27FC236}">
                <a16:creationId xmlns:a16="http://schemas.microsoft.com/office/drawing/2014/main" id="{B9159381-99EC-39A1-39BE-26C5817AC683}"/>
              </a:ext>
            </a:extLst>
          </p:cNvPr>
          <p:cNvSpPr txBox="1"/>
          <p:nvPr/>
        </p:nvSpPr>
        <p:spPr>
          <a:xfrm>
            <a:off x="146136" y="1101345"/>
            <a:ext cx="4301587"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b="1">
              <a:ea typeface="Cambria"/>
            </a:endParaRPr>
          </a:p>
          <a:p>
            <a:pPr marL="285750" indent="-285750">
              <a:buFont typeface="Arial"/>
              <a:buChar char="•"/>
            </a:pPr>
            <a:r>
              <a:rPr lang="en-US" b="1">
                <a:ea typeface="+mn-lt"/>
                <a:cs typeface="+mn-lt"/>
              </a:rPr>
              <a:t>Image Processing</a:t>
            </a:r>
            <a:r>
              <a:rPr lang="en-US">
                <a:ea typeface="+mn-lt"/>
                <a:cs typeface="+mn-lt"/>
              </a:rPr>
              <a:t>: OpenCV</a:t>
            </a:r>
            <a:endParaRPr lang="en-US"/>
          </a:p>
          <a:p>
            <a:pPr marL="285750" indent="-285750">
              <a:buFont typeface="Arial"/>
              <a:buChar char="•"/>
            </a:pPr>
            <a:r>
              <a:rPr lang="en-US" b="1">
                <a:ea typeface="+mn-lt"/>
                <a:cs typeface="+mn-lt"/>
              </a:rPr>
              <a:t>Machine Learning Model</a:t>
            </a:r>
            <a:r>
              <a:rPr lang="en-US">
                <a:ea typeface="+mn-lt"/>
                <a:cs typeface="+mn-lt"/>
              </a:rPr>
              <a:t>: TensorFlow / </a:t>
            </a:r>
            <a:r>
              <a:rPr lang="en-US" err="1">
                <a:ea typeface="+mn-lt"/>
                <a:cs typeface="+mn-lt"/>
              </a:rPr>
              <a:t>PyTorch</a:t>
            </a:r>
            <a:endParaRPr lang="en-US" err="1"/>
          </a:p>
          <a:p>
            <a:pPr marL="285750" indent="-285750">
              <a:buFont typeface="Arial"/>
              <a:buChar char="•"/>
            </a:pPr>
            <a:r>
              <a:rPr lang="en-US" b="1">
                <a:ea typeface="+mn-lt"/>
                <a:cs typeface="+mn-lt"/>
              </a:rPr>
              <a:t>Database</a:t>
            </a:r>
            <a:r>
              <a:rPr lang="en-US">
                <a:ea typeface="+mn-lt"/>
                <a:cs typeface="+mn-lt"/>
              </a:rPr>
              <a:t>: MongoDB (for storing plant data)</a:t>
            </a:r>
            <a:endParaRPr lang="en-US"/>
          </a:p>
          <a:p>
            <a:pPr marL="285750" indent="-285750">
              <a:buFont typeface="Arial"/>
              <a:buChar char="•"/>
            </a:pPr>
            <a:r>
              <a:rPr lang="en-US" b="1">
                <a:ea typeface="+mn-lt"/>
                <a:cs typeface="+mn-lt"/>
              </a:rPr>
              <a:t>Mobile App Development</a:t>
            </a:r>
            <a:r>
              <a:rPr lang="en-US">
                <a:ea typeface="+mn-lt"/>
                <a:cs typeface="+mn-lt"/>
              </a:rPr>
              <a:t>: Flutter</a:t>
            </a:r>
            <a:endParaRPr lang="en-US"/>
          </a:p>
          <a:p>
            <a:pPr algn="l"/>
            <a:endParaRPr lang="en-US">
              <a:ea typeface="Cambria"/>
            </a:endParaRPr>
          </a:p>
        </p:txBody>
      </p:sp>
    </p:spTree>
    <p:extLst>
      <p:ext uri="{BB962C8B-B14F-4D97-AF65-F5344CB8AC3E}">
        <p14:creationId xmlns:p14="http://schemas.microsoft.com/office/powerpoint/2010/main" val="288978625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DA24B-459E-AA74-2A4C-42609CF4CF7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FB5952B-019E-F409-8A97-E612B2A59986}"/>
              </a:ext>
            </a:extLst>
          </p:cNvPr>
          <p:cNvSpPr>
            <a:spLocks noGrp="1"/>
          </p:cNvSpPr>
          <p:nvPr>
            <p:ph type="title"/>
          </p:nvPr>
        </p:nvSpPr>
        <p:spPr>
          <a:noFill/>
        </p:spPr>
        <p:txBody>
          <a:bodyPr>
            <a:normAutofit/>
          </a:bodyPr>
          <a:lstStyle/>
          <a:p>
            <a:r>
              <a:rPr lang="en-US" sz="3000" b="1">
                <a:solidFill>
                  <a:schemeClr val="accent1"/>
                </a:solidFill>
                <a:latin typeface="Arial"/>
                <a:cs typeface="Arial"/>
              </a:rPr>
              <a:t>Requirements Specification</a:t>
            </a:r>
            <a:endParaRPr lang="en-US">
              <a:solidFill>
                <a:schemeClr val="accent1"/>
              </a:solidFill>
            </a:endParaRPr>
          </a:p>
        </p:txBody>
      </p:sp>
      <p:sp>
        <p:nvSpPr>
          <p:cNvPr id="6" name="Content Placeholder 5">
            <a:extLst>
              <a:ext uri="{FF2B5EF4-FFF2-40B4-BE49-F238E27FC236}">
                <a16:creationId xmlns:a16="http://schemas.microsoft.com/office/drawing/2014/main" id="{73D622C3-B721-FAEC-A841-F78C07D6331C}"/>
              </a:ext>
            </a:extLst>
          </p:cNvPr>
          <p:cNvSpPr>
            <a:spLocks noGrp="1"/>
          </p:cNvSpPr>
          <p:nvPr>
            <p:ph idx="1"/>
          </p:nvPr>
        </p:nvSpPr>
        <p:spPr/>
        <p:txBody>
          <a:bodyPr vert="horz" lIns="91440" tIns="45720" rIns="91440" bIns="45720" rtlCol="0" anchor="t">
            <a:normAutofit fontScale="70000" lnSpcReduction="20000"/>
          </a:bodyPr>
          <a:lstStyle/>
          <a:p>
            <a:pPr>
              <a:buNone/>
            </a:pPr>
            <a:r>
              <a:rPr lang="en-US" b="1">
                <a:solidFill>
                  <a:srgbClr val="00B0F0"/>
                </a:solidFill>
                <a:ea typeface="+mn-lt"/>
                <a:cs typeface="+mn-lt"/>
              </a:rPr>
              <a:t>Functional Requirements</a:t>
            </a:r>
            <a:endParaRPr lang="en-US">
              <a:solidFill>
                <a:srgbClr val="00B0F0"/>
              </a:solidFill>
            </a:endParaRPr>
          </a:p>
          <a:p>
            <a:pPr>
              <a:buFont typeface="Arial"/>
              <a:buChar char="•"/>
            </a:pPr>
            <a:r>
              <a:rPr lang="en-US" b="1">
                <a:ea typeface="+mn-lt"/>
                <a:cs typeface="+mn-lt"/>
              </a:rPr>
              <a:t>Image-based plant identification</a:t>
            </a:r>
            <a:r>
              <a:rPr lang="en-US">
                <a:ea typeface="+mn-lt"/>
                <a:cs typeface="+mn-lt"/>
              </a:rPr>
              <a:t> (no live camera capture).</a:t>
            </a:r>
          </a:p>
          <a:p>
            <a:pPr>
              <a:buFont typeface="Arial"/>
              <a:buChar char="•"/>
            </a:pPr>
            <a:r>
              <a:rPr lang="en-US" b="1">
                <a:ea typeface="+mn-lt"/>
                <a:cs typeface="+mn-lt"/>
              </a:rPr>
              <a:t>Database of common medicinal plants</a:t>
            </a:r>
            <a:r>
              <a:rPr lang="en-US">
                <a:ea typeface="+mn-lt"/>
                <a:cs typeface="+mn-lt"/>
              </a:rPr>
              <a:t> related to five diseases.</a:t>
            </a:r>
          </a:p>
          <a:p>
            <a:pPr>
              <a:buFont typeface="Arial"/>
              <a:buChar char="•"/>
            </a:pPr>
            <a:r>
              <a:rPr lang="en-US" b="1">
                <a:ea typeface="+mn-lt"/>
                <a:cs typeface="+mn-lt"/>
              </a:rPr>
              <a:t>Display of plant details and Ayurvedic usage recommendations</a:t>
            </a:r>
            <a:r>
              <a:rPr lang="en-US">
                <a:ea typeface="+mn-lt"/>
                <a:cs typeface="+mn-lt"/>
              </a:rPr>
              <a:t>.</a:t>
            </a:r>
          </a:p>
          <a:p>
            <a:pPr>
              <a:buFont typeface="Arial"/>
              <a:buChar char="•"/>
            </a:pPr>
            <a:r>
              <a:rPr lang="en-US" b="1">
                <a:ea typeface="+mn-lt"/>
                <a:cs typeface="+mn-lt"/>
              </a:rPr>
              <a:t>Offline accessibility</a:t>
            </a:r>
            <a:r>
              <a:rPr lang="en-US">
                <a:ea typeface="+mn-lt"/>
                <a:cs typeface="+mn-lt"/>
              </a:rPr>
              <a:t> for plant identification.</a:t>
            </a:r>
          </a:p>
          <a:p>
            <a:pPr marL="0" indent="0">
              <a:buNone/>
            </a:pPr>
            <a:r>
              <a:rPr lang="en-US" b="1">
                <a:solidFill>
                  <a:srgbClr val="00B0F0"/>
                </a:solidFill>
                <a:ea typeface="+mn-lt"/>
                <a:cs typeface="+mn-lt"/>
              </a:rPr>
              <a:t>Non-Functional Requirements</a:t>
            </a:r>
            <a:endParaRPr lang="en-US">
              <a:solidFill>
                <a:srgbClr val="00B0F0"/>
              </a:solidFill>
              <a:ea typeface="Cambria"/>
            </a:endParaRPr>
          </a:p>
          <a:p>
            <a:pPr>
              <a:buFont typeface="Arial"/>
              <a:buChar char="•"/>
            </a:pPr>
            <a:r>
              <a:rPr lang="en-US" b="1">
                <a:ea typeface="+mn-lt"/>
                <a:cs typeface="+mn-lt"/>
              </a:rPr>
              <a:t>Scalability</a:t>
            </a:r>
            <a:r>
              <a:rPr lang="en-US">
                <a:ea typeface="+mn-lt"/>
                <a:cs typeface="+mn-lt"/>
              </a:rPr>
              <a:t>: The system should support a growing number of users and plant species.</a:t>
            </a:r>
          </a:p>
          <a:p>
            <a:pPr>
              <a:buFont typeface="Arial"/>
              <a:buChar char="•"/>
            </a:pPr>
            <a:r>
              <a:rPr lang="en-US" b="1">
                <a:ea typeface="+mn-lt"/>
                <a:cs typeface="+mn-lt"/>
              </a:rPr>
              <a:t>Performance</a:t>
            </a:r>
            <a:r>
              <a:rPr lang="en-US">
                <a:ea typeface="+mn-lt"/>
                <a:cs typeface="+mn-lt"/>
              </a:rPr>
              <a:t>: The AI model should process images and deliver results quickly.</a:t>
            </a:r>
          </a:p>
          <a:p>
            <a:pPr>
              <a:buFont typeface="Arial"/>
              <a:buChar char="•"/>
            </a:pPr>
            <a:r>
              <a:rPr lang="en-US" b="1">
                <a:ea typeface="+mn-lt"/>
                <a:cs typeface="+mn-lt"/>
              </a:rPr>
              <a:t>Security</a:t>
            </a:r>
            <a:r>
              <a:rPr lang="en-US">
                <a:ea typeface="+mn-lt"/>
                <a:cs typeface="+mn-lt"/>
              </a:rPr>
              <a:t>: Ensure secure data storage and privacy protection for users.</a:t>
            </a:r>
          </a:p>
          <a:p>
            <a:pPr>
              <a:buFont typeface="Arial"/>
              <a:buChar char="•"/>
            </a:pPr>
            <a:r>
              <a:rPr lang="en-US" b="1">
                <a:ea typeface="+mn-lt"/>
                <a:cs typeface="+mn-lt"/>
              </a:rPr>
              <a:t>Usability</a:t>
            </a:r>
            <a:r>
              <a:rPr lang="en-US">
                <a:ea typeface="+mn-lt"/>
                <a:cs typeface="+mn-lt"/>
              </a:rPr>
              <a:t>: The app should be intuitive and easy to navigate for all user levels.</a:t>
            </a:r>
            <a:endParaRPr lang="en-US"/>
          </a:p>
          <a:p>
            <a:pPr>
              <a:buFont typeface="Arial"/>
              <a:buChar char="•"/>
            </a:pPr>
            <a:r>
              <a:rPr lang="en-US" b="1">
                <a:ea typeface="+mn-lt"/>
                <a:cs typeface="+mn-lt"/>
              </a:rPr>
              <a:t>Offline Accessibility</a:t>
            </a:r>
            <a:r>
              <a:rPr lang="en-US">
                <a:ea typeface="+mn-lt"/>
                <a:cs typeface="+mn-lt"/>
              </a:rPr>
              <a:t>: The app must function without internet connectivity in rural areas.</a:t>
            </a:r>
          </a:p>
          <a:p>
            <a:pPr>
              <a:buFont typeface="Arial"/>
              <a:buChar char="•"/>
            </a:pPr>
            <a:r>
              <a:rPr lang="en-US" b="1">
                <a:ea typeface="+mn-lt"/>
                <a:cs typeface="+mn-lt"/>
              </a:rPr>
              <a:t>Maintainability</a:t>
            </a:r>
            <a:r>
              <a:rPr lang="en-US">
                <a:ea typeface="+mn-lt"/>
                <a:cs typeface="+mn-lt"/>
              </a:rPr>
              <a:t>: The system should be easy to update and expand with new plant data.</a:t>
            </a:r>
          </a:p>
          <a:p>
            <a:pPr>
              <a:buFont typeface="Arial"/>
              <a:buChar char="•"/>
            </a:pPr>
            <a:r>
              <a:rPr lang="en-US" b="1">
                <a:ea typeface="+mn-lt"/>
                <a:cs typeface="+mn-lt"/>
              </a:rPr>
              <a:t>Compatibility</a:t>
            </a:r>
            <a:r>
              <a:rPr lang="en-US">
                <a:ea typeface="+mn-lt"/>
                <a:cs typeface="+mn-lt"/>
              </a:rPr>
              <a:t>: The app should work seamlessly on multiple mobile platforms (Android &amp; iOS).</a:t>
            </a:r>
            <a:endParaRPr lang="en-US"/>
          </a:p>
          <a:p>
            <a:pPr>
              <a:buFont typeface="Arial"/>
              <a:buChar char="•"/>
            </a:pPr>
            <a:endParaRPr lang="en-US">
              <a:ea typeface="Cambria"/>
            </a:endParaRPr>
          </a:p>
          <a:p>
            <a:pPr marL="0" indent="0">
              <a:buNone/>
            </a:pPr>
            <a:endParaRPr lang="en-US">
              <a:highlight>
                <a:srgbClr val="FFFF00"/>
              </a:highlight>
              <a:ea typeface="Cambria"/>
            </a:endParaRPr>
          </a:p>
        </p:txBody>
      </p:sp>
      <p:sp>
        <p:nvSpPr>
          <p:cNvPr id="9" name="Rectangle 8">
            <a:extLst>
              <a:ext uri="{FF2B5EF4-FFF2-40B4-BE49-F238E27FC236}">
                <a16:creationId xmlns:a16="http://schemas.microsoft.com/office/drawing/2014/main" id="{10BD09F5-A46D-CC66-5F2B-407C5FE0AA33}"/>
              </a:ext>
            </a:extLst>
          </p:cNvPr>
          <p:cNvSpPr/>
          <p:nvPr/>
        </p:nvSpPr>
        <p:spPr>
          <a:xfrm>
            <a:off x="2747453" y="6320346"/>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b="1">
                <a:solidFill>
                  <a:schemeClr val="tx1"/>
                </a:solidFill>
              </a:rPr>
              <a:t>IT21190520</a:t>
            </a:r>
            <a:r>
              <a:rPr lang="en-US" sz="1800">
                <a:solidFill>
                  <a:schemeClr val="tx1"/>
                </a:solidFill>
              </a:rPr>
              <a:t>   |   &lt;</a:t>
            </a:r>
            <a:r>
              <a:rPr lang="en-US" sz="1800" b="1">
                <a:solidFill>
                  <a:schemeClr val="tx1"/>
                </a:solidFill>
              </a:rPr>
              <a:t>&lt;</a:t>
            </a:r>
            <a:r>
              <a:rPr lang="en-US" b="1">
                <a:solidFill>
                  <a:schemeClr val="tx1"/>
                </a:solidFill>
              </a:rPr>
              <a:t>Kaushalya H.G.B&gt;&gt;</a:t>
            </a:r>
            <a:r>
              <a:rPr lang="en-US" sz="1800" b="1">
                <a:solidFill>
                  <a:schemeClr val="tx1"/>
                </a:solidFill>
              </a:rPr>
              <a:t>   </a:t>
            </a:r>
            <a:r>
              <a:rPr lang="en-US" sz="1800">
                <a:solidFill>
                  <a:schemeClr val="tx1"/>
                </a:solidFill>
              </a:rPr>
              <a:t>|   </a:t>
            </a:r>
            <a:r>
              <a:rPr lang="en-US">
                <a:solidFill>
                  <a:schemeClr val="tx1"/>
                </a:solidFill>
              </a:rPr>
              <a:t>&lt;&lt;R25-068&gt;&gt;</a:t>
            </a:r>
            <a:endParaRPr lang="en-US" sz="1800" b="0">
              <a:solidFill>
                <a:schemeClr val="tx1"/>
              </a:solidFill>
            </a:endParaRPr>
          </a:p>
        </p:txBody>
      </p:sp>
      <p:pic>
        <p:nvPicPr>
          <p:cNvPr id="2" name="Picture 1" descr="A person sitting on a large cellphone&#10;&#10;AI-generated content may be incorrect.">
            <a:extLst>
              <a:ext uri="{FF2B5EF4-FFF2-40B4-BE49-F238E27FC236}">
                <a16:creationId xmlns:a16="http://schemas.microsoft.com/office/drawing/2014/main" id="{6A47F409-D7EE-E524-2E1F-6442D2818A8D}"/>
              </a:ext>
            </a:extLst>
          </p:cNvPr>
          <p:cNvPicPr>
            <a:picLocks noChangeAspect="1"/>
          </p:cNvPicPr>
          <p:nvPr/>
        </p:nvPicPr>
        <p:blipFill>
          <a:blip r:embed="rId2"/>
          <a:stretch>
            <a:fillRect/>
          </a:stretch>
        </p:blipFill>
        <p:spPr>
          <a:xfrm>
            <a:off x="9286360" y="758975"/>
            <a:ext cx="2908470" cy="1910461"/>
          </a:xfrm>
          <a:prstGeom prst="rect">
            <a:avLst/>
          </a:prstGeom>
        </p:spPr>
      </p:pic>
    </p:spTree>
    <p:extLst>
      <p:ext uri="{BB962C8B-B14F-4D97-AF65-F5344CB8AC3E}">
        <p14:creationId xmlns:p14="http://schemas.microsoft.com/office/powerpoint/2010/main" val="375006555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diagram&#10;&#10;AI-generated content may be incorrect.">
            <a:extLst>
              <a:ext uri="{FF2B5EF4-FFF2-40B4-BE49-F238E27FC236}">
                <a16:creationId xmlns:a16="http://schemas.microsoft.com/office/drawing/2014/main" id="{57E93104-B525-53DB-798B-151B291FE58A}"/>
              </a:ext>
            </a:extLst>
          </p:cNvPr>
          <p:cNvPicPr>
            <a:picLocks noGrp="1" noChangeAspect="1"/>
          </p:cNvPicPr>
          <p:nvPr>
            <p:ph idx="1"/>
          </p:nvPr>
        </p:nvPicPr>
        <p:blipFill>
          <a:blip r:embed="rId2"/>
          <a:stretch>
            <a:fillRect/>
          </a:stretch>
        </p:blipFill>
        <p:spPr>
          <a:xfrm>
            <a:off x="261890" y="483652"/>
            <a:ext cx="11678141" cy="3286725"/>
          </a:xfrm>
        </p:spPr>
      </p:pic>
      <p:sp>
        <p:nvSpPr>
          <p:cNvPr id="5" name="TextBox 4">
            <a:extLst>
              <a:ext uri="{FF2B5EF4-FFF2-40B4-BE49-F238E27FC236}">
                <a16:creationId xmlns:a16="http://schemas.microsoft.com/office/drawing/2014/main" id="{9BC28820-1EA9-E380-1264-5BD8C6A374ED}"/>
              </a:ext>
            </a:extLst>
          </p:cNvPr>
          <p:cNvSpPr txBox="1"/>
          <p:nvPr/>
        </p:nvSpPr>
        <p:spPr>
          <a:xfrm>
            <a:off x="3275351" y="6385810"/>
            <a:ext cx="562880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IT21190520</a:t>
            </a:r>
            <a:r>
              <a:rPr lang="en-US"/>
              <a:t> | &lt;</a:t>
            </a:r>
            <a:r>
              <a:rPr lang="en-US" b="1"/>
              <a:t>&lt;Kaushalya H.G.B&gt;&gt; </a:t>
            </a:r>
            <a:r>
              <a:rPr lang="en-US"/>
              <a:t>| &lt;&lt;R25-068&gt;&gt;</a:t>
            </a:r>
            <a:r>
              <a:rPr lang="en-US">
                <a:ea typeface="Cambria"/>
              </a:rPr>
              <a:t>​</a:t>
            </a:r>
            <a:endParaRPr lang="en-US"/>
          </a:p>
        </p:txBody>
      </p:sp>
    </p:spTree>
    <p:extLst>
      <p:ext uri="{BB962C8B-B14F-4D97-AF65-F5344CB8AC3E}">
        <p14:creationId xmlns:p14="http://schemas.microsoft.com/office/powerpoint/2010/main" val="248013469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0E513-9E77-0044-FCC5-6258328F32F6}"/>
              </a:ext>
            </a:extLst>
          </p:cNvPr>
          <p:cNvSpPr>
            <a:spLocks noGrp="1"/>
          </p:cNvSpPr>
          <p:nvPr>
            <p:ph type="title"/>
          </p:nvPr>
        </p:nvSpPr>
        <p:spPr/>
        <p:txBody>
          <a:bodyPr/>
          <a:lstStyle/>
          <a:p>
            <a:r>
              <a:rPr lang="en-US">
                <a:solidFill>
                  <a:schemeClr val="accent1"/>
                </a:solidFill>
                <a:latin typeface="Adobe Devanagari"/>
              </a:rPr>
              <a:t>Gantt Chart </a:t>
            </a:r>
            <a:endParaRPr lang="en-US">
              <a:solidFill>
                <a:schemeClr val="accent1"/>
              </a:solidFill>
            </a:endParaRPr>
          </a:p>
        </p:txBody>
      </p:sp>
      <p:pic>
        <p:nvPicPr>
          <p:cNvPr id="4" name="Content Placeholder 3" descr="A graph with blue squares&#10;&#10;AI-generated content may be incorrect.">
            <a:extLst>
              <a:ext uri="{FF2B5EF4-FFF2-40B4-BE49-F238E27FC236}">
                <a16:creationId xmlns:a16="http://schemas.microsoft.com/office/drawing/2014/main" id="{C5BAAD63-172F-A098-7E9F-4D3CF26ED7CB}"/>
              </a:ext>
            </a:extLst>
          </p:cNvPr>
          <p:cNvPicPr>
            <a:picLocks noGrp="1" noChangeAspect="1"/>
          </p:cNvPicPr>
          <p:nvPr>
            <p:ph idx="1"/>
          </p:nvPr>
        </p:nvPicPr>
        <p:blipFill>
          <a:blip r:embed="rId2"/>
          <a:stretch>
            <a:fillRect/>
          </a:stretch>
        </p:blipFill>
        <p:spPr>
          <a:xfrm>
            <a:off x="1652293" y="1097476"/>
            <a:ext cx="8989015" cy="5014346"/>
          </a:xfrm>
        </p:spPr>
      </p:pic>
      <p:sp>
        <p:nvSpPr>
          <p:cNvPr id="6" name="Rectangle 5">
            <a:extLst>
              <a:ext uri="{FF2B5EF4-FFF2-40B4-BE49-F238E27FC236}">
                <a16:creationId xmlns:a16="http://schemas.microsoft.com/office/drawing/2014/main" id="{D1258015-718C-3092-AB29-A771157A442C}"/>
              </a:ext>
            </a:extLst>
          </p:cNvPr>
          <p:cNvSpPr/>
          <p:nvPr/>
        </p:nvSpPr>
        <p:spPr>
          <a:xfrm>
            <a:off x="3159682" y="6382805"/>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b="1">
                <a:solidFill>
                  <a:schemeClr val="tx1"/>
                </a:solidFill>
              </a:rPr>
              <a:t>IT21190520</a:t>
            </a:r>
            <a:r>
              <a:rPr lang="en-US" sz="1800">
                <a:solidFill>
                  <a:schemeClr val="tx1"/>
                </a:solidFill>
              </a:rPr>
              <a:t>   |   &lt;</a:t>
            </a:r>
            <a:r>
              <a:rPr lang="en-US" sz="1800" b="1">
                <a:solidFill>
                  <a:schemeClr val="tx1"/>
                </a:solidFill>
              </a:rPr>
              <a:t>&lt;</a:t>
            </a:r>
            <a:r>
              <a:rPr lang="en-US" b="1">
                <a:solidFill>
                  <a:schemeClr val="tx1"/>
                </a:solidFill>
              </a:rPr>
              <a:t>Kaushalya H.G.B&gt;&gt;</a:t>
            </a:r>
            <a:r>
              <a:rPr lang="en-US" sz="1800" b="1">
                <a:solidFill>
                  <a:schemeClr val="tx1"/>
                </a:solidFill>
              </a:rPr>
              <a:t>   </a:t>
            </a:r>
            <a:r>
              <a:rPr lang="en-US" sz="1800">
                <a:solidFill>
                  <a:schemeClr val="tx1"/>
                </a:solidFill>
              </a:rPr>
              <a:t>|   </a:t>
            </a:r>
            <a:r>
              <a:rPr lang="en-US">
                <a:solidFill>
                  <a:schemeClr val="tx1"/>
                </a:solidFill>
              </a:rPr>
              <a:t>&lt;&lt;R25-068&gt;&gt;</a:t>
            </a:r>
            <a:endParaRPr lang="en-US" sz="1800" b="0">
              <a:solidFill>
                <a:schemeClr val="tx1"/>
              </a:solidFill>
            </a:endParaRPr>
          </a:p>
        </p:txBody>
      </p:sp>
    </p:spTree>
    <p:extLst>
      <p:ext uri="{BB962C8B-B14F-4D97-AF65-F5344CB8AC3E}">
        <p14:creationId xmlns:p14="http://schemas.microsoft.com/office/powerpoint/2010/main" val="374287393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3E6DAB-FF6B-09E5-F99D-32F5B24044E2}"/>
              </a:ext>
            </a:extLst>
          </p:cNvPr>
          <p:cNvSpPr>
            <a:spLocks noGrp="1"/>
          </p:cNvSpPr>
          <p:nvPr>
            <p:ph idx="1"/>
          </p:nvPr>
        </p:nvSpPr>
        <p:spPr/>
        <p:txBody>
          <a:bodyPr vert="horz" lIns="91440" tIns="45720" rIns="91440" bIns="45720" rtlCol="0" anchor="t">
            <a:normAutofit/>
          </a:bodyPr>
          <a:lstStyle/>
          <a:p>
            <a:pPr marL="0" indent="0">
              <a:buNone/>
            </a:pPr>
            <a:endParaRPr lang="en-US" sz="4000" b="1">
              <a:solidFill>
                <a:srgbClr val="783F04"/>
              </a:solidFill>
              <a:latin typeface="Arial"/>
              <a:cs typeface="Arial"/>
            </a:endParaRPr>
          </a:p>
          <a:p>
            <a:endParaRPr lang="en-US">
              <a:ea typeface="Cambria"/>
            </a:endParaRPr>
          </a:p>
        </p:txBody>
      </p:sp>
      <p:sp>
        <p:nvSpPr>
          <p:cNvPr id="17" name="Title 1">
            <a:extLst>
              <a:ext uri="{FF2B5EF4-FFF2-40B4-BE49-F238E27FC236}">
                <a16:creationId xmlns:a16="http://schemas.microsoft.com/office/drawing/2014/main" id="{978A84B9-7598-786D-0A13-28AAC054534E}"/>
              </a:ext>
            </a:extLst>
          </p:cNvPr>
          <p:cNvSpPr>
            <a:spLocks noGrp="1"/>
          </p:cNvSpPr>
          <p:nvPr>
            <p:ph type="title"/>
          </p:nvPr>
        </p:nvSpPr>
        <p:spPr>
          <a:xfrm>
            <a:off x="304800" y="333555"/>
            <a:ext cx="11684000" cy="792162"/>
          </a:xfrm>
        </p:spPr>
        <p:txBody>
          <a:bodyPr>
            <a:normAutofit/>
          </a:bodyPr>
          <a:lstStyle/>
          <a:p>
            <a:pPr algn="l"/>
            <a:r>
              <a:rPr lang="en-US" sz="4000" b="1">
                <a:solidFill>
                  <a:schemeClr val="accent1"/>
                </a:solidFill>
                <a:latin typeface="Arial"/>
                <a:cs typeface="Arial"/>
              </a:rPr>
              <a:t>Supporting Items (</a:t>
            </a:r>
            <a:r>
              <a:rPr lang="en-US" sz="3000" b="1">
                <a:solidFill>
                  <a:schemeClr val="accent1"/>
                </a:solidFill>
                <a:latin typeface="Arial"/>
                <a:cs typeface="Arial"/>
              </a:rPr>
              <a:t>Commercialization</a:t>
            </a:r>
            <a:r>
              <a:rPr lang="en-US" sz="4000" b="1">
                <a:solidFill>
                  <a:schemeClr val="accent1"/>
                </a:solidFill>
                <a:latin typeface="Arial"/>
                <a:cs typeface="Arial"/>
              </a:rPr>
              <a:t>)</a:t>
            </a:r>
            <a:endParaRPr lang="en-US">
              <a:solidFill>
                <a:schemeClr val="accent1"/>
              </a:solidFill>
            </a:endParaRPr>
          </a:p>
        </p:txBody>
      </p:sp>
      <p:sp>
        <p:nvSpPr>
          <p:cNvPr id="19" name="Content Placeholder 2">
            <a:extLst>
              <a:ext uri="{FF2B5EF4-FFF2-40B4-BE49-F238E27FC236}">
                <a16:creationId xmlns:a16="http://schemas.microsoft.com/office/drawing/2014/main" id="{4C755D8E-23C7-DD5A-17C8-035474A3CEB7}"/>
              </a:ext>
            </a:extLst>
          </p:cNvPr>
          <p:cNvSpPr txBox="1">
            <a:spLocks/>
          </p:cNvSpPr>
          <p:nvPr/>
        </p:nvSpPr>
        <p:spPr>
          <a:xfrm>
            <a:off x="304800" y="1120955"/>
            <a:ext cx="7579360" cy="1838960"/>
          </a:xfrm>
          <a:prstGeom prst="rect">
            <a:avLst/>
          </a:prstGeom>
        </p:spPr>
        <p:txBody>
          <a:bodyPr vert="horz" lIns="91440" tIns="45720" rIns="91440" bIns="45720" rtlCol="0" anchor="t">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Wingdings" pitchFamily="2" charset="2"/>
              <a:buChar char="Ø"/>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Wingdings" pitchFamily="2" charset="2"/>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2000" b="1">
                <a:solidFill>
                  <a:srgbClr val="00B0F0"/>
                </a:solidFill>
                <a:ea typeface="+mn-lt"/>
                <a:cs typeface="+mn-lt"/>
              </a:rPr>
              <a:t>Target Market:</a:t>
            </a:r>
            <a:endParaRPr lang="en-US" sz="2000" b="1">
              <a:solidFill>
                <a:srgbClr val="00B0F0"/>
              </a:solidFill>
              <a:ea typeface="Cambria"/>
            </a:endParaRPr>
          </a:p>
          <a:p>
            <a:r>
              <a:rPr lang="en-US" sz="2000">
                <a:ea typeface="+mn-lt"/>
                <a:cs typeface="+mn-lt"/>
              </a:rPr>
              <a:t>.Ayurvedic practitioners, students, and health-conscious individuals.</a:t>
            </a:r>
          </a:p>
          <a:p>
            <a:r>
              <a:rPr lang="en-US" sz="2000">
                <a:ea typeface="+mn-lt"/>
                <a:cs typeface="+mn-lt"/>
              </a:rPr>
              <a:t>Rural and urban users seeking Ayurvedic guidance.</a:t>
            </a:r>
            <a:endParaRPr lang="en-US"/>
          </a:p>
          <a:p>
            <a:endParaRPr lang="en-US" sz="2000">
              <a:ea typeface="Cambria"/>
            </a:endParaRPr>
          </a:p>
          <a:p>
            <a:pPr marL="0" indent="0">
              <a:buFont typeface="Arial" pitchFamily="34" charset="0"/>
              <a:buNone/>
            </a:pPr>
            <a:endParaRPr lang="en-US" sz="2000">
              <a:ea typeface="Cambria"/>
            </a:endParaRPr>
          </a:p>
        </p:txBody>
      </p:sp>
      <p:sp>
        <p:nvSpPr>
          <p:cNvPr id="21" name="Rectangle 20">
            <a:extLst>
              <a:ext uri="{FF2B5EF4-FFF2-40B4-BE49-F238E27FC236}">
                <a16:creationId xmlns:a16="http://schemas.microsoft.com/office/drawing/2014/main" id="{9863E790-4B2B-5D79-E7E8-672639D877ED}"/>
              </a:ext>
            </a:extLst>
          </p:cNvPr>
          <p:cNvSpPr/>
          <p:nvPr/>
        </p:nvSpPr>
        <p:spPr>
          <a:xfrm>
            <a:off x="3346162" y="6315831"/>
            <a:ext cx="6816365"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b="1">
                <a:solidFill>
                  <a:schemeClr val="tx1"/>
                </a:solidFill>
              </a:rPr>
              <a:t>IT21190520</a:t>
            </a:r>
            <a:r>
              <a:rPr lang="en-US">
                <a:solidFill>
                  <a:schemeClr val="tx1"/>
                </a:solidFill>
              </a:rPr>
              <a:t> </a:t>
            </a:r>
            <a:r>
              <a:rPr lang="en-US" sz="1800">
                <a:solidFill>
                  <a:schemeClr val="tx1"/>
                </a:solidFill>
              </a:rPr>
              <a:t>| &lt;</a:t>
            </a:r>
            <a:r>
              <a:rPr lang="en-US" sz="1800" b="1">
                <a:solidFill>
                  <a:schemeClr val="tx1"/>
                </a:solidFill>
              </a:rPr>
              <a:t>&lt;</a:t>
            </a:r>
            <a:r>
              <a:rPr lang="en-US" b="1">
                <a:solidFill>
                  <a:schemeClr val="tx1"/>
                </a:solidFill>
              </a:rPr>
              <a:t>Kaushalya H.G.B&gt;&gt;</a:t>
            </a:r>
            <a:r>
              <a:rPr lang="en-US" sz="1800" b="1">
                <a:solidFill>
                  <a:schemeClr val="tx1"/>
                </a:solidFill>
              </a:rPr>
              <a:t> </a:t>
            </a:r>
            <a:r>
              <a:rPr lang="en-US" sz="1800">
                <a:solidFill>
                  <a:schemeClr val="tx1"/>
                </a:solidFill>
              </a:rPr>
              <a:t>| </a:t>
            </a:r>
            <a:r>
              <a:rPr lang="en-US" sz="1800" b="0">
                <a:solidFill>
                  <a:schemeClr val="tx1"/>
                </a:solidFill>
              </a:rPr>
              <a:t>&lt;&lt;</a:t>
            </a:r>
            <a:r>
              <a:rPr lang="en-US">
                <a:solidFill>
                  <a:schemeClr val="tx1"/>
                </a:solidFill>
              </a:rPr>
              <a:t>R25-068</a:t>
            </a:r>
            <a:r>
              <a:rPr lang="en-US" sz="1800" b="0">
                <a:solidFill>
                  <a:schemeClr val="tx1"/>
                </a:solidFill>
              </a:rPr>
              <a:t>&gt;&gt;</a:t>
            </a:r>
            <a:endParaRPr lang="en-US">
              <a:solidFill>
                <a:schemeClr val="tx1"/>
              </a:solidFill>
            </a:endParaRPr>
          </a:p>
        </p:txBody>
      </p:sp>
      <p:sp>
        <p:nvSpPr>
          <p:cNvPr id="25" name="TextBox 24">
            <a:extLst>
              <a:ext uri="{FF2B5EF4-FFF2-40B4-BE49-F238E27FC236}">
                <a16:creationId xmlns:a16="http://schemas.microsoft.com/office/drawing/2014/main" id="{4A7C8F4A-04DC-3BF7-1FC9-CD903436729D}"/>
              </a:ext>
            </a:extLst>
          </p:cNvPr>
          <p:cNvSpPr txBox="1"/>
          <p:nvPr/>
        </p:nvSpPr>
        <p:spPr>
          <a:xfrm>
            <a:off x="6771639" y="3305355"/>
            <a:ext cx="5219700"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r>
              <a:rPr lang="en-US" sz="2000" b="1" baseline="0">
                <a:solidFill>
                  <a:srgbClr val="00B0F0"/>
                </a:solidFill>
                <a:latin typeface="Cambria"/>
                <a:ea typeface="Arial"/>
                <a:cs typeface="Arial"/>
              </a:rPr>
              <a:t>Partnerships:</a:t>
            </a:r>
            <a:r>
              <a:rPr lang="en-US" sz="2000" b="1">
                <a:solidFill>
                  <a:srgbClr val="00B0F0"/>
                </a:solidFill>
                <a:latin typeface="Cambria"/>
                <a:ea typeface="Arial"/>
                <a:cs typeface="Arial"/>
              </a:rPr>
              <a:t>​</a:t>
            </a:r>
          </a:p>
          <a:p>
            <a:pPr marL="285750" indent="-285750">
              <a:buFont typeface="Arial"/>
              <a:buChar char="•"/>
            </a:pPr>
            <a:r>
              <a:rPr lang="en-US" sz="2000">
                <a:ea typeface="+mn-lt"/>
                <a:cs typeface="+mn-lt"/>
              </a:rPr>
              <a:t>Ayurvedic research institutes and healthcare providers.</a:t>
            </a:r>
            <a:endParaRPr lang="en-US"/>
          </a:p>
          <a:p>
            <a:pPr marL="285750" indent="-285750">
              <a:buFont typeface="Arial"/>
              <a:buChar char="•"/>
            </a:pPr>
            <a:r>
              <a:rPr lang="en-US" sz="2000">
                <a:ea typeface="+mn-lt"/>
                <a:cs typeface="+mn-lt"/>
              </a:rPr>
              <a:t>AI tech firms for optimization.</a:t>
            </a:r>
            <a:endParaRPr lang="en-US"/>
          </a:p>
          <a:p>
            <a:pPr marL="285750" indent="-285750">
              <a:buFont typeface="Arial"/>
              <a:buChar char="•"/>
            </a:pPr>
            <a:r>
              <a:rPr lang="en-US" sz="2000">
                <a:ea typeface="+mn-lt"/>
                <a:cs typeface="+mn-lt"/>
              </a:rPr>
              <a:t>Government and NGOs for rural outreach.</a:t>
            </a:r>
            <a:endParaRPr lang="en-US"/>
          </a:p>
          <a:p>
            <a:endParaRPr lang="en-US" sz="2000" b="1">
              <a:ea typeface="Cambria"/>
              <a:cs typeface="Arial"/>
            </a:endParaRPr>
          </a:p>
        </p:txBody>
      </p:sp>
      <p:pic>
        <p:nvPicPr>
          <p:cNvPr id="4" name="Picture 3" descr="A person standing in front of a group of people&#10;&#10;AI-generated content may be incorrect.">
            <a:extLst>
              <a:ext uri="{FF2B5EF4-FFF2-40B4-BE49-F238E27FC236}">
                <a16:creationId xmlns:a16="http://schemas.microsoft.com/office/drawing/2014/main" id="{0325169C-08D1-AABB-1682-84A60581A47E}"/>
              </a:ext>
            </a:extLst>
          </p:cNvPr>
          <p:cNvPicPr>
            <a:picLocks noChangeAspect="1"/>
          </p:cNvPicPr>
          <p:nvPr/>
        </p:nvPicPr>
        <p:blipFill>
          <a:blip r:embed="rId2"/>
          <a:stretch>
            <a:fillRect/>
          </a:stretch>
        </p:blipFill>
        <p:spPr>
          <a:xfrm>
            <a:off x="1024328" y="2671266"/>
            <a:ext cx="4634460" cy="3051959"/>
          </a:xfrm>
          <a:prstGeom prst="rect">
            <a:avLst/>
          </a:prstGeom>
        </p:spPr>
      </p:pic>
    </p:spTree>
    <p:extLst>
      <p:ext uri="{BB962C8B-B14F-4D97-AF65-F5344CB8AC3E}">
        <p14:creationId xmlns:p14="http://schemas.microsoft.com/office/powerpoint/2010/main" val="42451779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5A1DA-5DD3-37C6-9671-B85113FB8E09}"/>
              </a:ext>
            </a:extLst>
          </p:cNvPr>
          <p:cNvSpPr>
            <a:spLocks noGrp="1"/>
          </p:cNvSpPr>
          <p:nvPr>
            <p:ph type="title"/>
          </p:nvPr>
        </p:nvSpPr>
        <p:spPr/>
        <p:txBody>
          <a:bodyPr/>
          <a:lstStyle/>
          <a:p>
            <a:r>
              <a:rPr lang="en-US">
                <a:solidFill>
                  <a:schemeClr val="accent1"/>
                </a:solidFill>
                <a:latin typeface="Adobe Devanagari"/>
              </a:rPr>
              <a:t>References</a:t>
            </a:r>
            <a:endParaRPr lang="en-US">
              <a:solidFill>
                <a:schemeClr val="accent1"/>
              </a:solidFill>
            </a:endParaRPr>
          </a:p>
        </p:txBody>
      </p:sp>
      <p:sp>
        <p:nvSpPr>
          <p:cNvPr id="3" name="Content Placeholder 2">
            <a:extLst>
              <a:ext uri="{FF2B5EF4-FFF2-40B4-BE49-F238E27FC236}">
                <a16:creationId xmlns:a16="http://schemas.microsoft.com/office/drawing/2014/main" id="{3F235744-64BC-B9F0-1E86-63B24930476E}"/>
              </a:ext>
            </a:extLst>
          </p:cNvPr>
          <p:cNvSpPr>
            <a:spLocks noGrp="1"/>
          </p:cNvSpPr>
          <p:nvPr>
            <p:ph idx="1"/>
          </p:nvPr>
        </p:nvSpPr>
        <p:spPr/>
        <p:txBody>
          <a:bodyPr vert="horz" lIns="91440" tIns="45720" rIns="91440" bIns="45720" rtlCol="0" anchor="t">
            <a:normAutofit fontScale="32500" lnSpcReduction="20000"/>
          </a:bodyPr>
          <a:lstStyle/>
          <a:p>
            <a:r>
              <a:rPr lang="en-GB" sz="4400" b="1">
                <a:ea typeface="+mn-lt"/>
                <a:cs typeface="+mn-lt"/>
              </a:rPr>
              <a:t>Chaudhary, K., &amp; Singh, N. (2020).</a:t>
            </a:r>
            <a:endParaRPr lang="en-GB" sz="4400">
              <a:latin typeface="Calibri"/>
              <a:ea typeface="Calibri"/>
              <a:cs typeface="Calibri"/>
            </a:endParaRPr>
          </a:p>
          <a:p>
            <a:pPr marL="0" indent="0">
              <a:buNone/>
            </a:pPr>
            <a:r>
              <a:rPr lang="en-GB" sz="4400">
                <a:ea typeface="+mn-lt"/>
                <a:cs typeface="+mn-lt"/>
              </a:rPr>
              <a:t>"Deep learning techniques for plant identification: A review." </a:t>
            </a:r>
            <a:r>
              <a:rPr lang="en-GB" sz="4400" i="1">
                <a:ea typeface="+mn-lt"/>
                <a:cs typeface="+mn-lt"/>
              </a:rPr>
              <a:t>Journal of Plant Sciences</a:t>
            </a:r>
            <a:r>
              <a:rPr lang="en-GB" sz="4400">
                <a:ea typeface="+mn-lt"/>
                <a:cs typeface="+mn-lt"/>
              </a:rPr>
              <a:t>, 15(4), 234-245.</a:t>
            </a:r>
            <a:endParaRPr lang="en-GB">
              <a:ea typeface="Cambria"/>
            </a:endParaRPr>
          </a:p>
          <a:p>
            <a:pPr marL="0" indent="0">
              <a:buNone/>
            </a:pPr>
            <a:r>
              <a:rPr lang="en-GB" sz="4400">
                <a:ea typeface="+mn-lt"/>
                <a:cs typeface="+mn-lt"/>
              </a:rPr>
              <a:t>[Discusses deep learning applications for plant recognition.]</a:t>
            </a:r>
            <a:endParaRPr lang="en-GB">
              <a:ea typeface="Cambria"/>
            </a:endParaRPr>
          </a:p>
          <a:p>
            <a:r>
              <a:rPr lang="en-GB" sz="4400" b="1">
                <a:ea typeface="+mn-lt"/>
                <a:cs typeface="+mn-lt"/>
              </a:rPr>
              <a:t>Lee, J. H., et al. (2019).</a:t>
            </a:r>
            <a:endParaRPr lang="en-GB"/>
          </a:p>
          <a:p>
            <a:pPr marL="0" indent="0">
              <a:buNone/>
            </a:pPr>
            <a:r>
              <a:rPr lang="en-GB" sz="4400">
                <a:ea typeface="+mn-lt"/>
                <a:cs typeface="+mn-lt"/>
              </a:rPr>
              <a:t>"AI-powered image processing for real-time plant species identification." </a:t>
            </a:r>
            <a:r>
              <a:rPr lang="en-GB" sz="4400" i="1">
                <a:ea typeface="+mn-lt"/>
                <a:cs typeface="+mn-lt"/>
              </a:rPr>
              <a:t>IEEE Transactions on Image Processing</a:t>
            </a:r>
            <a:r>
              <a:rPr lang="en-GB" sz="4400">
                <a:ea typeface="+mn-lt"/>
                <a:cs typeface="+mn-lt"/>
              </a:rPr>
              <a:t>, 28(10), 5120-5132.</a:t>
            </a:r>
            <a:endParaRPr lang="en-GB">
              <a:ea typeface="Cambria"/>
            </a:endParaRPr>
          </a:p>
          <a:p>
            <a:pPr marL="0" indent="0">
              <a:buNone/>
            </a:pPr>
            <a:r>
              <a:rPr lang="en-GB" sz="4400">
                <a:ea typeface="+mn-lt"/>
                <a:cs typeface="+mn-lt"/>
              </a:rPr>
              <a:t>[Explains AI image processing for accurate identification.]</a:t>
            </a:r>
            <a:endParaRPr lang="en-GB">
              <a:ea typeface="Cambria"/>
            </a:endParaRPr>
          </a:p>
          <a:p>
            <a:r>
              <a:rPr lang="en-GB" sz="4400" b="1">
                <a:ea typeface="+mn-lt"/>
                <a:cs typeface="+mn-lt"/>
              </a:rPr>
              <a:t>Sharma, P., &amp; Gupta, A. (2021).</a:t>
            </a:r>
            <a:endParaRPr lang="en-GB"/>
          </a:p>
          <a:p>
            <a:pPr marL="0" indent="0">
              <a:buNone/>
            </a:pPr>
            <a:r>
              <a:rPr lang="en-GB" sz="4400">
                <a:ea typeface="+mn-lt"/>
                <a:cs typeface="+mn-lt"/>
              </a:rPr>
              <a:t>"Integrating Ayurveda and AI: A modern approach to traditional medicine." </a:t>
            </a:r>
            <a:r>
              <a:rPr lang="en-GB" sz="4400" i="1">
                <a:ea typeface="+mn-lt"/>
                <a:cs typeface="+mn-lt"/>
              </a:rPr>
              <a:t>Journal of Herbal Medicine Research</a:t>
            </a:r>
            <a:r>
              <a:rPr lang="en-GB" sz="4400">
                <a:ea typeface="+mn-lt"/>
                <a:cs typeface="+mn-lt"/>
              </a:rPr>
              <a:t>, 12(2), 112-120.</a:t>
            </a:r>
            <a:endParaRPr lang="en-GB">
              <a:ea typeface="Cambria"/>
            </a:endParaRPr>
          </a:p>
          <a:p>
            <a:pPr marL="0" indent="0">
              <a:buNone/>
            </a:pPr>
            <a:r>
              <a:rPr lang="en-GB" sz="4400">
                <a:ea typeface="+mn-lt"/>
                <a:cs typeface="+mn-lt"/>
              </a:rPr>
              <a:t>[Covers the integration of AI into Ayurvedic practices.]</a:t>
            </a:r>
            <a:endParaRPr lang="en-GB">
              <a:ea typeface="Cambria"/>
            </a:endParaRPr>
          </a:p>
          <a:p>
            <a:r>
              <a:rPr lang="en-GB" sz="4400" b="1">
                <a:ea typeface="+mn-lt"/>
                <a:cs typeface="+mn-lt"/>
              </a:rPr>
              <a:t>Zhang, Y., et al. (2022).</a:t>
            </a:r>
            <a:endParaRPr lang="en-GB"/>
          </a:p>
          <a:p>
            <a:pPr marL="0" indent="0">
              <a:buNone/>
            </a:pPr>
            <a:r>
              <a:rPr lang="en-GB" sz="4400">
                <a:ea typeface="+mn-lt"/>
                <a:cs typeface="+mn-lt"/>
              </a:rPr>
              <a:t>"Mobile-based plant identification using convolutional neural networks." </a:t>
            </a:r>
            <a:r>
              <a:rPr lang="en-GB" sz="4400" i="1">
                <a:ea typeface="+mn-lt"/>
                <a:cs typeface="+mn-lt"/>
              </a:rPr>
              <a:t>Computers in Biology and Medicine</a:t>
            </a:r>
            <a:r>
              <a:rPr lang="en-GB" sz="4400">
                <a:ea typeface="+mn-lt"/>
                <a:cs typeface="+mn-lt"/>
              </a:rPr>
              <a:t>, 140, 105085.</a:t>
            </a:r>
            <a:endParaRPr lang="en-GB">
              <a:ea typeface="Cambria"/>
            </a:endParaRPr>
          </a:p>
          <a:p>
            <a:pPr marL="0" indent="0">
              <a:buNone/>
            </a:pPr>
            <a:r>
              <a:rPr lang="en-GB" sz="4400">
                <a:ea typeface="+mn-lt"/>
                <a:cs typeface="+mn-lt"/>
              </a:rPr>
              <a:t>[Highlights mobile applications of AI for plant recognition.]</a:t>
            </a:r>
            <a:endParaRPr lang="en-GB">
              <a:ea typeface="Cambria"/>
            </a:endParaRPr>
          </a:p>
          <a:p>
            <a:r>
              <a:rPr lang="en-GB" sz="4400" b="1">
                <a:ea typeface="+mn-lt"/>
                <a:cs typeface="+mn-lt"/>
              </a:rPr>
              <a:t>Joshi, V., &amp; Kulkarni, P. (2018).</a:t>
            </a:r>
            <a:endParaRPr lang="en-GB"/>
          </a:p>
          <a:p>
            <a:pPr marL="0" indent="0">
              <a:buNone/>
            </a:pPr>
            <a:r>
              <a:rPr lang="en-GB" sz="4400">
                <a:ea typeface="+mn-lt"/>
                <a:cs typeface="+mn-lt"/>
              </a:rPr>
              <a:t>"Challenges and opportunities in Ayurvedic plant identification using AI." </a:t>
            </a:r>
            <a:r>
              <a:rPr lang="en-GB" sz="4400" i="1">
                <a:ea typeface="+mn-lt"/>
                <a:cs typeface="+mn-lt"/>
              </a:rPr>
              <a:t>International Journal of Botany and AI Systems</a:t>
            </a:r>
            <a:r>
              <a:rPr lang="en-GB" sz="4400">
                <a:ea typeface="+mn-lt"/>
                <a:cs typeface="+mn-lt"/>
              </a:rPr>
              <a:t>, 4(3), 45-56.</a:t>
            </a:r>
            <a:endParaRPr lang="en-GB">
              <a:ea typeface="Cambria"/>
            </a:endParaRPr>
          </a:p>
          <a:p>
            <a:pPr marL="0" indent="0">
              <a:buNone/>
            </a:pPr>
            <a:r>
              <a:rPr lang="en-GB" sz="4400">
                <a:ea typeface="+mn-lt"/>
                <a:cs typeface="+mn-lt"/>
              </a:rPr>
              <a:t>[Discusses challenges in building AI-powered Ayurvedic tools.]</a:t>
            </a:r>
            <a:endParaRPr lang="en-GB">
              <a:ea typeface="Cambria"/>
            </a:endParaRPr>
          </a:p>
          <a:p>
            <a:r>
              <a:rPr lang="en-GB" sz="4400" b="1">
                <a:ea typeface="+mn-lt"/>
                <a:cs typeface="+mn-lt"/>
              </a:rPr>
              <a:t>TensorFlow Documentation (2024).</a:t>
            </a:r>
            <a:endParaRPr lang="en-GB"/>
          </a:p>
          <a:p>
            <a:pPr marL="0" indent="0">
              <a:buNone/>
            </a:pPr>
            <a:r>
              <a:rPr lang="en-GB" sz="4400">
                <a:ea typeface="+mn-lt"/>
                <a:cs typeface="+mn-lt"/>
              </a:rPr>
              <a:t>"Deep learning for image recognition: Plant applications."</a:t>
            </a:r>
            <a:endParaRPr lang="en-GB">
              <a:ea typeface="Cambria"/>
            </a:endParaRPr>
          </a:p>
          <a:p>
            <a:pPr marL="0" indent="0">
              <a:buNone/>
            </a:pPr>
            <a:r>
              <a:rPr lang="en-GB" sz="4400">
                <a:ea typeface="+mn-lt"/>
                <a:cs typeface="+mn-lt"/>
              </a:rPr>
              <a:t>[Official guide for using TensorFlow in plant recognition.]</a:t>
            </a:r>
            <a:endParaRPr lang="en-GB">
              <a:ea typeface="Cambria"/>
            </a:endParaRPr>
          </a:p>
          <a:p>
            <a:r>
              <a:rPr lang="en-GB" sz="4400" b="1">
                <a:ea typeface="+mn-lt"/>
                <a:cs typeface="+mn-lt"/>
              </a:rPr>
              <a:t>WHO (World Health Organization) (2021).</a:t>
            </a:r>
            <a:endParaRPr lang="en-GB"/>
          </a:p>
          <a:p>
            <a:pPr marL="0" indent="0">
              <a:buNone/>
            </a:pPr>
            <a:r>
              <a:rPr lang="en-GB" sz="4400">
                <a:ea typeface="+mn-lt"/>
                <a:cs typeface="+mn-lt"/>
              </a:rPr>
              <a:t>"Traditional medicine and modern technology: Bridging the gap."</a:t>
            </a:r>
            <a:endParaRPr lang="en-GB">
              <a:ea typeface="Cambria"/>
            </a:endParaRPr>
          </a:p>
          <a:p>
            <a:pPr marL="0" indent="0">
              <a:buNone/>
            </a:pPr>
            <a:r>
              <a:rPr lang="en-GB" sz="4400">
                <a:ea typeface="+mn-lt"/>
                <a:cs typeface="+mn-lt"/>
              </a:rPr>
              <a:t>[Global perspective on combining traditional medicine and AI.]</a:t>
            </a:r>
            <a:endParaRPr lang="en-GB">
              <a:ea typeface="Cambria"/>
            </a:endParaRPr>
          </a:p>
          <a:p>
            <a:endParaRPr lang="en-GB" sz="4400">
              <a:latin typeface="Calibri"/>
              <a:ea typeface="Calibri"/>
              <a:cs typeface="Calibri"/>
            </a:endParaRPr>
          </a:p>
        </p:txBody>
      </p:sp>
      <p:sp>
        <p:nvSpPr>
          <p:cNvPr id="5" name="TextBox 4">
            <a:extLst>
              <a:ext uri="{FF2B5EF4-FFF2-40B4-BE49-F238E27FC236}">
                <a16:creationId xmlns:a16="http://schemas.microsoft.com/office/drawing/2014/main" id="{C181AC20-BC00-0B5E-FED6-164E3C35BE19}"/>
              </a:ext>
            </a:extLst>
          </p:cNvPr>
          <p:cNvSpPr txBox="1"/>
          <p:nvPr/>
        </p:nvSpPr>
        <p:spPr>
          <a:xfrm>
            <a:off x="3237875" y="6310859"/>
            <a:ext cx="601605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mbria"/>
              </a:rPr>
              <a:t>IT21190520</a:t>
            </a:r>
            <a:r>
              <a:rPr lang="en-US">
                <a:ea typeface="Cambria"/>
              </a:rPr>
              <a:t> | &lt;</a:t>
            </a:r>
            <a:r>
              <a:rPr lang="en-US" b="1">
                <a:ea typeface="Cambria"/>
              </a:rPr>
              <a:t>&lt;Kaushalya H.G.B&gt;&gt; </a:t>
            </a:r>
            <a:r>
              <a:rPr lang="en-US">
                <a:ea typeface="Cambria"/>
              </a:rPr>
              <a:t>| &lt;&lt;R25-068&gt;&gt;​</a:t>
            </a:r>
            <a:endParaRPr lang="en-US"/>
          </a:p>
        </p:txBody>
      </p:sp>
    </p:spTree>
    <p:extLst>
      <p:ext uri="{BB962C8B-B14F-4D97-AF65-F5344CB8AC3E}">
        <p14:creationId xmlns:p14="http://schemas.microsoft.com/office/powerpoint/2010/main" val="3233409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B365A-04E2-A890-9AE0-4937416BE49E}"/>
              </a:ext>
            </a:extLst>
          </p:cNvPr>
          <p:cNvSpPr>
            <a:spLocks noGrp="1"/>
          </p:cNvSpPr>
          <p:nvPr>
            <p:ph type="title"/>
          </p:nvPr>
        </p:nvSpPr>
        <p:spPr/>
        <p:txBody>
          <a:bodyPr/>
          <a:lstStyle/>
          <a:p>
            <a:r>
              <a:rPr lang="en-GB" sz="4000" b="1">
                <a:solidFill>
                  <a:srgbClr val="0070C0"/>
                </a:solidFill>
                <a:latin typeface="Calibri"/>
                <a:ea typeface="Calibri"/>
                <a:cs typeface="Calibri"/>
              </a:rPr>
              <a:t>CONCLUSION</a:t>
            </a:r>
            <a:endParaRPr lang="en-US">
              <a:solidFill>
                <a:srgbClr val="0070C0"/>
              </a:solidFill>
            </a:endParaRPr>
          </a:p>
        </p:txBody>
      </p:sp>
      <p:sp>
        <p:nvSpPr>
          <p:cNvPr id="3" name="Content Placeholder 2">
            <a:extLst>
              <a:ext uri="{FF2B5EF4-FFF2-40B4-BE49-F238E27FC236}">
                <a16:creationId xmlns:a16="http://schemas.microsoft.com/office/drawing/2014/main" id="{DADEEFD0-5C05-D286-B917-2AF2C776DBC2}"/>
              </a:ext>
            </a:extLst>
          </p:cNvPr>
          <p:cNvSpPr>
            <a:spLocks noGrp="1"/>
          </p:cNvSpPr>
          <p:nvPr>
            <p:ph idx="1"/>
          </p:nvPr>
        </p:nvSpPr>
        <p:spPr/>
        <p:txBody>
          <a:bodyPr vert="horz" lIns="91440" tIns="45720" rIns="91440" bIns="45720" rtlCol="0" anchor="t">
            <a:normAutofit/>
          </a:bodyPr>
          <a:lstStyle/>
          <a:p>
            <a:r>
              <a:rPr lang="en-US">
                <a:ea typeface="+mn-lt"/>
                <a:cs typeface="+mn-lt"/>
              </a:rPr>
              <a:t>The updated AI-powered plant identification system focuses solely on </a:t>
            </a:r>
            <a:r>
              <a:rPr lang="en-US" b="1">
                <a:ea typeface="+mn-lt"/>
                <a:cs typeface="+mn-lt"/>
              </a:rPr>
              <a:t>image-based leaf recognition</a:t>
            </a:r>
            <a:r>
              <a:rPr lang="en-US">
                <a:ea typeface="+mn-lt"/>
                <a:cs typeface="+mn-lt"/>
              </a:rPr>
              <a:t>, ensuring high accuracy in identifying Ayurvedic medicinal plants for treating selected diseases. By leveraging AI and image processing, this solution bridges traditional Ayurvedic knowledge with modern technology, making plant-based health management more accessible to users.</a:t>
            </a:r>
          </a:p>
          <a:p>
            <a:endParaRPr lang="en-US">
              <a:ea typeface="+mn-lt"/>
              <a:cs typeface="+mn-lt"/>
            </a:endParaRPr>
          </a:p>
          <a:p>
            <a:endParaRPr lang="en-US">
              <a:ea typeface="+mn-lt"/>
              <a:cs typeface="+mn-lt"/>
            </a:endParaRPr>
          </a:p>
          <a:p>
            <a:endParaRPr lang="en-US">
              <a:ea typeface="Cambria"/>
            </a:endParaRPr>
          </a:p>
        </p:txBody>
      </p:sp>
      <p:pic>
        <p:nvPicPr>
          <p:cNvPr id="4" name="Picture 3" descr="A person sitting in the grass meditating&#10;&#10;AI-generated content may be incorrect.">
            <a:extLst>
              <a:ext uri="{FF2B5EF4-FFF2-40B4-BE49-F238E27FC236}">
                <a16:creationId xmlns:a16="http://schemas.microsoft.com/office/drawing/2014/main" id="{906A1304-B971-DE81-3264-B08FB95A59D2}"/>
              </a:ext>
            </a:extLst>
          </p:cNvPr>
          <p:cNvPicPr>
            <a:picLocks noChangeAspect="1"/>
          </p:cNvPicPr>
          <p:nvPr/>
        </p:nvPicPr>
        <p:blipFill>
          <a:blip r:embed="rId2"/>
          <a:stretch>
            <a:fillRect/>
          </a:stretch>
        </p:blipFill>
        <p:spPr>
          <a:xfrm>
            <a:off x="732014" y="4185613"/>
            <a:ext cx="3306101" cy="1868030"/>
          </a:xfrm>
          <a:prstGeom prst="rect">
            <a:avLst/>
          </a:prstGeom>
        </p:spPr>
      </p:pic>
      <p:pic>
        <p:nvPicPr>
          <p:cNvPr id="5" name="Picture 4" descr="A close-up of food in bowls&#10;&#10;AI-generated content may be incorrect.">
            <a:extLst>
              <a:ext uri="{FF2B5EF4-FFF2-40B4-BE49-F238E27FC236}">
                <a16:creationId xmlns:a16="http://schemas.microsoft.com/office/drawing/2014/main" id="{AACD6689-4FB7-A18C-8CB5-A5A4BE5BBE57}"/>
              </a:ext>
            </a:extLst>
          </p:cNvPr>
          <p:cNvPicPr>
            <a:picLocks noChangeAspect="1"/>
          </p:cNvPicPr>
          <p:nvPr/>
        </p:nvPicPr>
        <p:blipFill>
          <a:blip r:embed="rId3"/>
          <a:stretch>
            <a:fillRect/>
          </a:stretch>
        </p:blipFill>
        <p:spPr>
          <a:xfrm>
            <a:off x="8319622" y="4084223"/>
            <a:ext cx="2956363" cy="2127691"/>
          </a:xfrm>
          <a:prstGeom prst="rect">
            <a:avLst/>
          </a:prstGeom>
        </p:spPr>
      </p:pic>
      <p:sp>
        <p:nvSpPr>
          <p:cNvPr id="6" name="TextBox 5">
            <a:extLst>
              <a:ext uri="{FF2B5EF4-FFF2-40B4-BE49-F238E27FC236}">
                <a16:creationId xmlns:a16="http://schemas.microsoft.com/office/drawing/2014/main" id="{568960EF-6068-0016-05EE-43B940492FF9}"/>
              </a:ext>
            </a:extLst>
          </p:cNvPr>
          <p:cNvSpPr txBox="1"/>
          <p:nvPr/>
        </p:nvSpPr>
        <p:spPr>
          <a:xfrm>
            <a:off x="3050498" y="6310859"/>
            <a:ext cx="551638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IT21190520</a:t>
            </a:r>
            <a:r>
              <a:rPr lang="en-US"/>
              <a:t> | &lt;</a:t>
            </a:r>
            <a:r>
              <a:rPr lang="en-US" b="1"/>
              <a:t>&lt;Kaushalya H.G.B&gt;&gt; </a:t>
            </a:r>
            <a:r>
              <a:rPr lang="en-US"/>
              <a:t>| &lt;&lt;R25-068&gt;&gt;</a:t>
            </a:r>
            <a:r>
              <a:rPr lang="en-US">
                <a:ea typeface="Cambria"/>
              </a:rPr>
              <a:t>​</a:t>
            </a:r>
            <a:endParaRPr lang="en-US"/>
          </a:p>
        </p:txBody>
      </p:sp>
    </p:spTree>
    <p:extLst>
      <p:ext uri="{BB962C8B-B14F-4D97-AF65-F5344CB8AC3E}">
        <p14:creationId xmlns:p14="http://schemas.microsoft.com/office/powerpoint/2010/main" val="352885028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Thank you Comment Gifs">
            <a:extLst>
              <a:ext uri="{FF2B5EF4-FFF2-40B4-BE49-F238E27FC236}">
                <a16:creationId xmlns:a16="http://schemas.microsoft.com/office/drawing/2014/main" id="{DE61EDF7-B36E-B324-E752-7968A3CCB912}"/>
              </a:ext>
            </a:extLst>
          </p:cNvPr>
          <p:cNvPicPr>
            <a:picLocks noGrp="1" noChangeAspect="1"/>
          </p:cNvPicPr>
          <p:nvPr>
            <p:ph idx="1"/>
          </p:nvPr>
        </p:nvPicPr>
        <p:blipFill>
          <a:blip r:embed="rId2"/>
          <a:stretch>
            <a:fillRect/>
          </a:stretch>
        </p:blipFill>
        <p:spPr>
          <a:xfrm>
            <a:off x="976343" y="294467"/>
            <a:ext cx="10484687" cy="5757232"/>
          </a:xfrm>
        </p:spPr>
      </p:pic>
    </p:spTree>
    <p:extLst>
      <p:ext uri="{BB962C8B-B14F-4D97-AF65-F5344CB8AC3E}">
        <p14:creationId xmlns:p14="http://schemas.microsoft.com/office/powerpoint/2010/main" val="1508277064"/>
      </p:ext>
    </p:extLst>
  </p:cSld>
  <p:clrMapOvr>
    <a:masterClrMapping/>
  </p:clrMapOvr>
</p:sld>
</file>

<file path=ppt/theme/theme1.xml><?xml version="1.0" encoding="utf-8"?>
<a:theme xmlns:a="http://schemas.openxmlformats.org/drawingml/2006/main" name="Office Theme">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Apothecary">
      <a:fillStyleLst>
        <a:solidFill>
          <a:schemeClr val="phClr"/>
        </a:solidFill>
        <a:gradFill rotWithShape="1">
          <a:gsLst>
            <a:gs pos="0">
              <a:schemeClr val="phClr">
                <a:tint val="1000"/>
                <a:satMod val="100000"/>
              </a:schemeClr>
            </a:gs>
            <a:gs pos="68000">
              <a:schemeClr val="phClr">
                <a:tint val="77000"/>
                <a:satMod val="100000"/>
              </a:schemeClr>
            </a:gs>
            <a:gs pos="81000">
              <a:schemeClr val="phClr">
                <a:tint val="79000"/>
                <a:satMod val="100000"/>
              </a:schemeClr>
            </a:gs>
            <a:gs pos="86000">
              <a:schemeClr val="phClr">
                <a:tint val="73000"/>
                <a:satMod val="100000"/>
              </a:schemeClr>
            </a:gs>
            <a:gs pos="100000">
              <a:schemeClr val="phClr">
                <a:tint val="35000"/>
                <a:satMod val="100000"/>
              </a:schemeClr>
            </a:gs>
          </a:gsLst>
          <a:lin ang="5400000" scaled="0"/>
        </a:gradFill>
        <a:gradFill rotWithShape="1">
          <a:gsLst>
            <a:gs pos="0">
              <a:schemeClr val="phClr">
                <a:tint val="73000"/>
                <a:shade val="100000"/>
                <a:satMod val="150000"/>
              </a:schemeClr>
            </a:gs>
            <a:gs pos="25000">
              <a:schemeClr val="phClr">
                <a:tint val="96000"/>
                <a:shade val="80000"/>
                <a:satMod val="105000"/>
              </a:schemeClr>
            </a:gs>
            <a:gs pos="38000">
              <a:schemeClr val="phClr">
                <a:tint val="96000"/>
                <a:shade val="59000"/>
                <a:satMod val="120000"/>
              </a:schemeClr>
            </a:gs>
            <a:gs pos="55000">
              <a:schemeClr val="phClr">
                <a:tint val="100000"/>
                <a:shade val="57000"/>
                <a:satMod val="120000"/>
              </a:schemeClr>
            </a:gs>
            <a:gs pos="80000">
              <a:schemeClr val="phClr">
                <a:tint val="100000"/>
                <a:shade val="56000"/>
                <a:satMod val="145000"/>
              </a:schemeClr>
            </a:gs>
            <a:gs pos="88000">
              <a:schemeClr val="phClr">
                <a:tint val="100000"/>
                <a:shade val="63000"/>
                <a:satMod val="160000"/>
              </a:schemeClr>
            </a:gs>
            <a:gs pos="100000">
              <a:schemeClr val="phClr">
                <a:tint val="99000"/>
                <a:shade val="100000"/>
                <a:satMod val="155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scene3d>
            <a:camera prst="orthographicFront">
              <a:rot lat="0" lon="0" rev="0"/>
            </a:camera>
            <a:lightRig rig="glow" dir="tl">
              <a:rot lat="0" lon="0" rev="1800000"/>
            </a:lightRig>
          </a:scene3d>
          <a:sp3d contourW="10160" prstMaterial="dkEdge">
            <a:bevelT w="0" h="0" prst="angle"/>
            <a:contourClr>
              <a:schemeClr val="phClr">
                <a:shade val="30000"/>
                <a:satMod val="150000"/>
              </a:schemeClr>
            </a:contourClr>
          </a:sp3d>
        </a:effectStyle>
        <a:effectStyle>
          <a:effectLst>
            <a:glow rad="50800">
              <a:schemeClr val="phClr">
                <a:tint val="68000"/>
                <a:shade val="93000"/>
                <a:alpha val="37000"/>
                <a:satMod val="250000"/>
              </a:schemeClr>
            </a:glow>
          </a:effectLst>
          <a:scene3d>
            <a:camera prst="orthographicFront">
              <a:rot lat="0" lon="0" rev="0"/>
            </a:camera>
            <a:lightRig rig="glow" dir="t">
              <a:rot lat="0" lon="0" rev="1800000"/>
            </a:lightRig>
          </a:scene3d>
          <a:sp3d contourW="10160" prstMaterial="dkEdge">
            <a:bevelT w="20320" h="19050" prst="angle"/>
            <a:contourClr>
              <a:schemeClr val="phClr">
                <a:shade val="30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D08376A6-FCE2-4A8E-BFFF-11B69BD93976}" vid="{0A5F165D-9E14-4628-BA29-A51D7051FDC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3a1c76c7-cebf-4aba-b6dd-f609147c545c">
      <Terms xmlns="http://schemas.microsoft.com/office/infopath/2007/PartnerControls"/>
    </lcf76f155ced4ddcb4097134ff3c332f>
    <TaxCatchAll xmlns="db72c12f-87a4-44ab-bbc5-4cc8306b158a"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20BA511443E064D854E5067B4019C9E" ma:contentTypeVersion="12" ma:contentTypeDescription="Create a new document." ma:contentTypeScope="" ma:versionID="823e431178a4469f22f974e982d7ce0f">
  <xsd:schema xmlns:xsd="http://www.w3.org/2001/XMLSchema" xmlns:xs="http://www.w3.org/2001/XMLSchema" xmlns:p="http://schemas.microsoft.com/office/2006/metadata/properties" xmlns:ns2="3a1c76c7-cebf-4aba-b6dd-f609147c545c" xmlns:ns3="db72c12f-87a4-44ab-bbc5-4cc8306b158a" targetNamespace="http://schemas.microsoft.com/office/2006/metadata/properties" ma:root="true" ma:fieldsID="f755ef8bf2927eef413b6d6ddfa5335a" ns2:_="" ns3:_="">
    <xsd:import namespace="3a1c76c7-cebf-4aba-b6dd-f609147c545c"/>
    <xsd:import namespace="db72c12f-87a4-44ab-bbc5-4cc8306b158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GenerationTime" minOccurs="0"/>
                <xsd:element ref="ns2:MediaServiceEventHashCode" minOccurs="0"/>
                <xsd:element ref="ns2:MediaServiceDateTaken"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a1c76c7-cebf-4aba-b6dd-f609147c545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7c8a686f-bba2-44f2-819b-edf0b3003fbd"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b72c12f-87a4-44ab-bbc5-4cc8306b158a"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4a90b710-f748-4220-b362-4102ae550bf9}" ma:internalName="TaxCatchAll" ma:showField="CatchAllData" ma:web="db72c12f-87a4-44ab-bbc5-4cc8306b158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E362160-EA17-4C04-B355-B323E95BFADA}">
  <ds:schemaRefs>
    <ds:schemaRef ds:uri="e0e3d82c-99db-4cec-a82e-dba217d9a3f5"/>
    <ds:schemaRef ds:uri="f80da1b9-f4d9-4514-b23d-300513a523b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F8B99BD8-B489-493B-B740-FDF0A97E7ECA}">
  <ds:schemaRefs>
    <ds:schemaRef ds:uri="http://schemas.microsoft.com/sharepoint/v3/contenttype/forms"/>
  </ds:schemaRefs>
</ds:datastoreItem>
</file>

<file path=customXml/itemProps3.xml><?xml version="1.0" encoding="utf-8"?>
<ds:datastoreItem xmlns:ds="http://schemas.openxmlformats.org/officeDocument/2006/customXml" ds:itemID="{C641B887-F168-46D0-860D-0F97D4F24432}"/>
</file>

<file path=docProps/app.xml><?xml version="1.0" encoding="utf-8"?>
<Properties xmlns="http://schemas.openxmlformats.org/officeDocument/2006/extended-properties" xmlns:vt="http://schemas.openxmlformats.org/officeDocument/2006/docPropsVTypes">
  <Template>Proposal_prsentation_stuct[1]</Template>
  <TotalTime>21</TotalTime>
  <Words>4094</Words>
  <Application>Microsoft Office PowerPoint</Application>
  <PresentationFormat>Widescreen</PresentationFormat>
  <Paragraphs>527</Paragraphs>
  <Slides>61</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61</vt:i4>
      </vt:variant>
    </vt:vector>
  </HeadingPairs>
  <TitlesOfParts>
    <vt:vector size="72" baseType="lpstr">
      <vt:lpstr>ADLaM Display</vt:lpstr>
      <vt:lpstr>Adobe Devanagari</vt:lpstr>
      <vt:lpstr>Aptos</vt:lpstr>
      <vt:lpstr>Arial</vt:lpstr>
      <vt:lpstr>Calibri</vt:lpstr>
      <vt:lpstr>Cambria</vt:lpstr>
      <vt:lpstr>Segoe UI Emoji</vt:lpstr>
      <vt:lpstr>Symbol</vt:lpstr>
      <vt:lpstr>Times New Roman</vt:lpstr>
      <vt:lpstr>Wingdings</vt:lpstr>
      <vt:lpstr>Office Theme</vt:lpstr>
      <vt:lpstr>"Ayushasthra" Ayurvedic Medicine Identification and Health Management App</vt:lpstr>
      <vt:lpstr>Introduction</vt:lpstr>
      <vt:lpstr>Research Questions</vt:lpstr>
      <vt:lpstr>Objectives</vt:lpstr>
      <vt:lpstr>System Diagram</vt:lpstr>
      <vt:lpstr>Peiris P.H.R - IT21584718  AI-Powered Tongue Diagnostics for Health Monitoring and Wellness Guidance </vt:lpstr>
      <vt:lpstr>Introduction</vt:lpstr>
      <vt:lpstr>Research Gap</vt:lpstr>
      <vt:lpstr>Features Comparison Table </vt:lpstr>
      <vt:lpstr>selected diseases for the treatment suggestions</vt:lpstr>
      <vt:lpstr>Research Problems</vt:lpstr>
      <vt:lpstr>Research Objectives   </vt:lpstr>
      <vt:lpstr>PowerPoint Presentation</vt:lpstr>
      <vt:lpstr>Technologies to be used</vt:lpstr>
      <vt:lpstr>Requirements Specification   </vt:lpstr>
      <vt:lpstr>PowerPoint Presentation</vt:lpstr>
      <vt:lpstr>Gantt chart</vt:lpstr>
      <vt:lpstr>Supporting Items (Commercialization)</vt:lpstr>
      <vt:lpstr>References</vt:lpstr>
      <vt:lpstr>IT21813184 - Fernando W.M.S. K  AI-powered Identification of Skin Diseases and Analysis of Skin Tone &amp; Hydration levels   </vt:lpstr>
      <vt:lpstr>Introduction</vt:lpstr>
      <vt:lpstr>PowerPoint Presentation</vt:lpstr>
      <vt:lpstr>Research Problems</vt:lpstr>
      <vt:lpstr>Research Objectives</vt:lpstr>
      <vt:lpstr>Requirements Specification   </vt:lpstr>
      <vt:lpstr>PowerPoint Presentation</vt:lpstr>
      <vt:lpstr>PowerPoint Presentation</vt:lpstr>
      <vt:lpstr>Technologies to be used</vt:lpstr>
      <vt:lpstr>PowerPoint Presentation</vt:lpstr>
      <vt:lpstr>Supporting Items (Commercialization)</vt:lpstr>
      <vt:lpstr>References</vt:lpstr>
      <vt:lpstr>IT21802812 | Huznadh M.N.M  Mental Well-being Assessment through Facial Emotion Analysis </vt:lpstr>
      <vt:lpstr>introduction</vt:lpstr>
      <vt:lpstr>Research Questions</vt:lpstr>
      <vt:lpstr>PowerPoint Presentation</vt:lpstr>
      <vt:lpstr>OBJECTIVES</vt:lpstr>
      <vt:lpstr>Methodology</vt:lpstr>
      <vt:lpstr>Technologies to be used</vt:lpstr>
      <vt:lpstr>Functional Requirements</vt:lpstr>
      <vt:lpstr>Supporting Items (Commercialization)</vt:lpstr>
      <vt:lpstr>PowerPoint Presentation</vt:lpstr>
      <vt:lpstr>Gantt Chart</vt:lpstr>
      <vt:lpstr>Work Breakdown Chart </vt:lpstr>
      <vt:lpstr>REFERENCES</vt:lpstr>
      <vt:lpstr>CONCLUSION</vt:lpstr>
      <vt:lpstr>IT21190520 | Kaushalya H.G.B  AI-Powered Ayurvedic Medicinal Plant Identification Using Leaf Image Processing. </vt:lpstr>
      <vt:lpstr>Introduction</vt:lpstr>
      <vt:lpstr>Modified Function: Plant Identification </vt:lpstr>
      <vt:lpstr>Selected Diseases &amp; Common Medicinal Plants </vt:lpstr>
      <vt:lpstr>PowerPoint Presentation</vt:lpstr>
      <vt:lpstr>Research Problems</vt:lpstr>
      <vt:lpstr>Research Objective</vt:lpstr>
      <vt:lpstr>  Methodology System Diagram  </vt:lpstr>
      <vt:lpstr>Technologies Be Used </vt:lpstr>
      <vt:lpstr>Requirements Specification</vt:lpstr>
      <vt:lpstr>PowerPoint Presentation</vt:lpstr>
      <vt:lpstr>Gantt Chart </vt:lpstr>
      <vt:lpstr>Supporting Items (Commercialization)</vt:lpstr>
      <vt:lpstr>References</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Fernando W.M.S.K it21813184</dc:creator>
  <cp:lastModifiedBy>HASRI PEIRIS</cp:lastModifiedBy>
  <cp:revision>52</cp:revision>
  <dcterms:created xsi:type="dcterms:W3CDTF">2025-01-15T03:11:06Z</dcterms:created>
  <dcterms:modified xsi:type="dcterms:W3CDTF">2025-02-26T04:17:47Z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0x010100720BA511443E064D854E5067B4019C9E</vt:lpwstr>
  </property>
</Properties>
</file>